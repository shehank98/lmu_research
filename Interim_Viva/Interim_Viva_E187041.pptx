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Good morning. My project is a comparative study of three model families for brain tumour MRI classification, combined through ensemble learning and extended with an explainable uncertainty signal. This is the interim stage: I will show what is built, the results so far, how the code works, and what remains. Keep to the flow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flow in one breath so the panel knows the structure. Interim vivas are judged on a clear logical flow, honest progress, and understanding of your own code. I will spend most time on sections 3 and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why is this worth doing when accuracy is already high in the literature? Answer: the gap is not raw accuracy, it is trust. My contribution is a per-image agreement signal that tells a clinician when the models disagree, which no reviewed paper provides without segmentation labels.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which objective is the research contribution: objective 4 (EAA-IoU). The others are solid engineering and comparison; objective 4 is where novelty sits.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 question: why compare three families instead of just using the best one? Answer: the research question is explicitly comparative, and the three architecturally different backbones are also what makes the inter-model agreement signal meaningful. Fairness question: I standardised preprocessing precisely so differences are due to the model, not the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dataset balanced? Answer: roughly, each class is 1,700 to 1,850 training images, so no heavy imbalance; I still use stratified sampling and report per-class metrics. Question: data leakage? Answer: the official test folder is never seen in training or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here. Interim marks reward an accurate self-assessment. I am on schedule: phases 1 and 2 of the plan are essentially done, and I added value by rewriting the experiments into a single reproducible framework.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code works: Sequential stacks the layers; name= fixes the layer name so I can address it later for feature extraction. Why sparse_categorical_crossentropy: labels are integers 0 to 3, not one-hot. Why dropout: training accuracy reached ~99 percent, so I regularise. Likely question: why not augment? That is planned next phase to close the train/test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transfer learning: I have only ~7,000 images; training a deep network from scratch would over-fit. ImageNet features transfer well to MRI texture. Question: why freeze rather than fine-tune all layers? For the interim I froze for speed and a clean baseline; selective unfreezing is a planned improvement. Xception uses the identical pattern, which is why adding it is low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question they will ask. Key idea: get_layer(name).output gives a symbolic handle to an intermediate tensor; wrapping it in a new Model turns that layer into an output. CNN uses layer "dense", InceptionV3 "dense_2", Xception "dense_3" (I named them explicitly so they are stable). Why 256 features and not 65,536 raw pixels: the deep layer is a learned, low-dimensional representation, which classical models handle far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soft not hard voting: soft uses probability confidence, so a very sure model counts more; this needs probability=True on the SVM. Observation: raw-pixel SVM (88.26 percent) beat the CNN-feature ensemble, which I discuss honestly; the deep features help RF and DT a lot but not SVM. I also fixed a bug where the original notebook used a Decision Tree in place of the Random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your final report claims 98.2 percent for the full ensemble, why is it not here? Answer: that is the six-model ensemble, which needs Xception; at the interim I report only the models actually completed, honestly. Question: why does CNN beat the pretrained models? The frozen pretrained heads are undertrained at the interim; fine-tuning and the ensemble are expected to close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research contribution, be ready to defend novelty. Prior ensemble-CAM work compares a model map to a radiologist bounding box (needs labels). Mine compares models to each other, so it is self-supervised. Hypothesis I will test on 2,063 images: low EAA-IoU correlates with misclassification. Question: is IoU the right metric? It is standard for region overlap; threshold t is tunable and I will report sensitivity to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 schematic and not real output: live Grad-CAM needs all three deep models loaded; I generate real heatmaps in the app, and will swap real exported panels into this slide before submission. How EAA-IoU is read: it is the mean of the three pairwise IoU values; high means the models look at the same region. Question: what threshold flags a case? I use 0.40 as a starting point and will report sensitivity to it on the test set. Question: could models agree and all be wrong? Possible, which is why EAA-IoU is a safety signal on top of the prediction, not a replacement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you built it: separation of concerns. Training code is independent of the app; the app only consumes saved models. Why Hugging Face: model files exceed GitHub limits, and it also hosts the result galleries. Known issue I can speak to: the deployed app needs HF_REPO_ID set to auto-download the models, otherwise it reports no models loaded. Insert a real screenshot of the running app here before the viva.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question: what if EAA-IoU does not correlate with error? Answer: that is still a valid, reportable research finding, and the confidence-weighted vote remains a useful deliverable. Compute risk for Xception is handled with cloud GPU. End on confidence that the project finishes on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Anticipated questions to rehearse: (1) Why these three architectures? comparative RQ + diverse backbones for agreement. (2) What exactly is novel? inter-model Grad-CAM IoU as a label-free uncertainty signal. (3) How does feature extraction work in code? Model(inputs, outputs=get_layer(name).output). (4) Why is the pretrained model weaker than the CNN? frozen heads undertrained; fine-tuning next. (5) Why 98.2 percent is not shown? needs Xception, reported honestly at interim. (6) How is the software structured? training modules, Hugging Face hosting, FastAPI/Streamlit app. (7) Fairness? one pipeline, one seed, official test split. (8) Ethics? public anonymised data, decision-support not replacement.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D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CS6P05ES  Computing Research Project   ·   Interim Viva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Multi-Class Brain Tumour MRI Classification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9445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CNNs, Fine-Tuned Models and Ensemble Learning, with an Explainable-AI Uncertainty Signal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384048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886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Pattiyage Shehan Kavishka</a:t>
            </a:r>
            <a:endParaRPr lang="en-US" sz="150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1250" dirty="0">
                <a:solidFill>
                  <a:srgbClr val="9D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E187041   ·   BSc (Hons) Data Science (Top-Up)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D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Ms. Hiruni Wimalaweera</a:t>
            </a:r>
            <a:endParaRPr lang="en-US" sz="15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D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Metropolitan University  ·  ESOFT Metro Campus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3533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and aim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automated brain tumour classification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7627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and dataset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paradigms, one fair protocol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99923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built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pretrained models, feature extraction, ensemble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82219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so far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accuracies and what they tell us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64515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plan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novel EAA-IoU agreement signal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468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build and further work</a:t>
            </a:r>
            <a:endParaRPr lang="en-US" sz="16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application, timeline, next steps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and Motivation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6492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is central to brain tumour diagnosis, but reading scans manually is slow and varies between radiologists.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must be separated: glioma, meningioma, no tumour, pituitary. Mistakes change the treatment path.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published systems use a single model and give no signal of how confident or consistent that model is.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need: an accurate second opinion that also flags the cases it is unsure about.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0" y="1463040"/>
            <a:ext cx="4297680" cy="1828800"/>
          </a:xfrm>
          <a:prstGeom prst="roundRect">
            <a:avLst>
              <a:gd name="adj" fmla="val 3000"/>
            </a:avLst>
          </a:prstGeom>
          <a:solidFill>
            <a:srgbClr val="F2F5F8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16459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9,047</a:t>
            </a:r>
            <a:endParaRPr lang="en-US" sz="40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scans  ·  4 classes  ·  2,063 held-out test images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315200" y="3520440"/>
            <a:ext cx="4297680" cy="2103120"/>
          </a:xfrm>
          <a:prstGeom prst="roundRect">
            <a:avLst>
              <a:gd name="adj" fmla="val 2609"/>
            </a:avLst>
          </a:prstGeom>
          <a:solidFill>
            <a:srgbClr val="FAFBFC"/>
          </a:solidFill>
          <a:ln w="15875">
            <a:solidFill>
              <a:srgbClr val="2A9D8F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7498080" y="3520440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6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example MRI scans, one per class (from the Kaggle dataset)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and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AF4F1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Aim.  </a:t>
            </a:r>
            <a:pPr algn="l" indent="0" marL="0">
              <a:buNone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optimise and compare CNNs, fine-tuned models and ensemble learning for multi-class brain tumour classification under identical conditions, and deploy it as a clinical web application with an explainable uncertainty signal.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1064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CNN and classical methods for MRI feature extraction.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modular framework integrating CNNs, pretrained models and classical classifiers.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all models with one consistent metric set (accuracy, precision, recall, F1).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the EAA-IoU inter-model agreement signal from Grad-CAM, with no boundary labels.</a:t>
            </a:r>
            <a:endParaRPr lang="en-US" sz="15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an interactive web application and document everything for reproducibility.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Methodology: One Framework, Three Paradigms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737360" cy="1097280"/>
          </a:xfrm>
          <a:prstGeom prst="roundRect">
            <a:avLst>
              <a:gd name="adj" fmla="val 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219456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input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or 128 px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37160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1371600"/>
            <a:ext cx="2596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697480" y="23317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70632" y="2331720"/>
            <a:ext cx="2596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InceptionV3 / Xception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97480" y="329184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70632" y="3291840"/>
            <a:ext cx="2596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ML on features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DT + SVM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852160" y="1920240"/>
            <a:ext cx="2286000" cy="1645920"/>
          </a:xfrm>
          <a:prstGeom prst="roundRect">
            <a:avLst>
              <a:gd name="adj" fmla="val 333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25312" y="192024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Confidence-weighted ensemble vote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83880" y="2468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412480" y="1737360"/>
            <a:ext cx="2011680" cy="1005840"/>
          </a:xfrm>
          <a:prstGeom prst="roundRect">
            <a:avLst>
              <a:gd name="adj" fmla="val 5455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85632" y="173736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class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2880360"/>
            <a:ext cx="2011680" cy="1005840"/>
          </a:xfrm>
          <a:prstGeom prst="roundRect">
            <a:avLst>
              <a:gd name="adj" fmla="val 5455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85632" y="288036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EAA-IoU alert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Positivist, deductive, mixed-methods design: quantitative metrics now, clinician feedback later.</a:t>
            </a:r>
            <a:endParaRPr lang="en-US" sz="14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shares one data loader, one normalisation, one seed and the official test split, so the comparison is fair.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and Preprocessing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120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Glioma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Meningioma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Tumour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Pituitary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97764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to the model input size, normalise pixels to 0 to 1.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split keeps class balance.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test folder held out, used only for final scoring.</a:t>
            </a:r>
            <a:endParaRPr lang="en-US" sz="1350" dirty="0"/>
          </a:p>
        </p:txBody>
      </p:sp>
      <p:pic>
        <p:nvPicPr>
          <p:cNvPr id="7" name="Image 0" descr="/home/user/LMU_Research/Interim_Report/figures/datas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417320"/>
            <a:ext cx="5486400" cy="32552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12648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 across the train and test splits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Built, What Remains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486400" cy="4206240"/>
          </a:xfrm>
          <a:prstGeom prst="roundRect">
            <a:avLst>
              <a:gd name="adj" fmla="val 1304"/>
            </a:avLst>
          </a:prstGeom>
          <a:solidFill>
            <a:srgbClr val="EAF4F1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6F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965960"/>
            <a:ext cx="50292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Standardised, reproducible training framework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trained and evaluated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ML baseline on raw pixels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InceptionV3 transfer learning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ensembles on CNN / Inception features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and result galleries hosted on Hugging Face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371600"/>
            <a:ext cx="5303520" cy="4206240"/>
          </a:xfrm>
          <a:prstGeom prst="roundRect">
            <a:avLst>
              <a:gd name="adj" fmla="val 1304"/>
            </a:avLst>
          </a:prstGeom>
          <a:solidFill>
            <a:srgbClr val="FBF2E6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641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progress and pending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196596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Xception fine-tuning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Six-model integrated ensemble and confidence-weighted vote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EAA-IoU explainability and validation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/ FastAPI web application (scaffold built)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evaluation with clinicians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1: Custom CNN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583680" cy="3931920"/>
          </a:xfrm>
          <a:prstGeom prst="roundRect">
            <a:avLst>
              <a:gd name="adj" fmla="val 1395"/>
            </a:avLst>
          </a:prstGeom>
          <a:solidFill>
            <a:srgbClr val="1B2330"/>
          </a:solidFill>
          <a:ln w="12700">
            <a:solidFill>
              <a:srgbClr val="1B2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training/models/cnn.py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09928"/>
            <a:ext cx="6254496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build_cnn(input_size, feat_layer_name='dense'):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 = models.Sequential([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layers.Conv2D(32,(3,3),activation='relu',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input_shape=(input_size,input_size,3)),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layers.MaxPooling2D((2,2)),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3B9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three more Conv + MaxPool blocks ...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layers.Flatten(),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layers.Dense(256,activation='relu',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name=feat_layer_name),   # feature layer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layers.Dropout(0.5),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layers.Dense(4,activation='softmax'),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])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model.compile(optimizer='adam',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loss='sparse_categorical_crossentropy',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metrics=['accuracy'])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model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169164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convolution and pooling blocks learn tumour texture from coarse to fine.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named Dense(256) layer is kept as a feature point, reused later (Slide 10).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0.5 reduces over-fitting; softmax gives four class probabilities.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20 epochs, Adam. Test accuracy 91.18 percent, the strongest single model.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2: Pretrained Models (Transfer Learning)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583680" cy="3383280"/>
          </a:xfrm>
          <a:prstGeom prst="roundRect">
            <a:avLst>
              <a:gd name="adj" fmla="val 1622"/>
            </a:avLst>
          </a:prstGeom>
          <a:solidFill>
            <a:srgbClr val="1B2330"/>
          </a:solidFill>
          <a:ln w="12700">
            <a:solidFill>
              <a:srgbClr val="1B2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258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training/models/transfer.py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09928"/>
            <a:ext cx="6254496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build_inception_standalone(size=256):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 = InceptionV3(input_shape=(size,size,3),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weights='imagenet', include_top=False)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base.trainable = False        # freeze backbone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  = GlobalAveragePooling2D()(base.output)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Dense(4, activation='softmax',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name='dense')(x)  # new head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Model(base.input, out)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169164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InceptionV3 is pretrained on ImageNet, so it already detects edges, shapes and textures.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include_top=False drops its 1000-class head; I add my own 4-class head.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trainable=False freezes the backbone, so only the small head is learned. This is fast and works with limited medical data.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InceptionV3 84.63 percent; Xception is the next model to train.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Extract the Dense Layer (Features)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583680" cy="2286000"/>
          </a:xfrm>
          <a:prstGeom prst="roundRect">
            <a:avLst>
              <a:gd name="adj" fmla="val 2400"/>
            </a:avLst>
          </a:prstGeom>
          <a:solidFill>
            <a:srgbClr val="1B2330"/>
          </a:solidFill>
          <a:ln w="12700">
            <a:solidFill>
              <a:srgbClr val="1B2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71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training/evaluate.py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55648"/>
            <a:ext cx="6254496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tensorflow.keras.models import Model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extract_features(model, layer_name, X):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extractor = Model(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inputs = model.input,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outputs= model.get_layer(layer_name).output)</a:t>
            </a:r>
            <a:endParaRPr lang="en-US" sz="1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extractor.predict(X)   # (N, 256) vectors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4251960"/>
            <a:ext cx="2194560" cy="868680"/>
          </a:xfrm>
          <a:prstGeom prst="roundRect">
            <a:avLst>
              <a:gd name="adj" fmla="val 6316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4251960"/>
            <a:ext cx="20482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44348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154680" y="425196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27832" y="4251960"/>
            <a:ext cx="2596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backbone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989320" y="44348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42519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82512" y="4251960"/>
            <a:ext cx="2505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Dense(256)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vector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173736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Model is built that shares the same input but stops at the named layer.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outputs the 256-number activation vector, a compact summary of the image.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retraining: it reuses the trained weights and just reads an inner layer.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vectors feed the classical classifiers on the next slide.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3: Classical Ensemble on Features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943600" cy="2468880"/>
          </a:xfrm>
          <a:prstGeom prst="roundRect">
            <a:avLst>
              <a:gd name="adj" fmla="val 2222"/>
            </a:avLst>
          </a:prstGeom>
          <a:solidFill>
            <a:srgbClr val="1B2330"/>
          </a:solidFill>
          <a:ln w="12700">
            <a:solidFill>
              <a:srgbClr val="1B2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716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training/models/classical.py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55648"/>
            <a:ext cx="561441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  = RandomForestClassifier(n_estimators=100)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  = DecisionTreeClassifier()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svm = SVC(probability=True)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ensemble = VotingClassifier(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estimators=[('rf',rf),('dt',dt),('svm',svm)],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voting='soft')          # average probabilities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ensemble.fit(train_feats, y_train)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3736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voting averages the three classifiers probabilities, then picks the top class.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source matters: CNN features gave the best classical result (RF 85.45 percent).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feature ensemble 83.71 percent; Inception feature ensemble 71.20 percent.</a:t>
            </a:r>
            <a:endParaRPr lang="en-US" sz="1300" dirty="0"/>
          </a:p>
        </p:txBody>
      </p:sp>
      <p:pic>
        <p:nvPicPr>
          <p:cNvPr id="9" name="Image 0" descr="/home/user/LMU_Research/Interim_Report/figures/feature_sour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4206240"/>
            <a:ext cx="4846320" cy="18288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766560" y="6053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accuracy by feature source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So Far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5" name="Image 0" descr="/home/user/LMU_Research/Interim_Report/figures/accuracy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6751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44068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Interim test accuracy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4114800"/>
          </a:xfrm>
          <a:prstGeom prst="roundRect">
            <a:avLst>
              <a:gd name="adj" fmla="val 1333"/>
            </a:avLst>
          </a:prstGeom>
          <a:solidFill>
            <a:srgbClr val="F2F5F8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16002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results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057400"/>
            <a:ext cx="3749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is strongest so far at 91.18 percent.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Raw-pixel SVM is a strong classical baseline at 88.26 percent.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Glioma is the hardest class, most often confused with meningioma.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motivates the agreement signal: disagreement should concentrate on glioma.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 AI: EAA-IoU Agreement (Novel)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126480" cy="2743200"/>
          </a:xfrm>
          <a:prstGeom prst="roundRect">
            <a:avLst>
              <a:gd name="adj" fmla="val 2000"/>
            </a:avLst>
          </a:prstGeom>
          <a:solidFill>
            <a:srgbClr val="1B2330"/>
          </a:solidFill>
          <a:ln w="12700">
            <a:solidFill>
              <a:srgbClr val="1B23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258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webapp/xai_engine.py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1709928"/>
            <a:ext cx="579729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iou_score(a, b, t=0.5):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a, b = a&gt;=t, b&gt;=t            # binarise heatmaps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(a &amp; b).sum() / (a | b).sum()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83B9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per image: Grad-CAM from CNN, Xception, Inception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eaa = mean([iou(A,B), iou(A,C), iou(B,C)])</a:t>
            </a:r>
            <a:endParaRPr lang="en-US" sz="11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eaa &lt; 0.40:  flag_for_radiologist()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169164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shows where each model looked. I compute the overlap (IoU) between the three maps.</a:t>
            </a:r>
            <a:endParaRPr lang="en-US" sz="12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 pairwise IoU is one agreement score per image.</a:t>
            </a:r>
            <a:endParaRPr lang="en-US" sz="12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agreement means the models disagree on the tumour location, so the case is flagged.</a:t>
            </a:r>
            <a:endParaRPr lang="en-US" sz="12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Novelty: agreement is measured between models, needing no radiologist-drawn boundaries.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310896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470916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Grad-CAM maps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· Xcp · Inc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4892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069080" y="470916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42232" y="4709160"/>
            <a:ext cx="25968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IoU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= EAA-IoU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48920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223760" y="470916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96912" y="4709160"/>
            <a:ext cx="31455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if low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safety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Grad-CAM Example and Agreement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5" name="Image 0" descr="/home/user/LMU_Research/Interim_Report/figures/gradcam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71600"/>
            <a:ext cx="10972800" cy="267919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409651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schematic. Live heatmaps are generated per image in the web application.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52628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produces its own Grad-CAM map showing the region it used to decide.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overlap between the three maps means the ensemble can be trusted.</a:t>
            </a:r>
            <a:endParaRPr lang="en-US" sz="13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maps diverge, the EAA-IoU score drops and the case is flagged for review.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223760" y="4498848"/>
            <a:ext cx="4389120" cy="1536192"/>
          </a:xfrm>
          <a:prstGeom prst="roundRect">
            <a:avLst>
              <a:gd name="adj" fmla="val 3571"/>
            </a:avLst>
          </a:prstGeom>
          <a:solidFill>
            <a:srgbClr val="EAF4F1"/>
          </a:solidFill>
          <a:ln w="12700">
            <a:solidFill>
              <a:srgbClr val="E2E8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06640" y="4608576"/>
            <a:ext cx="402336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6F63"/>
                </a:solidFill>
              </a:rPr>
              <a:t>Worked example (illustrative)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C2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Pairwise IoU:  0.71,  0.69,  0.73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A9D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EAA-IoU = 0.71</a:t>
            </a:r>
            <a:endParaRPr lang="en-US" sz="13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agreement, high confidence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Software Is Built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63040"/>
            <a:ext cx="2596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modules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· data · models · train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737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703320" y="1463040"/>
            <a:ext cx="2468880" cy="1097280"/>
          </a:xfrm>
          <a:prstGeom prst="roundRect">
            <a:avLst>
              <a:gd name="adj" fmla="val 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76472" y="1463040"/>
            <a:ext cx="23225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 Hub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+ results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737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583680" y="1463040"/>
            <a:ext cx="2743200" cy="10972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463040"/>
            <a:ext cx="2596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</a:t>
            </a:r>
            <a:endParaRPr lang="en-US" sz="13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FE0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React / Streamlit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8346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is modular Python: one config file fixes every hyperparameter and path.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are versioned on Hugging Face; the app downloads them on first run.</a:t>
            </a:r>
            <a:endParaRPr lang="en-US" sz="130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runs all models, builds Grad-CAM maps, computes the vote and the EAA-IoU alert.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766560" y="2743200"/>
            <a:ext cx="4846320" cy="2834640"/>
          </a:xfrm>
          <a:prstGeom prst="roundRect">
            <a:avLst>
              <a:gd name="adj" fmla="val 1935"/>
            </a:avLst>
          </a:prstGeom>
          <a:solidFill>
            <a:srgbClr val="FAFBFC"/>
          </a:solidFill>
          <a:ln w="15875">
            <a:solidFill>
              <a:srgbClr val="2A9D8F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949440" y="2743200"/>
            <a:ext cx="44805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6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PLACEHOLDER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screenshot: upload, prediction, confidence, Grad-CAM panels, class probabilities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Further Work and Timeline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Shehan Kavishka  ·  E187041  ·  CS6P05ES Interim Viva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18311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Xception and complete the six-model integrated ensemble.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confidence-weighted voting for a real per-prediction confidence.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validate EAA-IoU on all test images, with class-wise analysis.</a:t>
            </a:r>
            <a:endParaRPr lang="en-US" sz="1450" dirty="0"/>
          </a:p>
          <a:p>
            <a:pPr algn="l"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C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the web application and collect clinician feedback.</a:t>
            </a:r>
            <a:endParaRPr lang="en-US" sz="14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1732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468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Research and planning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Individual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CNN, classical, Inception done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Ensemble 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Partially done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Application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Documentation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Ongoing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492240" y="4983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schedule against the 16-week plan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fair, standardised comparison of CNN, pretrained and classical models is built and evaluated.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CNN leads at 91.18 percent; results so far are consistent and reproducible.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dirty="0">
                <a:solidFill>
                  <a:srgbClr val="E6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novel EAA-IoU agreement signal and the web application are the focus of the next phase.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4480560"/>
            <a:ext cx="384048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47548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  Questions and discussion.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Interim Viva — CS6P05ES</dc:title>
  <dc:subject>PptxGenJS Presentation</dc:subject>
  <dc:creator>Pattiyage Shehan Kavishka (E187041)</dc:creator>
  <cp:lastModifiedBy>Pattiyage Shehan Kavishka (E187041)</cp:lastModifiedBy>
  <cp:revision>1</cp:revision>
  <dcterms:created xsi:type="dcterms:W3CDTF">2026-10-25T07:15:12Z</dcterms:created>
  <dcterms:modified xsi:type="dcterms:W3CDTF">2026-10-25T07:15:12Z</dcterms:modified>
</cp:coreProperties>
</file>