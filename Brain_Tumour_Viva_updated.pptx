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265" autoAdjust="0"/>
  </p:normalViewPr>
  <p:slideViewPr>
    <p:cSldViewPr snapToGrid="0" snapToObjects="1">
      <p:cViewPr varScale="1">
        <p:scale>
          <a:sx n="60" d="100"/>
          <a:sy n="60" d="100"/>
        </p:scale>
        <p:origin x="8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0A1A33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Glioma</c:v>
                </c:pt>
                <c:pt idx="1">
                  <c:v>Meningioma</c:v>
                </c:pt>
                <c:pt idx="2">
                  <c:v>No Tumour</c:v>
                </c:pt>
                <c:pt idx="3">
                  <c:v>Pituitary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1733</c:v>
                </c:pt>
                <c:pt idx="1">
                  <c:v>1699</c:v>
                </c:pt>
                <c:pt idx="2">
                  <c:v>1847</c:v>
                </c:pt>
                <c:pt idx="3">
                  <c:v>1705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11-44FF-8F80-CD2DFE5C00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1FBFA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Glioma</c:v>
                </c:pt>
                <c:pt idx="1">
                  <c:v>Meningioma</c:v>
                </c:pt>
                <c:pt idx="2">
                  <c:v>No Tumour</c:v>
                </c:pt>
                <c:pt idx="3">
                  <c:v>Pituitary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504</c:v>
                </c:pt>
                <c:pt idx="1">
                  <c:v>510</c:v>
                </c:pt>
                <c:pt idx="2">
                  <c:v>545</c:v>
                </c:pt>
                <c:pt idx="3">
                  <c:v>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11-44FF-8F80-CD2DFE5C00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0E7C7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InceptionV3</c:v>
                </c:pt>
                <c:pt idx="1">
                  <c:v>Xception</c:v>
                </c:pt>
                <c:pt idx="2">
                  <c:v>Custom CNN</c:v>
                </c:pt>
                <c:pt idx="3">
                  <c:v>Ensemble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84.6</c:v>
                </c:pt>
                <c:pt idx="1">
                  <c:v>86.9</c:v>
                </c:pt>
                <c:pt idx="2">
                  <c:v>94</c:v>
                </c:pt>
                <c:pt idx="3">
                  <c:v>98.2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1F-4E10-832F-9B0C0FC971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73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My name is Shehan Kavishka. My research is about classifying brain tumours from MRI scans. But I want to start with the real problem, not the technology. When a brain MRI comes in, a radiologist has to decide: is this a glioma, a meningioma, a pituitary tumour, or no tumour at all? That decision changes the entire treatment plan. It's slow, it depends on one person's eye, and mistakes are costly. My project asks: can we build an AI system that is not just accurate, but also honest about when it isn't sure?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two problems in this field. The first is technical: most published work uses a single model, which inherits one architecture's blind spots. The second is trust: even accurate models are black boxes — they never say how confident the reasoning was, and never flag cases where the model is basically guessing. My framework attacks both: better accuracy through combining models, and a new way to measure uncertainty. Four classes: glioma, meningioma, pituitary, no-tumour.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used the Kaggle Brain Tumour MRI dataset — around 9,000 scans, already split into training and testing folders across four classes. I kept that official split throughout, so every model is judged on unseen images. If asked how I avoid data leakage: feature extraction, model fitting, and hyper-parameter choices all happen on Training only; the Testing folder is touched exactly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any model sees an image, every scan goes through the same preprocessing recipe. Read the JPG in colour, resize to a fixed square, fix the BGR-to-RGB colour order for ImageNet compatibility, then normalise. Two input sizes are deliberate: standalone deep models run at 256x256 for maximum detail; feature-extraction backbones run at 128x128 to stay fast and memory-friendly across thousands of images. If pressed on normalisation: standalone models use /255 (range 0-1), ensemble backbones use /255-0.5 (zero-centred) — a documented inconsistency from developing notebooks separately, standardised to /255 in the deployed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started simple, to get a baseline. A custom CNN — four convolution-and-pooling blocks that learn edges, then textures, then tumour-shaped patterns, followed by dense layers for the final four-class decision. Trained from scratch, it reached about 91-94% on the test set. Good, but it's one architecture's opinion, and it started overfitting after about ten epochs. That told me a single model wasn't going to be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these two, and why pretrained? Transfer learning: Xception and InceptionV3 were trained on ImageNet, already knowing edges, curves, textures and shapes — I freeze those layers and only train a small new head. Diversity: InceptionV3 looks at each region with several filter sizes in parallel; Xception uses depthwise-separable convolutions that separate where a pattern is from its channel. Three architecturally distinct viewpoints mean their mistakes are different — which is what makes the ensemble stronger than any single model. Code: freeze pretrained layers (layer.trainable=False), Flatten, Dense(256, relu) — this is the layer I cut in the next step — Dropout(0.5), Dense(4, softmax).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idea. A Dense(256) layer sits one step before the final softmax — 256 numbers describing what the network understood about the image before it collapses that into a class guess. After training, I 'cut' the model at that layer, building a new model whose output is those 256 features instead of the four-class prediction. I feed those features into Random Forest, Decision Tree and SVM. Layer names: CNN -&gt; dense, InceptionV3 -&gt; dense_2, Xception -&gt; dense_3, all outputting 256 features from a 128x128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independent opinions on every scan: three deep networks predicting directly, three classical models reading deep features. They vote — majority vote in the research notebooks. Six diverse models voting together reached 98.2% on the test set, well above any single model. The reason it works: for the ensemble to be wrong, a majority of six architecturally different models with different blind spots all have to make the same mistake on the same image — that's rare. In the live web app I upgraded this to confidence-weighted voting: summing probability vectors so a 99%-confident model counts more than a 30%-confident one, giving a real confidence percentage.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use Grad-CAM to produce a heatmap showing which region of the MRI each model looked at. I ask: do the three models agree on where the tumour is? I measure that overlap with Intersection-over-Union, computed pairwise and averaged into one number: Ensemble Attention Agreement, EAA-IoU. High agreement means confident and consistent; low agreement is a red flag even if the class output matched — the models got there for different reasons. Below a threshold, the web app raises a clinical escalation alert. Existing explainable-ensemble papers compare a heatmap against a doctor's hand-drawn box, needing expensive annotations. My method needs no ground truth — it measures whether models agree with each other, a self-supervised uncertainty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of this lives inside a working web application, because a research result that stays in a notebook helps no one. Live Diagnosis: a clinician uploads an MRI and instantly sees the predicted type, confidence bar, Grad-CAM heatmaps from all three models plus a consensus map, per-model vote breakdown, and the clinical alert if models disagree. Results Gallery: all research figures in one place — accuracy charts, confusion matrices, EAA-IoU analysis. React front-end, FastAPI backend loading all six models and running xai_engine.py, containerised for cloud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best single model was the CNN at 94%. Combining six diverse models by voting pushed that to 98.2%. But accuracy is only half the story — the real contribution is the honesty layer, EAA-IoU, which turns the ensemble from a black box that's confidently wrong into a system that can raise its hand and say this one is ambiguous, get a human. That combination — a confidence-weighted ensemble plus an annotation-free inter-model agreement signal — is, from my literature review, not present in any published brain-tumour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to close where I started: one model can be confidently wrong. My framework replaces that single opinion with six diverse ones, and then — crucially — checks whether they truly agree, not just on the answer but on the reasoning. That's how you get accuracy and safety in a clinical tool. Thank you. I'm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2.xml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94560"/>
            <a:ext cx="5943600" cy="59436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560320" y="4389120"/>
            <a:ext cx="4754880" cy="475488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822960" cy="822960"/>
          </a:xfrm>
          <a:prstGeom prst="ellipse">
            <a:avLst/>
          </a:prstGeom>
          <a:solidFill>
            <a:srgbClr val="0E7C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8083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6583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VIVA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987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Comparative Analysis of Ensemble Learning, Fine-Tuned Models and CNNs for Multi-Class Disease Prediction in Medical Imaging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Framework with Systematic Optimization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2926080" cy="0"/>
          </a:xfrm>
          <a:prstGeom prst="line">
            <a:avLst/>
          </a:prstGeom>
          <a:noFill/>
          <a:ln w="19050">
            <a:solidFill>
              <a:srgbClr val="1FBF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5303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Pattiyage Shehan Kavishka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E187041   |   Batch COL/LMU-T-BSC-DS/2425-FEB/3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research matters before the technology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2286000"/>
          </a:xfrm>
          <a:prstGeom prst="roundRect">
            <a:avLst>
              <a:gd name="adj" fmla="val 3200"/>
            </a:avLst>
          </a:prstGeom>
          <a:solidFill>
            <a:srgbClr val="0A1A33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single model looking at a brain MRI can be confidently wrong.”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97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radiologist must decide between glioma, meningioma, pituitary tumour, or no tumour at all - a decision that changes the entire treatment plan. It is slow, it rests on one person's eye, and mistakes are costly.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48056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42976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83280" y="42976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4480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42976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42976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44805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42976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869680" y="429768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44805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09760" y="42976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Tumour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build an AI system that is not just accurate, but honest about when it isn't sure.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Brain Tumour MRI Dataset - official train/test split preserved throughout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0A1A33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0E7C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54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974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9,047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MRI scans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05840" y="4069080"/>
            <a:ext cx="2834640" cy="0"/>
          </a:xfrm>
          <a:prstGeom prst="line">
            <a:avLst/>
          </a:prstGeom>
          <a:noFill/>
          <a:ln w="12700">
            <a:solidFill>
              <a:srgbClr val="0E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05840" y="4251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6,984  </a:t>
            </a: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
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4892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2,063  </a:t>
            </a: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images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05840" y="5532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is never touched during training, feature extraction, or model selection.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737360"/>
          <a:ext cx="6949440" cy="252374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Glioma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Meningioma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Tumour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Pituitary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6,984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Chart 0"/>
          <p:cNvGraphicFramePr/>
          <p:nvPr/>
        </p:nvGraphicFramePr>
        <p:xfrm>
          <a:off x="4572000" y="4434840"/>
          <a:ext cx="69494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Recipe, Every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preprocessing ensures a fair comparison across models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31620" y="2057400"/>
            <a:ext cx="640080" cy="640080"/>
          </a:xfrm>
          <a:prstGeom prst="ellipse">
            <a:avLst/>
          </a:prstGeom>
          <a:solidFill>
            <a:srgbClr val="0A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316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B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JPG in colour (BGR)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2670048"/>
            <a:ext cx="256032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83280" y="18288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74820" y="2057400"/>
            <a:ext cx="640080" cy="640080"/>
          </a:xfrm>
          <a:prstGeom prst="ellipse">
            <a:avLst/>
          </a:prstGeom>
          <a:solidFill>
            <a:srgbClr val="0A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2748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B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47472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520440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square input size</a:t>
            </a:r>
            <a:endParaRPr lang="en-US" sz="10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2670048"/>
            <a:ext cx="256032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126480" y="18288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018020" y="2057400"/>
            <a:ext cx="640080" cy="640080"/>
          </a:xfrm>
          <a:prstGeom prst="ellipse">
            <a:avLst/>
          </a:prstGeom>
          <a:solidFill>
            <a:srgbClr val="0A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0180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B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21792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Colour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263640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→ RGB for ImageNet models</a:t>
            </a:r>
            <a:endParaRPr lang="en-US" sz="10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670048"/>
            <a:ext cx="256032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869680" y="182880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761220" y="2057400"/>
            <a:ext cx="640080" cy="640080"/>
          </a:xfrm>
          <a:prstGeom prst="ellipse">
            <a:avLst/>
          </a:prstGeom>
          <a:solidFill>
            <a:srgbClr val="0A1A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97612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B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896112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9006840" y="3154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pixels to a stable range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40080" y="411480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0A1A33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914400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B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 × 256</a:t>
            </a:r>
            <a:endParaRPr lang="en-US" sz="2600" dirty="0"/>
          </a:p>
        </p:txBody>
      </p:sp>
      <p:sp>
        <p:nvSpPr>
          <p:cNvPr id="29" name="Text 24"/>
          <p:cNvSpPr/>
          <p:nvPr/>
        </p:nvSpPr>
        <p:spPr>
          <a:xfrm>
            <a:off x="914400" y="475488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deep models (CNN, Xception, InceptionV3) - maximum detail, since one network does the whole job alone.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263640" y="411480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0E7C72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537960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× 128</a:t>
            </a:r>
            <a:endParaRPr lang="en-US" sz="2600" dirty="0"/>
          </a:p>
        </p:txBody>
      </p:sp>
      <p:sp>
        <p:nvSpPr>
          <p:cNvPr id="32" name="Text 27"/>
          <p:cNvSpPr/>
          <p:nvPr/>
        </p:nvSpPr>
        <p:spPr>
          <a:xfrm>
            <a:off x="6537960" y="475488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0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Feature-extraction backbones - compact, fast and memory-friendly when running classical ML across thousands of images.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A Custom CNN Baseline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simple, to establish a reference point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Pool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424" y="2322576"/>
            <a:ext cx="182880" cy="201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423160" y="196596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468880" y="1965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Pool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2504" y="2322576"/>
            <a:ext cx="182880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06240" y="196596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251960" y="1965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Pool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2322576"/>
            <a:ext cx="182880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989320" y="196596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6035040" y="1965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+ Pool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664" y="2322576"/>
            <a:ext cx="182880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772400" y="196596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CFE3F2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7818120" y="1965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Layers</a:t>
            </a:r>
            <a:endParaRPr lang="en-US" sz="11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4" y="2322576"/>
            <a:ext cx="182880" cy="20116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9555480" y="196596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0A1A33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9601200" y="19659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Output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640080" y="3017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 →  Textures  →  Tumour-shaped patterns  →  Final decision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640080" y="379476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0A1A33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/>
          <p:nvPr/>
        </p:nvSpPr>
        <p:spPr>
          <a:xfrm>
            <a:off x="640080" y="4069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BF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91–94%</a:t>
            </a:r>
            <a:endParaRPr lang="en-US" sz="3800" dirty="0"/>
          </a:p>
        </p:txBody>
      </p:sp>
      <p:sp>
        <p:nvSpPr>
          <p:cNvPr id="24" name="Text 17"/>
          <p:cNvSpPr/>
          <p:nvPr/>
        </p:nvSpPr>
        <p:spPr>
          <a:xfrm>
            <a:off x="822960" y="4892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- best single model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160520" y="3794760"/>
            <a:ext cx="7360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4434840" y="4023360"/>
            <a:ext cx="548640" cy="548640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7486" y="416600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20640" y="40416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- but it's one architecture's opinion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4434840" y="46177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showed overfitting after roughly ten epochs. A single model inherits its own blind spots — this motivates moving to transfer learning and an ensemble of diverse architectures.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Xception and InceptionV3?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reasons: transfer learning, and architectural diversity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A1A33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627632"/>
            <a:ext cx="713232" cy="713232"/>
          </a:xfrm>
          <a:prstGeom prst="ellipse">
            <a:avLst/>
          </a:prstGeom>
          <a:solidFill>
            <a:srgbClr val="0E7C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20" y="1813072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536192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</a:t>
            </a:r>
            <a:r>
              <a:rPr lang="en-US" sz="13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pretrained on 1M+ ImageNet photos, already knowing edges, curves, textures and shapes. A tumour is still edges, textures and shapes - so pretrained layers are frozen, and only a small new head is trained on ~7,000 MRIs.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6974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2926080"/>
            <a:ext cx="548640" cy="548640"/>
          </a:xfrm>
          <a:prstGeom prst="ellipse">
            <a:avLst/>
          </a:prstGeom>
          <a:solidFill>
            <a:srgbClr val="CFE3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3068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InceptionV3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868680" y="35661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each region with several filter sizes in parallel - capturing tiny detail and larger structure at once.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63640" y="26974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92240" y="2926080"/>
            <a:ext cx="548640" cy="548640"/>
          </a:xfrm>
          <a:prstGeom prst="ellipse">
            <a:avLst/>
          </a:prstGeom>
          <a:solidFill>
            <a:srgbClr val="CFE3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886" y="306872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7804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6492240" y="356616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depthwise-separable convolutions - separating where a pattern is from which channel it's in, capturing fine spatial detail efficiently.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architecturally distinct viewpoints - CNN, Inception's multi-scale view, Xception's separable view - mean their mistakes differ, which is exactly what an ensemble needs.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Idea: Cutting the Dense Layer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networks see; classical models decide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8288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801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22199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2116836"/>
            <a:ext cx="219456" cy="2011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34640" y="169164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880360" y="18013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880360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 / InceptionV3 / CNN (frozen)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792" y="2116836"/>
            <a:ext cx="219456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0" y="1581912"/>
            <a:ext cx="2103120" cy="1271016"/>
          </a:xfrm>
          <a:prstGeom prst="roundRect">
            <a:avLst>
              <a:gd name="adj" fmla="val 5755"/>
            </a:avLst>
          </a:prstGeom>
          <a:solidFill>
            <a:srgbClr val="0A1A33"/>
          </a:solidFill>
          <a:ln w="19050">
            <a:solidFill>
              <a:srgbClr val="1FBFA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53212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Dense(256)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32120" y="211226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256-number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"fingerprint"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532120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E7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cut here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537960" y="2852928"/>
            <a:ext cx="0" cy="502920"/>
          </a:xfrm>
          <a:prstGeom prst="line">
            <a:avLst/>
          </a:prstGeom>
          <a:noFill/>
          <a:ln w="19050">
            <a:solidFill>
              <a:srgbClr val="0E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023360" y="3355848"/>
            <a:ext cx="5029200" cy="0"/>
          </a:xfrm>
          <a:prstGeom prst="line">
            <a:avLst/>
          </a:prstGeom>
          <a:noFill/>
          <a:ln w="19050">
            <a:solidFill>
              <a:srgbClr val="0E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023360" y="3355848"/>
            <a:ext cx="0" cy="320040"/>
          </a:xfrm>
          <a:prstGeom prst="line">
            <a:avLst/>
          </a:prstGeom>
          <a:noFill/>
          <a:ln w="19050">
            <a:solidFill>
              <a:srgbClr val="0E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052560" y="3355848"/>
            <a:ext cx="0" cy="320040"/>
          </a:xfrm>
          <a:prstGeom prst="line">
            <a:avLst/>
          </a:prstGeom>
          <a:noFill/>
          <a:ln w="19050">
            <a:solidFill>
              <a:srgbClr val="0E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2651760" y="3675888"/>
            <a:ext cx="2743200" cy="777240"/>
          </a:xfrm>
          <a:prstGeom prst="roundRect">
            <a:avLst>
              <a:gd name="adj" fmla="val 8235"/>
            </a:avLst>
          </a:prstGeom>
          <a:solidFill>
            <a:srgbClr val="CFE3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2743200" y="36758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4-class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(original path, not used for final vote)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680960" y="3675888"/>
            <a:ext cx="3840480" cy="777240"/>
          </a:xfrm>
          <a:prstGeom prst="roundRect">
            <a:avLst>
              <a:gd name="adj" fmla="val 8235"/>
            </a:avLst>
          </a:prstGeom>
          <a:solidFill>
            <a:srgbClr val="0E7C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772400" y="367588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•  Decision Tree  •  SVM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0080" y="43434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deep network is a specialist who writes a 256-line summary of the scan. The Random Forest is a second specialist who reads only that summary and makes the call.”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914400" y="52578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the network's own softmax?  </a:t>
            </a: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 are more robust on small data and easy to interpret — and this gives three more independent voters for the ensemble, built from the same backbones but with different decision logic.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Opinions, One Vote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direct predictions with feature-based classical models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37560" cy="777240"/>
          </a:xfrm>
          <a:prstGeom prst="roundRect">
            <a:avLst>
              <a:gd name="adj" fmla="val 8235"/>
            </a:avLst>
          </a:prstGeom>
          <a:solidFill>
            <a:srgbClr val="0A1A33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06240" y="1691640"/>
            <a:ext cx="3337560" cy="777240"/>
          </a:xfrm>
          <a:prstGeom prst="roundRect">
            <a:avLst>
              <a:gd name="adj" fmla="val 8235"/>
            </a:avLst>
          </a:prstGeom>
          <a:solidFill>
            <a:srgbClr val="0A1A33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43400" y="1691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InceptionV3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0" y="1691640"/>
            <a:ext cx="3337560" cy="777240"/>
          </a:xfrm>
          <a:prstGeom prst="roundRect">
            <a:avLst>
              <a:gd name="adj" fmla="val 8235"/>
            </a:avLst>
          </a:prstGeom>
          <a:solidFill>
            <a:srgbClr val="0A1A33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909560" y="16916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3337560" cy="777240"/>
          </a:xfrm>
          <a:prstGeom prst="roundRect">
            <a:avLst>
              <a:gd name="adj" fmla="val 8235"/>
            </a:avLst>
          </a:prstGeom>
          <a:solidFill>
            <a:srgbClr val="0E7C72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RF/DT/SVM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2651760"/>
            <a:ext cx="3337560" cy="777240"/>
          </a:xfrm>
          <a:prstGeom prst="roundRect">
            <a:avLst>
              <a:gd name="adj" fmla="val 8235"/>
            </a:avLst>
          </a:prstGeom>
          <a:solidFill>
            <a:srgbClr val="0E7C72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3400" y="2651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+ RF/DT/SVM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0" y="2651760"/>
            <a:ext cx="3337560" cy="777240"/>
          </a:xfrm>
          <a:prstGeom prst="roundRect">
            <a:avLst>
              <a:gd name="adj" fmla="val 8235"/>
            </a:avLst>
          </a:prstGeom>
          <a:solidFill>
            <a:srgbClr val="0E7C72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09560" y="2651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 + RF/DT/SVM</a:t>
            </a:r>
            <a:endParaRPr lang="en-US" sz="13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06440" y="3749040"/>
            <a:ext cx="274320" cy="2743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200400" y="411480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429000" y="4224528"/>
            <a:ext cx="640080" cy="640080"/>
          </a:xfrm>
          <a:prstGeom prst="ellipse">
            <a:avLst/>
          </a:prstGeom>
          <a:solidFill>
            <a:srgbClr val="CFE3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421" y="4390949"/>
            <a:ext cx="307238" cy="30723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206240" y="41148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→ Final Diagnosis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40080" y="51663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Web-app upgrade: instead of one hard vote per model, probability vectors are summed - confidence-weighted voting - giving a real confidence percentage for the clinician.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2011680"/>
            <a:ext cx="5029200" cy="50292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0E7C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68122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Novelty: EAA-IoU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50876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the ensemble to say "I'm not sure"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48766" y="1892808"/>
            <a:ext cx="1600200" cy="1234440"/>
          </a:xfrm>
          <a:prstGeom prst="roundRect">
            <a:avLst>
              <a:gd name="adj" fmla="val 5185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834" y="2075688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4486" y="27614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Grad-CAM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369006" y="1892808"/>
            <a:ext cx="1600200" cy="1234440"/>
          </a:xfrm>
          <a:prstGeom prst="roundRect">
            <a:avLst>
              <a:gd name="adj" fmla="val 5185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074" y="2075688"/>
            <a:ext cx="512064" cy="5120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14726" y="27614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Xception Grad-CAM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289246" y="1892808"/>
            <a:ext cx="1600200" cy="1234440"/>
          </a:xfrm>
          <a:prstGeom prst="roundRect">
            <a:avLst>
              <a:gd name="adj" fmla="val 5185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314" y="2075688"/>
            <a:ext cx="512064" cy="5120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334966" y="27614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InceptionV3 Grad-CAM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626" y="2436876"/>
            <a:ext cx="274320" cy="237744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001B3623-17BA-1FEB-BA68-CD893D1D1328}"/>
              </a:ext>
            </a:extLst>
          </p:cNvPr>
          <p:cNvGrpSpPr/>
          <p:nvPr/>
        </p:nvGrpSpPr>
        <p:grpSpPr>
          <a:xfrm>
            <a:off x="6163766" y="1892808"/>
            <a:ext cx="2606040" cy="1234440"/>
            <a:chOff x="5669280" y="1874520"/>
            <a:chExt cx="2606040" cy="1234440"/>
          </a:xfrm>
        </p:grpSpPr>
        <p:sp>
          <p:nvSpPr>
            <p:cNvPr id="17" name="Shape 10"/>
            <p:cNvSpPr/>
            <p:nvPr/>
          </p:nvSpPr>
          <p:spPr>
            <a:xfrm>
              <a:off x="5669280" y="1874520"/>
              <a:ext cx="2606040" cy="1234440"/>
            </a:xfrm>
            <a:prstGeom prst="roundRect">
              <a:avLst>
                <a:gd name="adj" fmla="val 5185"/>
              </a:avLst>
            </a:prstGeom>
            <a:solidFill>
              <a:srgbClr val="0E7C7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1"/>
            <p:cNvSpPr/>
            <p:nvPr/>
          </p:nvSpPr>
          <p:spPr>
            <a:xfrm>
              <a:off x="5806440" y="2011680"/>
              <a:ext cx="233172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Pairwise IoU</a:t>
              </a:r>
              <a:endParaRPr lang="en-US" sz="1250" dirty="0"/>
            </a:p>
            <a:p>
              <a:pPr marL="0" indent="0" algn="ctr">
                <a:buNone/>
              </a:pPr>
              <a:r>
                <a:rPr lang="en-US" sz="12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overlap ÷ union</a:t>
              </a:r>
              <a:endParaRPr lang="en-US" sz="1250" dirty="0"/>
            </a:p>
          </p:txBody>
        </p:sp>
      </p:grp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094" y="2391156"/>
            <a:ext cx="274320" cy="237744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96E72715-287A-E432-4E1D-68B0A6E6C8A1}"/>
              </a:ext>
            </a:extLst>
          </p:cNvPr>
          <p:cNvGrpSpPr/>
          <p:nvPr/>
        </p:nvGrpSpPr>
        <p:grpSpPr>
          <a:xfrm>
            <a:off x="9117278" y="1911096"/>
            <a:ext cx="2606040" cy="1234440"/>
            <a:chOff x="8823960" y="1874520"/>
            <a:chExt cx="2606040" cy="1234440"/>
          </a:xfrm>
        </p:grpSpPr>
        <p:sp>
          <p:nvSpPr>
            <p:cNvPr id="20" name="Shape 12"/>
            <p:cNvSpPr/>
            <p:nvPr/>
          </p:nvSpPr>
          <p:spPr>
            <a:xfrm>
              <a:off x="8823960" y="1874520"/>
              <a:ext cx="2606040" cy="1234440"/>
            </a:xfrm>
            <a:prstGeom prst="roundRect">
              <a:avLst>
                <a:gd name="adj" fmla="val 5185"/>
              </a:avLst>
            </a:prstGeom>
            <a:solidFill>
              <a:srgbClr val="1FBFA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3"/>
            <p:cNvSpPr/>
            <p:nvPr/>
          </p:nvSpPr>
          <p:spPr>
            <a:xfrm>
              <a:off x="8823960" y="2039112"/>
              <a:ext cx="26060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0A1A33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EAA-IoU</a:t>
              </a:r>
              <a:endParaRPr lang="en-US" sz="1600" dirty="0"/>
            </a:p>
          </p:txBody>
        </p:sp>
        <p:sp>
          <p:nvSpPr>
            <p:cNvPr id="22" name="Text 14"/>
            <p:cNvSpPr/>
            <p:nvPr/>
          </p:nvSpPr>
          <p:spPr>
            <a:xfrm>
              <a:off x="8961120" y="2450592"/>
              <a:ext cx="23317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A1A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Average of the 3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0A1A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pairwise scores</a:t>
              </a:r>
              <a:endParaRPr lang="en-US" sz="1100" dirty="0"/>
            </a:p>
          </p:txBody>
        </p:sp>
      </p:grpSp>
      <p:sp>
        <p:nvSpPr>
          <p:cNvPr id="23" name="Shape 15"/>
          <p:cNvSpPr/>
          <p:nvPr/>
        </p:nvSpPr>
        <p:spPr>
          <a:xfrm>
            <a:off x="640080" y="34290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721608"/>
            <a:ext cx="502920" cy="5029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50876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agreement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1508760" y="39593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highlight the same region — confident and consistent.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6263640" y="342900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3A1E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721608"/>
            <a:ext cx="502920" cy="50292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13232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agreement → escalate</a:t>
            </a:r>
            <a:endParaRPr lang="en-US" sz="1400" dirty="0"/>
          </a:p>
        </p:txBody>
      </p:sp>
      <p:sp>
        <p:nvSpPr>
          <p:cNvPr id="30" name="Text 20"/>
          <p:cNvSpPr/>
          <p:nvPr/>
        </p:nvSpPr>
        <p:spPr>
          <a:xfrm>
            <a:off x="7132320" y="39593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disagree on where the tumour is — clinical escalation alert raised.</a:t>
            </a:r>
            <a:endParaRPr lang="en-US" sz="1150" dirty="0"/>
          </a:p>
        </p:txBody>
      </p:sp>
      <p:sp>
        <p:nvSpPr>
          <p:cNvPr id="31" name="Shape 21"/>
          <p:cNvSpPr/>
          <p:nvPr/>
        </p:nvSpPr>
        <p:spPr>
          <a:xfrm>
            <a:off x="640080" y="48463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2"/>
          <p:cNvSpPr/>
          <p:nvPr/>
        </p:nvSpPr>
        <p:spPr>
          <a:xfrm>
            <a:off x="914400" y="4956048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genuinely new:  </a:t>
            </a:r>
            <a:r>
              <a:rPr lang="en-US" sz="12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explainable-ensemble work compares a model's heatmap against a doctor's hand-drawn tumour box — needing expensive expert annotations. EAA-IoU needs no ground truth at all: it measures whether the models agree with each other, making it a self-supervised uncertainty signal that works on any dataset out of the box.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Research to Product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web application — React front-end, Python backend, containerised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CFE3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Diagnosis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tumour type + confidence bar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heatmaps from all three models + consensus map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vote breakdown — nothing hidden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escalation alert when models disagree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1920240"/>
            <a:ext cx="640080" cy="640080"/>
          </a:xfrm>
          <a:prstGeom prst="ellipse">
            <a:avLst/>
          </a:prstGeom>
          <a:solidFill>
            <a:srgbClr val="CFE3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20866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65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Gallery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charts across all six models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EAA-IoU analysis and agreement trends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trail behind the system, kept transparent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carries a disclaimer: a research tool, not a replacement for a radiologist.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Contribution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only half the story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257800" cy="237744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InceptionV3 (standalone)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Xception (standalone)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CNN (best single)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6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6-model ensemble (final)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E7C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0080" y="4206240"/>
          <a:ext cx="5257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6263640" y="169164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0A1A33"/>
          </a:solidFill>
          <a:ln/>
          <a:effectLst>
            <a:outerShdw blurRad="101600" dist="38100" dir="5400000" algn="bl" rotWithShape="0">
              <a:srgbClr val="0A1A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6537960" y="1920240"/>
            <a:ext cx="594360" cy="594360"/>
          </a:xfrm>
          <a:prstGeom prst="ellipse">
            <a:avLst/>
          </a:prstGeom>
          <a:solidFill>
            <a:srgbClr val="0E7C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494" y="2074774"/>
            <a:ext cx="285293" cy="28529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0" y="19659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contribution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537960" y="260604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across six diverse models pushed accuracy from ~94% to 98.2%. But the honesty layer — EAA-IoU — is what turns the ensemble from a black box that's confidently wrong into a system that can raise its hand and say "this one is ambiguous, get a human."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537960" y="4343400"/>
            <a:ext cx="4709160" cy="0"/>
          </a:xfrm>
          <a:prstGeom prst="line">
            <a:avLst/>
          </a:prstGeom>
          <a:noFill/>
          <a:ln w="12700">
            <a:solidFill>
              <a:srgbClr val="0E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7"/>
          <p:cNvSpPr/>
          <p:nvPr/>
        </p:nvSpPr>
        <p:spPr>
          <a:xfrm>
            <a:off x="6537960" y="45262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i="1" dirty="0">
                <a:solidFill>
                  <a:srgbClr val="1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confidence-weighted ensemble plus an annotation-free inter-model agreement signal — a combination not present in any published brain-tumour paper reviewed.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5486400" cy="54864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1329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184648" y="1188720"/>
            <a:ext cx="914400" cy="914400"/>
          </a:xfrm>
          <a:prstGeom prst="ellipse">
            <a:avLst/>
          </a:prstGeom>
          <a:solidFill>
            <a:srgbClr val="0E7C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4264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33172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 can be confidently wrong.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554480" y="2971800"/>
            <a:ext cx="9079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diverse models, voting together, checking whether they agree not just on the answer — but on the reasoning.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3794760"/>
            <a:ext cx="9079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B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how you get accuracy and safety in a clinical tool.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84648" y="4572000"/>
            <a:ext cx="1828800" cy="0"/>
          </a:xfrm>
          <a:prstGeom prst="line">
            <a:avLst/>
          </a:prstGeom>
          <a:noFill/>
          <a:ln w="15240">
            <a:solidFill>
              <a:srgbClr val="0E7C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97280" y="484632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I'm happy to take questions.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A1A33"/>
                </a:solidFill>
                <a:latin typeface="Cambria"/>
              </a:rPr>
              <a:t>Objectives &amp;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24128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B6B82"/>
                </a:solidFill>
                <a:latin typeface="Calibri"/>
              </a:rPr>
              <a:t>What this project sets out to answer and deliver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54480"/>
            <a:ext cx="5257800" cy="1417320"/>
          </a:xfrm>
          <a:prstGeom prst="roundRect">
            <a:avLst/>
          </a:prstGeom>
          <a:solidFill>
            <a:srgbClr val="F0FB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64208"/>
            <a:ext cx="4846320" cy="12344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E7C72"/>
                </a:solidFill>
                <a:latin typeface="Calibri"/>
              </a:rPr>
              <a:t>PRIMARY RESEARCH QUESTION</a:t>
            </a:r>
          </a:p>
          <a:p>
            <a:pPr algn="l"/>
            <a:r>
              <a:rPr sz="1200" b="0" i="0">
                <a:solidFill>
                  <a:srgbClr val="16233B"/>
                </a:solidFill>
                <a:latin typeface="Calibri"/>
              </a:rPr>
              <a:t>How well do fine-tuned models perform for feature extraction versus standard CNNs, and how does combining them in an ensemble affect the accuracy and reliability of brain-tumour identification from MRI?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257800" cy="1417320"/>
          </a:xfrm>
          <a:prstGeom prst="roundRect">
            <a:avLst/>
          </a:prstGeom>
          <a:solidFill>
            <a:srgbClr val="FBECE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664208"/>
            <a:ext cx="4846320" cy="12344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D9534F"/>
                </a:solidFill>
                <a:latin typeface="Calibri"/>
              </a:rPr>
              <a:t>NOVEL (XAI) RESEARCH QUESTION</a:t>
            </a:r>
          </a:p>
          <a:p>
            <a:pPr algn="l"/>
            <a:r>
              <a:rPr sz="1200" b="0" i="0">
                <a:solidFill>
                  <a:srgbClr val="16233B"/>
                </a:solidFill>
                <a:latin typeface="Calibri"/>
              </a:rPr>
              <a:t>Does inter-model Grad-CAM agreement (EAA-IoU) correlate with misclassification, and can it act as a per-sample clinical uncertainty trigger?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15468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0A1A33"/>
                </a:solidFill>
                <a:latin typeface="Cambria"/>
              </a:rPr>
              <a:t>Six Objectives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611880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3758184"/>
            <a:ext cx="457200" cy="457200"/>
          </a:xfrm>
          <a:prstGeom prst="ellipse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7490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3657600"/>
            <a:ext cx="448056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6233B"/>
                </a:solidFill>
                <a:latin typeface="Calibri"/>
              </a:rPr>
              <a:t>Critically evaluate CNN feature extraction for tumour identification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11880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63640" y="3758184"/>
            <a:ext cx="457200" cy="457200"/>
          </a:xfrm>
          <a:prstGeom prst="ellipse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7490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3657600"/>
            <a:ext cx="448056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6233B"/>
                </a:solidFill>
                <a:latin typeface="Calibri"/>
              </a:rPr>
              <a:t>Assess RF / DT / SVM performance on CNN-extracted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507992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7" y="4654296"/>
            <a:ext cx="457200" cy="457200"/>
          </a:xfrm>
          <a:prstGeom prst="ellipse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4645152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553712"/>
            <a:ext cx="448056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6233B"/>
                </a:solidFill>
                <a:latin typeface="Calibri"/>
              </a:rPr>
              <a:t>Investigate Xception &amp; InceptionV3 as feature extractors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507992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63640" y="4654296"/>
            <a:ext cx="457200" cy="457200"/>
          </a:xfrm>
          <a:prstGeom prst="ellipse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645152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0568" y="4553712"/>
            <a:ext cx="448056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6233B"/>
                </a:solidFill>
                <a:latin typeface="Calibri"/>
              </a:rPr>
              <a:t>Evaluate ML classifiers on pre-trained-model features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5404104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7" y="5550408"/>
            <a:ext cx="457200" cy="457200"/>
          </a:xfrm>
          <a:prstGeom prst="ellipse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5541264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8176" y="5449824"/>
            <a:ext cx="448056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6233B"/>
                </a:solidFill>
                <a:latin typeface="Calibri"/>
              </a:rPr>
              <a:t>Measure the accuracy gain from ensemble combination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5404104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63640" y="5550408"/>
            <a:ext cx="457200" cy="457200"/>
          </a:xfrm>
          <a:prstGeom prst="ellipse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541264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0568" y="5449824"/>
            <a:ext cx="4480560" cy="65836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16233B"/>
                </a:solidFill>
                <a:latin typeface="Calibri"/>
              </a:rPr>
              <a:t>Develop &amp; validate the EAA-IoU uncertainty mechanism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A1A33"/>
                </a:solidFill>
                <a:latin typeface="Cambria"/>
              </a:rPr>
              <a:t>Evaluation, Limitations &amp; Honest Disclosures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24128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B6B82"/>
                </a:solidFill>
                <a:latin typeface="Calibri"/>
              </a:rPr>
              <a:t>How performance is judged — and what I openly acknowledge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00200"/>
            <a:ext cx="3429000" cy="2788920"/>
          </a:xfrm>
          <a:prstGeom prst="roundRect">
            <a:avLst/>
          </a:prstGeom>
          <a:solidFill>
            <a:srgbClr val="F0FB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746504"/>
            <a:ext cx="3063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7C72"/>
                </a:solidFill>
                <a:latin typeface="Calibri"/>
              </a:rPr>
              <a:t>HOW IT IS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167128"/>
            <a:ext cx="3063240" cy="214883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0E7C7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6233B"/>
                </a:solidFill>
                <a:latin typeface="Calibri"/>
              </a:rPr>
              <a:t>Accuracy, Precision, Recall, F1 — per class and weighted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0E7C7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6233B"/>
                </a:solidFill>
                <a:latin typeface="Calibri"/>
              </a:rPr>
              <a:t>Confusion matrices for every model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0E7C7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6233B"/>
                </a:solidFill>
                <a:latin typeface="Calibri"/>
              </a:rPr>
              <a:t>ROC / PR curves for EAA-IoU as a misclassification detector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0E7C7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6233B"/>
                </a:solidFill>
                <a:latin typeface="Calibri"/>
              </a:rPr>
              <a:t>Official held-out test set (2,063 images), never seen in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600200"/>
            <a:ext cx="3429000" cy="27889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746504"/>
            <a:ext cx="3063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A1A33"/>
                </a:solidFill>
                <a:latin typeface="Calibri"/>
              </a:rPr>
              <a:t>KNOWN CODE ISSUES (FIXED)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167128"/>
            <a:ext cx="3063240" cy="214883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0A1A33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6233B"/>
                </a:solidFill>
                <a:latin typeface="Calibri"/>
              </a:rPr>
              <a:t>Normalisation differed across notebooks (/255 vs /255-0.5) — standardised to /255 in the deployed app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0A1A33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6233B"/>
                </a:solidFill>
                <a:latin typeface="Calibri"/>
              </a:rPr>
              <a:t>A legacy 'Random Forest' cell instantiated a Decision Tree — corrected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0A1A33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6233B"/>
                </a:solidFill>
                <a:latin typeface="Calibri"/>
              </a:rPr>
              <a:t>Label-encoding differences (integer vs one-hot) documented and reconciled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600200"/>
            <a:ext cx="3429000" cy="2788920"/>
          </a:xfrm>
          <a:prstGeom prst="roundRect">
            <a:avLst/>
          </a:prstGeom>
          <a:solidFill>
            <a:srgbClr val="FBECE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46504"/>
            <a:ext cx="3063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D9534F"/>
                </a:solidFill>
                <a:latin typeface="Calibri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67128"/>
            <a:ext cx="3063240" cy="2148839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D9534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6233B"/>
                </a:solidFill>
                <a:latin typeface="Calibri"/>
              </a:rPr>
              <a:t>Single dataset — limited scanner &amp; demographic diversity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D9534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6233B"/>
                </a:solidFill>
                <a:latin typeface="Calibri"/>
              </a:rPr>
              <a:t>Six-model ensemble is compute-heavy for some clinics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D9534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6233B"/>
                </a:solidFill>
                <a:latin typeface="Calibri"/>
              </a:rPr>
              <a:t>Grad-CAM approximates attention, not ground truth</a:t>
            </a:r>
          </a:p>
          <a:p>
            <a:pPr algn="l">
              <a:spcAft>
                <a:spcPts val="700"/>
              </a:spcAft>
            </a:pPr>
            <a:r>
              <a:rPr sz="1100" b="1" i="0">
                <a:solidFill>
                  <a:srgbClr val="D9534F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6233B"/>
                </a:solidFill>
                <a:latin typeface="Calibri"/>
              </a:rPr>
              <a:t>EAA-IoU validated as a correlation, not yet in a clinical trial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7200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50" b="1" i="0">
                <a:solidFill>
                  <a:srgbClr val="0E7C72"/>
                </a:solidFill>
                <a:latin typeface="Calibri"/>
              </a:rPr>
              <a:t>Framing:  </a:t>
            </a:r>
            <a:r>
              <a:rPr sz="1250" b="0" i="1">
                <a:solidFill>
                  <a:srgbClr val="16233B"/>
                </a:solidFill>
                <a:latin typeface="Calibri"/>
              </a:rPr>
              <a:t>owning these openly is deliberate — a viva rewards self-aware rigour far more than a flawless-looking story.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43200"/>
            <a:ext cx="822960" cy="128016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Appendix — Anticipated Viva Questions</a:t>
            </a:r>
          </a:p>
          <a:p>
            <a:pPr algn="l"/>
            <a:r>
              <a:rPr sz="1600" b="0" i="1">
                <a:solidFill>
                  <a:srgbClr val="A9C6E0"/>
                </a:solidFill>
                <a:latin typeface="Calibri"/>
              </a:rPr>
              <a:t>Prepared answers to the questions the panel is most likely to ask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A1A33"/>
                </a:solidFill>
                <a:latin typeface="Cambria"/>
              </a:rPr>
              <a:t>Anticipated Questions — Method &amp;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24128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B6B82"/>
                </a:solidFill>
                <a:latin typeface="Calibri"/>
              </a:rPr>
              <a:t>Why the framework is built the way it 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72768"/>
            <a:ext cx="10698480" cy="765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82296" cy="619506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287000" cy="5646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FAE"/>
                </a:solidFill>
                <a:latin typeface="Calibri"/>
              </a:rPr>
              <a:t>Q  </a:t>
            </a:r>
            <a:r>
              <a:rPr sz="1350" b="1" i="0">
                <a:solidFill>
                  <a:srgbClr val="0A1A33"/>
                </a:solidFill>
                <a:latin typeface="Calibri"/>
              </a:rPr>
              <a:t>Why an ensemble instead of just improving one model?</a:t>
            </a:r>
          </a:p>
          <a:p>
            <a:pPr algn="l"/>
            <a:r>
              <a:rPr sz="1200" b="1" i="0">
                <a:solidFill>
                  <a:srgbClr val="0E7C72"/>
                </a:solidFill>
                <a:latin typeface="Calibri"/>
              </a:rPr>
              <a:t>A   </a:t>
            </a:r>
            <a:r>
              <a:rPr sz="1200" b="0" i="0">
                <a:solidFill>
                  <a:srgbClr val="16233B"/>
                </a:solidFill>
                <a:latin typeface="Calibri"/>
              </a:rPr>
              <a:t>Different architectures fail on different images; for the ensemble to be wrong, a majority of six diverse models must fail the same way on the same scan — rare. The 94% → 98.2% jump is the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484882"/>
            <a:ext cx="10698480" cy="765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558034"/>
            <a:ext cx="82296" cy="619506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03754"/>
            <a:ext cx="10287000" cy="5646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FAE"/>
                </a:solidFill>
                <a:latin typeface="Calibri"/>
              </a:rPr>
              <a:t>Q  </a:t>
            </a:r>
            <a:r>
              <a:rPr sz="1350" b="1" i="0">
                <a:solidFill>
                  <a:srgbClr val="0A1A33"/>
                </a:solidFill>
                <a:latin typeface="Calibri"/>
              </a:rPr>
              <a:t>Why Xception and InceptionV3 specifically?</a:t>
            </a:r>
          </a:p>
          <a:p>
            <a:pPr algn="l"/>
            <a:r>
              <a:rPr sz="1200" b="1" i="0">
                <a:solidFill>
                  <a:srgbClr val="0E7C72"/>
                </a:solidFill>
                <a:latin typeface="Calibri"/>
              </a:rPr>
              <a:t>A   </a:t>
            </a:r>
            <a:r>
              <a:rPr sz="1200" b="0" i="0">
                <a:solidFill>
                  <a:srgbClr val="16233B"/>
                </a:solidFill>
                <a:latin typeface="Calibri"/>
              </a:rPr>
              <a:t>Both bring ImageNet transfer learning, and they reason differently — Inception uses parallel multi-scale filters, Xception uses depthwise-separable convolutions — so their mistakes differ, which is exactly what an ensemble needs.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96996"/>
            <a:ext cx="10698480" cy="765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470148"/>
            <a:ext cx="82296" cy="619506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5868"/>
            <a:ext cx="10287000" cy="5646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FAE"/>
                </a:solidFill>
                <a:latin typeface="Calibri"/>
              </a:rPr>
              <a:t>Q  </a:t>
            </a:r>
            <a:r>
              <a:rPr sz="1350" b="1" i="0">
                <a:solidFill>
                  <a:srgbClr val="0A1A33"/>
                </a:solidFill>
                <a:latin typeface="Calibri"/>
              </a:rPr>
              <a:t>What does 'cutting the dense layer' actually mean?</a:t>
            </a:r>
          </a:p>
          <a:p>
            <a:pPr algn="l"/>
            <a:r>
              <a:rPr sz="1200" b="1" i="0">
                <a:solidFill>
                  <a:srgbClr val="0E7C72"/>
                </a:solidFill>
                <a:latin typeface="Calibri"/>
              </a:rPr>
              <a:t>A   </a:t>
            </a:r>
            <a:r>
              <a:rPr sz="1200" b="0" i="0">
                <a:solidFill>
                  <a:srgbClr val="16233B"/>
                </a:solidFill>
                <a:latin typeface="Calibri"/>
              </a:rPr>
              <a:t>After training, I build a second model with the same weights whose output is the 256-unit dense layer instead of the softmax — giving a 256-number feature vector per image that classical models then classify.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309110"/>
            <a:ext cx="10698480" cy="765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4382262"/>
            <a:ext cx="82296" cy="619506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27982"/>
            <a:ext cx="10287000" cy="5646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FAE"/>
                </a:solidFill>
                <a:latin typeface="Calibri"/>
              </a:rPr>
              <a:t>Q  </a:t>
            </a:r>
            <a:r>
              <a:rPr sz="1350" b="1" i="0">
                <a:solidFill>
                  <a:srgbClr val="0A1A33"/>
                </a:solidFill>
                <a:latin typeface="Calibri"/>
              </a:rPr>
              <a:t>Why use classical ML (RF / DT / SVM) at all?</a:t>
            </a:r>
          </a:p>
          <a:p>
            <a:pPr algn="l"/>
            <a:r>
              <a:rPr sz="1200" b="1" i="0">
                <a:solidFill>
                  <a:srgbClr val="0E7C72"/>
                </a:solidFill>
                <a:latin typeface="Calibri"/>
              </a:rPr>
              <a:t>A   </a:t>
            </a:r>
            <a:r>
              <a:rPr sz="1200" b="0" i="0">
                <a:solidFill>
                  <a:srgbClr val="16233B"/>
                </a:solidFill>
                <a:latin typeface="Calibri"/>
              </a:rPr>
              <a:t>On a small medical dataset they are robust and interpretable, and they add three more independent voters that share deep features but use different decision logic.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A1A33"/>
                </a:solidFill>
                <a:latin typeface="Cambria"/>
              </a:rPr>
              <a:t>Anticipated Questions — Technical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24128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B6B82"/>
                </a:solidFill>
                <a:latin typeface="Calibri"/>
              </a:rPr>
              <a:t>The specifics a technical panellist will probe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72768"/>
            <a:ext cx="10698480" cy="765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82296" cy="619506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287000" cy="5646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FAE"/>
                </a:solidFill>
                <a:latin typeface="Calibri"/>
              </a:rPr>
              <a:t>Q  </a:t>
            </a:r>
            <a:r>
              <a:rPr sz="1350" b="1" i="0">
                <a:solidFill>
                  <a:srgbClr val="0A1A33"/>
                </a:solidFill>
                <a:latin typeface="Calibri"/>
              </a:rPr>
              <a:t>Why 256 features, and 128×128 vs 256×256 inputs?</a:t>
            </a:r>
          </a:p>
          <a:p>
            <a:pPr algn="l"/>
            <a:r>
              <a:rPr sz="1200" b="1" i="0">
                <a:solidFill>
                  <a:srgbClr val="0E7C72"/>
                </a:solidFill>
                <a:latin typeface="Calibri"/>
              </a:rPr>
              <a:t>A   </a:t>
            </a:r>
            <a:r>
              <a:rPr sz="1200" b="0" i="0">
                <a:solidFill>
                  <a:srgbClr val="16233B"/>
                </a:solidFill>
                <a:latin typeface="Calibri"/>
              </a:rPr>
              <a:t>256 is the dense-layer width — compact yet expressive; 128×128 keeps feature extraction fast across thousands of images, while 256×256 gives the standalone models maximum detail.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484882"/>
            <a:ext cx="10698480" cy="765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558034"/>
            <a:ext cx="82296" cy="619506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03754"/>
            <a:ext cx="10287000" cy="5646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FAE"/>
                </a:solidFill>
                <a:latin typeface="Calibri"/>
              </a:rPr>
              <a:t>Q  </a:t>
            </a:r>
            <a:r>
              <a:rPr sz="1350" b="1" i="0">
                <a:solidFill>
                  <a:srgbClr val="0A1A33"/>
                </a:solidFill>
                <a:latin typeface="Calibri"/>
              </a:rPr>
              <a:t>How do you avoid data leakage and overfitting?</a:t>
            </a:r>
          </a:p>
          <a:p>
            <a:pPr algn="l"/>
            <a:r>
              <a:rPr sz="1200" b="1" i="0">
                <a:solidFill>
                  <a:srgbClr val="0E7C72"/>
                </a:solidFill>
                <a:latin typeface="Calibri"/>
              </a:rPr>
              <a:t>A   </a:t>
            </a:r>
            <a:r>
              <a:rPr sz="1200" b="0" i="0">
                <a:solidFill>
                  <a:srgbClr val="16233B"/>
                </a:solidFill>
                <a:latin typeface="Calibri"/>
              </a:rPr>
              <a:t>The Testing folder is never touched during training, feature extraction or model selection; dropout, frozen pretrained layers and an ensemble all reduce overfitting.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96996"/>
            <a:ext cx="10698480" cy="765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470148"/>
            <a:ext cx="82296" cy="619506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5868"/>
            <a:ext cx="10287000" cy="5646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FAE"/>
                </a:solidFill>
                <a:latin typeface="Calibri"/>
              </a:rPr>
              <a:t>Q  </a:t>
            </a:r>
            <a:r>
              <a:rPr sz="1350" b="1" i="0">
                <a:solidFill>
                  <a:srgbClr val="0A1A33"/>
                </a:solidFill>
                <a:latin typeface="Calibri"/>
              </a:rPr>
              <a:t>Isn't confidence-weighted voting already published?</a:t>
            </a:r>
          </a:p>
          <a:p>
            <a:pPr algn="l"/>
            <a:r>
              <a:rPr sz="1200" b="1" i="0">
                <a:solidFill>
                  <a:srgbClr val="0E7C72"/>
                </a:solidFill>
                <a:latin typeface="Calibri"/>
              </a:rPr>
              <a:t>A   </a:t>
            </a:r>
            <a:r>
              <a:rPr sz="1200" b="0" i="0">
                <a:solidFill>
                  <a:srgbClr val="16233B"/>
                </a:solidFill>
                <a:latin typeface="Calibri"/>
              </a:rPr>
              <a:t>Yes — I cite it as a known method and treat it as my baseline. The novelty is EAA-IoU; the new system is the two combined.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309110"/>
            <a:ext cx="10698480" cy="765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4382262"/>
            <a:ext cx="82296" cy="619506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27982"/>
            <a:ext cx="10287000" cy="5646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FAE"/>
                </a:solidFill>
                <a:latin typeface="Calibri"/>
              </a:rPr>
              <a:t>Q  </a:t>
            </a:r>
            <a:r>
              <a:rPr sz="1350" b="1" i="0">
                <a:solidFill>
                  <a:srgbClr val="0A1A33"/>
                </a:solidFill>
                <a:latin typeface="Calibri"/>
              </a:rPr>
              <a:t>How is EAA-IoU different from existing explainable ensembles?</a:t>
            </a:r>
          </a:p>
          <a:p>
            <a:pPr algn="l"/>
            <a:r>
              <a:rPr sz="1200" b="1" i="0">
                <a:solidFill>
                  <a:srgbClr val="0E7C72"/>
                </a:solidFill>
                <a:latin typeface="Calibri"/>
              </a:rPr>
              <a:t>A   </a:t>
            </a:r>
            <a:r>
              <a:rPr sz="1200" b="0" i="0">
                <a:solidFill>
                  <a:srgbClr val="16233B"/>
                </a:solidFill>
                <a:latin typeface="Calibri"/>
              </a:rPr>
              <a:t>Existing work compares a heatmap to a radiologist's hand-drawn box (needs annotations); EAA-IoU measures whether the models agree with each other — no ground truth required.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28016" cy="566928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7899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A1A33"/>
                </a:solidFill>
                <a:latin typeface="Cambria"/>
              </a:rPr>
              <a:t>Anticipated Questions — Rigour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024128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B6B82"/>
                </a:solidFill>
                <a:latin typeface="Calibri"/>
              </a:rPr>
              <a:t>Validity, honesty and where the work goes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72768"/>
            <a:ext cx="10698480" cy="765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645920"/>
            <a:ext cx="82296" cy="619506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287000" cy="5646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FAE"/>
                </a:solidFill>
                <a:latin typeface="Calibri"/>
              </a:rPr>
              <a:t>Q  </a:t>
            </a:r>
            <a:r>
              <a:rPr sz="1350" b="1" i="0">
                <a:solidFill>
                  <a:srgbClr val="0A1A33"/>
                </a:solidFill>
                <a:latin typeface="Calibri"/>
              </a:rPr>
              <a:t>How do you know the models aren't all wrong together?</a:t>
            </a:r>
          </a:p>
          <a:p>
            <a:pPr algn="l"/>
            <a:r>
              <a:rPr sz="1200" b="1" i="0">
                <a:solidFill>
                  <a:srgbClr val="0E7C72"/>
                </a:solidFill>
                <a:latin typeface="Calibri"/>
              </a:rPr>
              <a:t>A   </a:t>
            </a:r>
            <a:r>
              <a:rPr sz="1200" b="0" i="0">
                <a:solidFill>
                  <a:srgbClr val="16233B"/>
                </a:solidFill>
                <a:latin typeface="Calibri"/>
              </a:rPr>
              <a:t>Diversity is designed in via three distinct architectures plus classical decision layers; EAA-IoU is a second check that flags cases where their reasoning diverges regardless of the class.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484882"/>
            <a:ext cx="10698480" cy="765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558034"/>
            <a:ext cx="82296" cy="619506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03754"/>
            <a:ext cx="10287000" cy="5646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FAE"/>
                </a:solidFill>
                <a:latin typeface="Calibri"/>
              </a:rPr>
              <a:t>Q  </a:t>
            </a:r>
            <a:r>
              <a:rPr sz="1350" b="1" i="0">
                <a:solidFill>
                  <a:srgbClr val="0A1A33"/>
                </a:solidFill>
                <a:latin typeface="Calibri"/>
              </a:rPr>
              <a:t>The notebooks have a normalisation inconsistency — explain.</a:t>
            </a:r>
          </a:p>
          <a:p>
            <a:pPr algn="l"/>
            <a:r>
              <a:rPr sz="1200" b="1" i="0">
                <a:solidFill>
                  <a:srgbClr val="0E7C72"/>
                </a:solidFill>
                <a:latin typeface="Calibri"/>
              </a:rPr>
              <a:t>A   </a:t>
            </a:r>
            <a:r>
              <a:rPr sz="1200" b="0" i="0">
                <a:solidFill>
                  <a:srgbClr val="16233B"/>
                </a:solidFill>
                <a:latin typeface="Calibri"/>
              </a:rPr>
              <a:t>Correct and documented: standalone models use /255, backbones used /255-0.5; the deployed app standardises everything to /255 so the live system is fully consistent.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96996"/>
            <a:ext cx="10698480" cy="765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3470148"/>
            <a:ext cx="82296" cy="619506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15868"/>
            <a:ext cx="10287000" cy="5646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FAE"/>
                </a:solidFill>
                <a:latin typeface="Calibri"/>
              </a:rPr>
              <a:t>Q  </a:t>
            </a:r>
            <a:r>
              <a:rPr sz="1350" b="1" i="0">
                <a:solidFill>
                  <a:srgbClr val="0A1A33"/>
                </a:solidFill>
                <a:latin typeface="Calibri"/>
              </a:rPr>
              <a:t>What is the single biggest limitation?</a:t>
            </a:r>
          </a:p>
          <a:p>
            <a:pPr algn="l"/>
            <a:r>
              <a:rPr sz="1200" b="1" i="0">
                <a:solidFill>
                  <a:srgbClr val="0E7C72"/>
                </a:solidFill>
                <a:latin typeface="Calibri"/>
              </a:rPr>
              <a:t>A   </a:t>
            </a:r>
            <a:r>
              <a:rPr sz="1200" b="0" i="0">
                <a:solidFill>
                  <a:srgbClr val="16233B"/>
                </a:solidFill>
                <a:latin typeface="Calibri"/>
              </a:rPr>
              <a:t>One dataset — so scanner and demographic diversity is limited; broader multi-centre data is the priority for external validity.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309110"/>
            <a:ext cx="10698480" cy="7658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4382262"/>
            <a:ext cx="82296" cy="619506"/>
          </a:xfrm>
          <a:prstGeom prst="rect">
            <a:avLst/>
          </a:prstGeom>
          <a:solidFill>
            <a:srgbClr val="1FBF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427982"/>
            <a:ext cx="10287000" cy="56464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BFAE"/>
                </a:solidFill>
                <a:latin typeface="Calibri"/>
              </a:rPr>
              <a:t>Q  </a:t>
            </a:r>
            <a:r>
              <a:rPr sz="1350" b="1" i="0">
                <a:solidFill>
                  <a:srgbClr val="0A1A33"/>
                </a:solidFill>
                <a:latin typeface="Calibri"/>
              </a:rPr>
              <a:t>What is the future work beyond this proposal?</a:t>
            </a:r>
          </a:p>
          <a:p>
            <a:pPr algn="l"/>
            <a:r>
              <a:rPr sz="1200" b="1" i="0">
                <a:solidFill>
                  <a:srgbClr val="0E7C72"/>
                </a:solidFill>
                <a:latin typeface="Calibri"/>
              </a:rPr>
              <a:t>A   </a:t>
            </a:r>
            <a:r>
              <a:rPr sz="1200" b="0" i="0">
                <a:solidFill>
                  <a:srgbClr val="16233B"/>
                </a:solidFill>
                <a:latin typeface="Calibri"/>
              </a:rPr>
              <a:t>Validate EAA-IoU as a prospective safety trigger, add stacking/boosting ensembles, data augmentation, and multi-centre datasets for clinical generalisation.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2326</Words>
  <Application>Microsoft Office PowerPoint</Application>
  <PresentationFormat>Widescreen</PresentationFormat>
  <Paragraphs>174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Analysis of Ensemble Learning, Fine-Tuned Models and CNNs for Brain Tumour MRI Classification</dc:title>
  <dc:subject>PptxGenJS Presentation</dc:subject>
  <dc:creator>Pattiyage Shehan Kavishka</dc:creator>
  <cp:lastModifiedBy>Shehan Kavishka</cp:lastModifiedBy>
  <cp:revision>2</cp:revision>
  <dcterms:created xsi:type="dcterms:W3CDTF">2026-07-05T07:54:02Z</dcterms:created>
  <dcterms:modified xsi:type="dcterms:W3CDTF">2026-07-05T08:19:24Z</dcterms:modified>
</cp:coreProperties>
</file>