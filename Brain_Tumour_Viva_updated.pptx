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68" r:id="rId19"/>
    <p:sldId id="274" r:id="rId25"/>
    <p:sldId id="258" r:id="rId4"/>
    <p:sldId id="259" r:id="rId5"/>
    <p:sldId id="260" r:id="rId6"/>
    <p:sldId id="261" r:id="rId7"/>
    <p:sldId id="262" r:id="rId8"/>
    <p:sldId id="263" r:id="rId9"/>
    <p:sldId id="264" r:id="rId10"/>
    <p:sldId id="265" r:id="rId11"/>
    <p:sldId id="266" r:id="rId12"/>
    <p:sldId id="269" r:id="rId20"/>
    <p:sldId id="275" r:id="rId26"/>
    <p:sldId id="267" r:id="rId13"/>
    <p:sldId id="270" r:id="rId21"/>
    <p:sldId id="271" r:id="rId22"/>
    <p:sldId id="272" r:id="rId23"/>
    <p:sldId id="273"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1265" autoAdjust="0"/>
  </p:normalViewPr>
  <p:slideViewPr>
    <p:cSldViewPr snapToGrid="0" snapToObjects="1">
      <p:cViewPr varScale="1">
        <p:scale>
          <a:sx n="60" d="100"/>
          <a:sy n="60" d="100"/>
        </p:scale>
        <p:origin x="88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Train</c:v>
                </c:pt>
              </c:strCache>
            </c:strRef>
          </c:tx>
          <c:spPr>
            <a:solidFill>
              <a:srgbClr val="0A1A33"/>
            </a:solidFill>
            <a:effectLst/>
          </c:spPr>
          <c:invertIfNegative val="0"/>
          <c:cat>
            <c:strRef>
              <c:f>Sheet1!$A$2:$A$5</c:f>
              <c:strCache>
                <c:ptCount val="4"/>
                <c:pt idx="0">
                  <c:v>Glioma</c:v>
                </c:pt>
                <c:pt idx="1">
                  <c:v>Meningioma</c:v>
                </c:pt>
                <c:pt idx="2">
                  <c:v>No Tumour</c:v>
                </c:pt>
                <c:pt idx="3">
                  <c:v>Pituitary</c:v>
                </c:pt>
              </c:strCache>
            </c:strRef>
          </c:cat>
          <c:val>
            <c:numRef>
              <c:f>Sheet1!$B$2:$B$5</c:f>
              <c:numCache>
                <c:formatCode>General</c:formatCode>
                <c:ptCount val="4"/>
                <c:pt idx="0">
                  <c:v>1733</c:v>
                </c:pt>
                <c:pt idx="1">
                  <c:v>1699</c:v>
                </c:pt>
                <c:pt idx="2">
                  <c:v>1847</c:v>
                </c:pt>
                <c:pt idx="3">
                  <c:v>1705</c:v>
                </c:pt>
              </c:numCache>
            </c:numRef>
          </c:val>
          <c:extLst>
            <c:ext xmlns:c16="http://schemas.microsoft.com/office/drawing/2014/chart" uri="{C3380CC4-5D6E-409C-BE32-E72D297353CC}">
              <c16:uniqueId val="{00000000-4911-44FF-8F80-CD2DFE5C009E}"/>
            </c:ext>
          </c:extLst>
        </c:ser>
        <c:ser>
          <c:idx val="1"/>
          <c:order val="1"/>
          <c:tx>
            <c:strRef>
              <c:f>Sheet1!$C$1</c:f>
              <c:strCache>
                <c:ptCount val="1"/>
                <c:pt idx="0">
                  <c:v>Test</c:v>
                </c:pt>
              </c:strCache>
            </c:strRef>
          </c:tx>
          <c:spPr>
            <a:solidFill>
              <a:srgbClr val="1FBFAE"/>
            </a:solidFill>
            <a:effectLst/>
          </c:spPr>
          <c:invertIfNegative val="0"/>
          <c:cat>
            <c:strRef>
              <c:f>Sheet1!$A$2:$A$5</c:f>
              <c:strCache>
                <c:ptCount val="4"/>
                <c:pt idx="0">
                  <c:v>Glioma</c:v>
                </c:pt>
                <c:pt idx="1">
                  <c:v>Meningioma</c:v>
                </c:pt>
                <c:pt idx="2">
                  <c:v>No Tumour</c:v>
                </c:pt>
                <c:pt idx="3">
                  <c:v>Pituitary</c:v>
                </c:pt>
              </c:strCache>
            </c:strRef>
          </c:cat>
          <c:val>
            <c:numRef>
              <c:f>Sheet1!$C$2:$C$5</c:f>
              <c:numCache>
                <c:formatCode>General</c:formatCode>
                <c:ptCount val="4"/>
                <c:pt idx="0">
                  <c:v>504</c:v>
                </c:pt>
                <c:pt idx="1">
                  <c:v>510</c:v>
                </c:pt>
                <c:pt idx="2">
                  <c:v>545</c:v>
                </c:pt>
                <c:pt idx="3">
                  <c:v>504</c:v>
                </c:pt>
              </c:numCache>
            </c:numRef>
          </c:val>
          <c:extLst>
            <c:ext xmlns:c16="http://schemas.microsoft.com/office/drawing/2014/chart" uri="{C3380CC4-5D6E-409C-BE32-E72D297353CC}">
              <c16:uniqueId val="{00000001-4911-44FF-8F80-CD2DFE5C009E}"/>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2"/>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82"/>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Accuracy %</c:v>
                </c:pt>
              </c:strCache>
            </c:strRef>
          </c:tx>
          <c:spPr>
            <a:solidFill>
              <a:srgbClr val="0E7C72"/>
            </a:solidFill>
            <a:effectLst/>
          </c:spPr>
          <c:invertIfNegative val="0"/>
          <c:dLbls>
            <c:numFmt formatCode="#,##0" sourceLinked="0"/>
            <c:spPr>
              <a:noFill/>
              <a:ln>
                <a:noFill/>
              </a:ln>
              <a:effectLst/>
            </c:spPr>
            <c:txPr>
              <a:bodyPr/>
              <a:lstStyle/>
              <a:p>
                <a:pPr>
                  <a:defRPr sz="1000" b="0" i="0" u="none" strike="noStrike">
                    <a:solidFill>
                      <a:srgbClr val="1623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InceptionV3</c:v>
                </c:pt>
                <c:pt idx="1">
                  <c:v>Xception</c:v>
                </c:pt>
                <c:pt idx="2">
                  <c:v>Custom CNN</c:v>
                </c:pt>
                <c:pt idx="3">
                  <c:v>Ensemble</c:v>
                </c:pt>
              </c:strCache>
            </c:strRef>
          </c:cat>
          <c:val>
            <c:numRef>
              <c:f>Sheet1!$B$2:$B$5</c:f>
              <c:numCache>
                <c:formatCode>General</c:formatCode>
                <c:ptCount val="4"/>
                <c:pt idx="0">
                  <c:v>84.6</c:v>
                </c:pt>
                <c:pt idx="1">
                  <c:v>86.9</c:v>
                </c:pt>
                <c:pt idx="2">
                  <c:v>94</c:v>
                </c:pt>
                <c:pt idx="3">
                  <c:v>98.2</c:v>
                </c:pt>
              </c:numCache>
            </c:numRef>
          </c:val>
          <c:extLst>
            <c:ext xmlns:c16="http://schemas.microsoft.com/office/drawing/2014/chart" uri="{C3380CC4-5D6E-409C-BE32-E72D297353CC}">
              <c16:uniqueId val="{00000000-251F-4E10-832F-9B0C0FC9718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2"/>
                </a:solidFill>
                <a:latin typeface="Arial"/>
              </a:defRPr>
            </a:pPr>
            <a:endParaRPr lang="en-US"/>
          </a:p>
        </c:txPr>
        <c:crossAx val="2094734552"/>
        <c:crosses val="autoZero"/>
        <c:auto val="1"/>
        <c:lblAlgn val="ctr"/>
        <c:lblOffset val="100"/>
        <c:noMultiLvlLbl val="1"/>
      </c:catAx>
      <c:valAx>
        <c:axId val="2094734552"/>
        <c:scaling>
          <c:orientation val="minMax"/>
          <c:max val="105"/>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82"/>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8731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confidently and slowly. Say: Good morning, I'm Shehan Kavishka, ID E187041. My research is a comparative framework for classifying brain tumours from MRI. I want to start not with the technology but with the clinical problem, because that motivates every design choice. This is my proposal defence - I've already built a working prototype, so the results I show are preliminary evidence the approach is feasible, not final claims. Hold ~20 seconds, make eye contact, then move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Tell the story: when a brain MRI arrives, a radiologist must decide glioma, meningioma, pituitary, or no tumour - and that one decision changes the whole treatment plan. It's slow, depends on one expert's eye, and mistakes are costly. Two problems follow: technically, most published work uses ONE model that inherits one architecture's blind spots; and in trust terms, even accurate models are black boxes that never signal when they're unsure. My aim in one line: build a system that is not just accurate, but honest about when it isn't sure. That honesty theme is my thread through the whole talk.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it tight, ~45 seconds. Kaggle Brain Tumour MRI dataset, ~9,000 scans across four classes, already split into official training and testing folders - I preserve that split throughout. Classes are balanced, ~1,700-1,850 each in training, so the model can't cheat by guessing the majority class. The line examiners want: the testing folder is never touched during training, feature extraction, or model selection - used exactly once, for the final numbers. That kills data-leakage concerns before they're raised.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fairness comes from identical preprocessing, so I'm comparing models, not preprocessing tricks. Walk the four steps: read the JPG in colour; resize to a fixed square; convert OpenCV's BGR to RGB because ImageNet models expect RGB; convert to float and normalise so pixel values are small and training stable. Then the deliberate two sizes: 256x256 for standalone deep models because one network does the whole job and needs maximum detail, and 128x128 for feature-extraction backbones because I only need a compact vector and smaller keeps thousands of images fast. If pushed on normalisation, admit the /255 vs /255-0.5 difference and note the app standardises to /255 - but don't volunteer it unless asked.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Frame as starting simple for a reference point. Four convolution-and-pooling blocks learn edges, then textures, then tumour-shaped patterns; dense layers make the four-class call. From scratch it reached ~91-94%. But two limitations drive the project: it's one architecture's opinion with its own blind spots, and it overfits after ~ten epochs. So a single model, however well tuned, isn't enough - my bridge to transfer learning and an ensemble.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Favourite question - slow down, give two reasons. First, transfer learning: both were pretrained on 1M+ ImageNet photos, so they already know edges, curves, textures and shapes - and a tumour is still those - so I freeze pretrained layers and train only a small new head on my ~7,000 MRIs. Second, diversity: I picked these two because they think differently. InceptionV3 looks at each region with several filter sizes in parallel, catching fine detail and larger structure at once; Xception uses depthwise-separable convolutions that separate where a pattern is from which channel it's in. Three distinct viewpoints - my CNN, Inception's multi-scale view, Xception's separable view - mean their mistakes differ, and differing mistakes are exactly what makes an ensemble stronger than any single model.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core mechanism - slow right down. A network normally ends in a softmax giving four probabilities, but one layer earlier sits my Dense-256 layer, where the whole MRI is compressed into 256 numbers describing what the network understood, before collapsing into a guess. Those 256 numbers are the gold. After training normally, I cut the model there: build a new model with the same weights whose output is that dense layer instead of the softmax - a 256-number fingerprint per image. Then feed those into classical models - Random Forest, Decision Tree, SVM. Analogy: the deep network is a specialist who writes a 256-line summary; the Random Forest is a second specialist who reads only that summary and makes the call. Deep network sees; classical model decides. If asked why not softmax: classical models are robust on small data, interpretable, and give three more independent voters.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six independent opinions per scan: three deep networks predicting directly, three classical models reading deep features. They vote - in the notebooks a straight majority vote, and six diverse models reached 98.2%, above my best single CNN at 94. Intuition: to be wrong, a MAJORITY of six architecturally different models with different blind spots must fail the same way on the same image - rare. Then the web-app upgrade: confidence-weighted voting, summing the six probability vectors so a 99%-sure model outweighs a 30%-sure one, giving a real confidence number for the clinician.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original contribution - give it the most time. Accuracy alone isn't the goal: a model can be 98% accurate and still dangerously confident on the 2% it gets wrong. So I use Grad-CAM to see which region each of the three deep models looked at, then ask: do they agree on WHERE the tumour is? I measure overlap with Intersection-over-Union for each pair, and average the three into one Ensemble Attention Agreement score - EAA-IoU. High agreement means consistent and confident; low agreement means they're looking at different regions, a red flag even if they output the same class, so the app raises a clinical escalation alert. Why it's new: existing work compares a heatmap to a radiologist's hand-drawn box, needing annotations my dataset doesn't have. Mine measures whether the models agree with EACH OTHER - no ground truth, works on any dataset. That's the self-supervised uncertainty signal.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Stress that a result stuck in a notebook helps no one, so I built a working web app with two screens. Live Diagnosis: upload an MRI and instantly see the predicted type, a confidence bar, Grad-CAM heatmaps from all three models plus a consensus map, a per-model vote breakdown so nothing is hidden, and the escalation alert when models disagree. Results Gallery: all accuracy charts, confusion matrices and EAA-IoU analysis in one place - the full evidence trail, transparent. Technically it's a React front-end on a Python backend, containerised for cloud deployment. Every screen carries a disclaimer: research tool, not a replacement for a radiologist. If possible, demo it live for 30 seconds.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Remind the panel these are PRELIMINARY results proving feasibility, not final claims. Numbers: best single model 94%, and voting across six diverse models pushed that to 98.2 on unseen test data. Say clearly accuracy is only half the story - the real contribution is the honesty layer, EAA-IoU, which turns the ensemble from a black box that's confidently wrong into a system that can raise its hand and say 'this one is ambiguous, get a human.' From my review, the combination - confidence-weighted ensemble plus an annotation-free inter-model agreement signal - isn't present in any published brain-tumour paper.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Land the close with conviction, no notes-reading. One model can be confidently wrong. My framework replaces that single opinion with six diverse ones, and then - crucially - checks whether they truly agree, not just on the answer but on the reasoning behind it. That is how you get accuracy AND safety in a clinical tool. Pause, then: thank you, I'm happy to take your questions. Then stop talking and let them ask.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Be explicit - proposal panels mark objectives heavily. My primary research question compares fine-tuned feature extractors against standard CNNs and asks what ensemble integration does to accuracy and reliability. On top I added a novel question: does inter-model Grad-CAM agreement (my EAA-IoU score) correlate with misclassification, and can it act as a per-sample clinical uncertainty trigger. These map to six objectives: evaluate CNN feature extraction; assess classical models on CNN features; investigate Xception and InceptionV3 as extractors; evaluate classifiers on pretrained features; measure the ensemble's accuracy gain; and build and validate EAA-IoU. Say the line: every later slide traces back to one of these six.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This slide justifies why the work is worth doing. I reviewed the closest recent ensemble-plus-explainability brain-tumour papers. They all do soft or majority voting, and most apply Grad-CAM or Grad-CAM++ per model - those two columns are well covered, and I'm honest they're not my novelty. But two columns are empty across the whole literature: fusing heatmaps into one consensus map, and measuring inter-model IoU as an agreement signal. Where IoU is used, it's only against radiologist annotations, not between the models themselves. My row is the only one ticking all five, and the only one in columns four and five. I'm not claiming a new field - I'm identifying one precise, unoccupied gap and filling it. Point at the highlighted bottom row.</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Show rigour and self-awareness - panels reward this more than a flawless story. How I measure: accuracy, precision, recall and F1 per class and weighted; confusion matrices; ROC and PR curves for EAA-IoU as a misclassification detector; all on the held-out 2,063-image test set. Own the known code issues as already fixed: normalisation standardised to /255 in the app; a legacy Random-Forest cell that instantiated a Decision Tree, corrected; label-encoding differences documented. Then the honest limitations: one dataset limits scanner and demographic diversity; the six-model ensemble is compute-heavy; Grad-CAM approximates attention; EAA-IoU is validated as a correlation, not yet a clinical trial. Framing line: owning these openly is deliberate.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Walk the 16-week plan across six phases. Three weeks of literature review, dataset prep and environment setup. The biggest block - four weeks - is individual model development, the CNN, classical models and fine-tuning the two pretrained networks, because everything builds on that. Three weeks design and optimise the ensemble; two weeks rigorous evaluation on the held-out set; two weeks build the web app; a final two weeks documentation and testing. Note phases overlap slightly - I prototype the web interface early - but the critical path is model development, then ensemble, then evaluation. Keep to about a minute.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Transition slide only - you normally won't present it. Say: I've prepared answers to the questions I expect, happy to go into any. These three appendix slides are your safety net; glance at them if a question matches, otherwise leave them hidden.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Backup - don't present unless asked. These four cover the 'why' questions: why an ensemble not one better model (diverse models fail differently; 94 to 98.2 is the proof); why these two backbones (transfer learning plus architectural diversity); what cutting the dense layer means (a second model outputting the 256-feature layer); and why classical ML at all (robust on small data, interpretable, three extra diverse voters). Answer in one or two sentences, then stop.</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Backup for a technical panellist: the 256-feature and input-size rationale; how leakage and overfitting are avoided; the honest admission that confidence-weighted voting is a known, cited method and NOT my novelty; and how EAA-IoU differs from annotation-based XAI. Keep spoken answers short and confident.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Backup on validity and scope: how I guard against all models being wrong together (designed-in diversity plus the EAA-IoU reasoning check); the normalisation inconsistency, owned and standardised in the app; the single biggest limitation (one dataset, so multi-centre data is the priority); and future work - validating EAA-IoU prospectively, adding stacking and boosting, augmentation, broader datasets. Ending on future work signals maturity.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A33"/>
        </a:solidFill>
        <a:effectLst/>
      </p:bgPr>
    </p:bg>
    <p:spTree>
      <p:nvGrpSpPr>
        <p:cNvPr id="1" name=""/>
        <p:cNvGrpSpPr/>
        <p:nvPr/>
      </p:nvGrpSpPr>
      <p:grpSpPr>
        <a:xfrm>
          <a:off x="0" y="0"/>
          <a:ext cx="0" cy="0"/>
          <a:chOff x="0" y="0"/>
          <a:chExt cx="0" cy="0"/>
        </a:xfrm>
      </p:grpSpPr>
      <p:sp>
        <p:nvSpPr>
          <p:cNvPr id="2" name="Shape 0"/>
          <p:cNvSpPr/>
          <p:nvPr/>
        </p:nvSpPr>
        <p:spPr>
          <a:xfrm>
            <a:off x="9509760" y="-2194560"/>
            <a:ext cx="5943600" cy="5943600"/>
          </a:xfrm>
          <a:prstGeom prst="ellipse">
            <a:avLst/>
          </a:prstGeom>
          <a:solidFill>
            <a:srgbClr val="13294B"/>
          </a:solidFill>
          <a:ln/>
        </p:spPr>
        <p:txBody>
          <a:bodyPr/>
          <a:lstStyle/>
          <a:p>
            <a:endParaRPr lang="en-US"/>
          </a:p>
        </p:txBody>
      </p:sp>
      <p:sp>
        <p:nvSpPr>
          <p:cNvPr id="3" name="Shape 1"/>
          <p:cNvSpPr/>
          <p:nvPr/>
        </p:nvSpPr>
        <p:spPr>
          <a:xfrm>
            <a:off x="-2560320" y="4389120"/>
            <a:ext cx="4754880" cy="4754880"/>
          </a:xfrm>
          <a:prstGeom prst="ellipse">
            <a:avLst/>
          </a:prstGeom>
          <a:solidFill>
            <a:srgbClr val="13294B"/>
          </a:solidFill>
          <a:ln/>
        </p:spPr>
        <p:txBody>
          <a:bodyPr/>
          <a:lstStyle/>
          <a:p>
            <a:endParaRPr lang="en-US"/>
          </a:p>
        </p:txBody>
      </p:sp>
      <p:sp>
        <p:nvSpPr>
          <p:cNvPr id="4" name="Shape 2"/>
          <p:cNvSpPr/>
          <p:nvPr/>
        </p:nvSpPr>
        <p:spPr>
          <a:xfrm>
            <a:off x="640080" y="594360"/>
            <a:ext cx="822960" cy="822960"/>
          </a:xfrm>
          <a:prstGeom prst="ellipse">
            <a:avLst/>
          </a:prstGeom>
          <a:solidFill>
            <a:srgbClr val="0E7C72"/>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854050" y="808330"/>
            <a:ext cx="395021" cy="395021"/>
          </a:xfrm>
          <a:prstGeom prst="rect">
            <a:avLst/>
          </a:prstGeom>
        </p:spPr>
      </p:pic>
      <p:sp>
        <p:nvSpPr>
          <p:cNvPr id="6" name="Text 3"/>
          <p:cNvSpPr/>
          <p:nvPr/>
        </p:nvSpPr>
        <p:spPr>
          <a:xfrm>
            <a:off x="1645920" y="658368"/>
            <a:ext cx="4572000" cy="457200"/>
          </a:xfrm>
          <a:prstGeom prst="rect">
            <a:avLst/>
          </a:prstGeom>
          <a:noFill/>
          <a:ln/>
        </p:spPr>
        <p:txBody>
          <a:bodyPr wrap="square" lIns="0" tIns="0" rIns="0" bIns="0" rtlCol="0" anchor="ctr"/>
          <a:lstStyle/>
          <a:p>
            <a:pPr marL="0" indent="0">
              <a:buNone/>
            </a:pPr>
            <a:r>
              <a:rPr lang="en-US" sz="1400" b="1" kern="0" spc="300" dirty="0">
                <a:solidFill>
                  <a:srgbClr val="1FBFAE"/>
                </a:solidFill>
                <a:latin typeface="Calibri" pitchFamily="34" charset="0"/>
                <a:ea typeface="Calibri" pitchFamily="34" charset="-122"/>
                <a:cs typeface="Calibri" pitchFamily="34" charset="-120"/>
              </a:rPr>
              <a:t>PROPOSAL VIVA</a:t>
            </a:r>
            <a:endParaRPr lang="en-US" sz="1400" dirty="0"/>
          </a:p>
        </p:txBody>
      </p:sp>
      <p:sp>
        <p:nvSpPr>
          <p:cNvPr id="7" name="Text 4"/>
          <p:cNvSpPr/>
          <p:nvPr/>
        </p:nvSpPr>
        <p:spPr>
          <a:xfrm>
            <a:off x="640080" y="1965960"/>
            <a:ext cx="9875520" cy="2286000"/>
          </a:xfrm>
          <a:prstGeom prst="rect">
            <a:avLst/>
          </a:prstGeom>
          <a:noFill/>
          <a:ln/>
        </p:spPr>
        <p:txBody>
          <a:bodyPr wrap="square" lIns="0" tIns="0" rIns="0" bIns="0" rtlCol="0" anchor="t"/>
          <a:lstStyle/>
          <a:p>
            <a:pPr marL="0" indent="0" algn="l">
              <a:lnSpc>
                <a:spcPct val="105000"/>
              </a:lnSpc>
              <a:buNone/>
            </a:pPr>
            <a:r>
              <a:rPr lang="en-US" sz="3400" b="1" dirty="0">
                <a:solidFill>
                  <a:srgbClr val="FFFFFF"/>
                </a:solidFill>
                <a:latin typeface="Cambria" pitchFamily="34" charset="0"/>
                <a:ea typeface="Cambria" pitchFamily="34" charset="-122"/>
                <a:cs typeface="Cambria" pitchFamily="34" charset="-120"/>
              </a:rPr>
              <a:t>A Comparative Analysis of Ensemble Learning, Fine-Tuned Models and CNNs for Multi-Class Disease Prediction in Medical Imaging</a:t>
            </a:r>
            <a:endParaRPr lang="en-US" sz="3400" dirty="0"/>
          </a:p>
        </p:txBody>
      </p:sp>
      <p:sp>
        <p:nvSpPr>
          <p:cNvPr id="8" name="Text 5"/>
          <p:cNvSpPr/>
          <p:nvPr/>
        </p:nvSpPr>
        <p:spPr>
          <a:xfrm>
            <a:off x="640080" y="4160520"/>
            <a:ext cx="9875520" cy="548640"/>
          </a:xfrm>
          <a:prstGeom prst="rect">
            <a:avLst/>
          </a:prstGeom>
          <a:noFill/>
          <a:ln/>
        </p:spPr>
        <p:txBody>
          <a:bodyPr wrap="square" lIns="0" tIns="0" rIns="0" bIns="0" rtlCol="0" anchor="ctr"/>
          <a:lstStyle/>
          <a:p>
            <a:pPr marL="0" indent="0">
              <a:buNone/>
            </a:pPr>
            <a:r>
              <a:rPr lang="en-US" sz="1700" i="1" dirty="0">
                <a:solidFill>
                  <a:srgbClr val="CFE3F2"/>
                </a:solidFill>
                <a:latin typeface="Calibri" pitchFamily="34" charset="0"/>
                <a:ea typeface="Calibri" pitchFamily="34" charset="-122"/>
                <a:cs typeface="Calibri" pitchFamily="34" charset="-120"/>
              </a:rPr>
              <a:t>An Integrated Framework with Systematic Optimization</a:t>
            </a:r>
            <a:endParaRPr lang="en-US" sz="1700" dirty="0"/>
          </a:p>
        </p:txBody>
      </p:sp>
      <p:sp>
        <p:nvSpPr>
          <p:cNvPr id="9" name="Shape 6"/>
          <p:cNvSpPr/>
          <p:nvPr/>
        </p:nvSpPr>
        <p:spPr>
          <a:xfrm>
            <a:off x="640080" y="5074920"/>
            <a:ext cx="2926080" cy="0"/>
          </a:xfrm>
          <a:prstGeom prst="line">
            <a:avLst/>
          </a:prstGeom>
          <a:noFill/>
          <a:ln w="19050">
            <a:solidFill>
              <a:srgbClr val="1FBFAE"/>
            </a:solidFill>
            <a:prstDash val="solid"/>
          </a:ln>
        </p:spPr>
        <p:txBody>
          <a:bodyPr/>
          <a:lstStyle/>
          <a:p>
            <a:endParaRPr lang="en-US"/>
          </a:p>
        </p:txBody>
      </p:sp>
      <p:sp>
        <p:nvSpPr>
          <p:cNvPr id="10" name="Text 7"/>
          <p:cNvSpPr/>
          <p:nvPr/>
        </p:nvSpPr>
        <p:spPr>
          <a:xfrm>
            <a:off x="640080" y="5303520"/>
            <a:ext cx="8229600" cy="8229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Pattiyage Shehan Kavishka</a:t>
            </a:r>
            <a:endParaRPr lang="en-US" sz="1400" dirty="0"/>
          </a:p>
          <a:p>
            <a:pPr marL="0" indent="0">
              <a:buNone/>
            </a:pPr>
            <a:r>
              <a:rPr lang="en-US" sz="1400" dirty="0">
                <a:solidFill>
                  <a:srgbClr val="CFE3F2"/>
                </a:solidFill>
                <a:latin typeface="Calibri" pitchFamily="34" charset="0"/>
                <a:ea typeface="Calibri" pitchFamily="34" charset="-122"/>
                <a:cs typeface="Calibri" pitchFamily="34" charset="-120"/>
              </a:rPr>
              <a:t>Student ID: E187041   |   Batch COL/LMU-T-BSC-DS/2425-FEB/3</a:t>
            </a:r>
            <a:endParaRPr lang="en-US" sz="1400" dirty="0"/>
          </a:p>
        </p:txBody>
      </p:sp>
      <p:sp>
        <p:nvSpPr>
          <p:cNvPr id="11" name="Rounded Rectangle 10"/>
          <p:cNvSpPr/>
          <p:nvPr/>
        </p:nvSpPr>
        <p:spPr>
          <a:xfrm>
            <a:off x="3529584" y="6053328"/>
            <a:ext cx="5120640" cy="457200"/>
          </a:xfrm>
          <a:prstGeom prst="round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9584" y="6053328"/>
            <a:ext cx="5120640" cy="457200"/>
          </a:xfrm>
          <a:prstGeom prst="rect">
            <a:avLst/>
          </a:prstGeom>
          <a:noFill/>
        </p:spPr>
        <p:txBody>
          <a:bodyPr wrap="square" anchor="ctr" lIns="27432" rIns="27432" tIns="27432" bIns="27432">
            <a:spAutoFit/>
          </a:bodyPr>
          <a:lstStyle/>
          <a:p>
            <a:pPr algn="ctr"/>
            <a:r>
              <a:rPr sz="1150" b="1" i="0">
                <a:solidFill>
                  <a:srgbClr val="FFFFFF"/>
                </a:solidFill>
                <a:latin typeface="Calibri"/>
              </a:rPr>
              <a:t>PROPOSAL DEFENCE  ·  preliminary results demonstrate feasibility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9FC"/>
        </a:solidFill>
        <a:effectLst/>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lIns="0" tIns="0" rIns="0" bIns="0" rtlCol="0" anchor="ctr"/>
          <a:lstStyle/>
          <a:p>
            <a:pPr marL="0" indent="0">
              <a:buNone/>
            </a:pPr>
            <a:r>
              <a:rPr lang="en-US" sz="3000" b="1" dirty="0">
                <a:solidFill>
                  <a:srgbClr val="16233B"/>
                </a:solidFill>
                <a:latin typeface="Cambria" pitchFamily="34" charset="0"/>
                <a:ea typeface="Cambria" pitchFamily="34" charset="-122"/>
                <a:cs typeface="Cambria" pitchFamily="34" charset="-120"/>
              </a:rPr>
              <a:t>The Real Question</a:t>
            </a:r>
            <a:endParaRPr lang="en-US" sz="3000" dirty="0"/>
          </a:p>
        </p:txBody>
      </p:sp>
      <p:sp>
        <p:nvSpPr>
          <p:cNvPr id="3" name="Text 1"/>
          <p:cNvSpPr/>
          <p:nvPr/>
        </p:nvSpPr>
        <p:spPr>
          <a:xfrm>
            <a:off x="640080" y="1005840"/>
            <a:ext cx="7315200" cy="365760"/>
          </a:xfrm>
          <a:prstGeom prst="rect">
            <a:avLst/>
          </a:prstGeom>
          <a:noFill/>
          <a:ln/>
        </p:spPr>
        <p:txBody>
          <a:bodyPr wrap="square" lIns="0" tIns="0" rIns="0" bIns="0" rtlCol="0" anchor="ctr"/>
          <a:lstStyle/>
          <a:p>
            <a:pPr marL="0" indent="0">
              <a:buNone/>
            </a:pPr>
            <a:r>
              <a:rPr lang="en-US" sz="1400" dirty="0">
                <a:solidFill>
                  <a:srgbClr val="5B6B82"/>
                </a:solidFill>
                <a:latin typeface="Calibri" pitchFamily="34" charset="0"/>
                <a:ea typeface="Calibri" pitchFamily="34" charset="-122"/>
                <a:cs typeface="Calibri" pitchFamily="34" charset="-120"/>
              </a:rPr>
              <a:t>Why this research matters before the technology</a:t>
            </a:r>
            <a:endParaRPr lang="en-US" sz="1400" dirty="0"/>
          </a:p>
        </p:txBody>
      </p:sp>
      <p:sp>
        <p:nvSpPr>
          <p:cNvPr id="4" name="Shape 2"/>
          <p:cNvSpPr/>
          <p:nvPr/>
        </p:nvSpPr>
        <p:spPr>
          <a:xfrm>
            <a:off x="640080" y="1691640"/>
            <a:ext cx="10881360" cy="2286000"/>
          </a:xfrm>
          <a:prstGeom prst="roundRect">
            <a:avLst>
              <a:gd name="adj" fmla="val 3200"/>
            </a:avLst>
          </a:prstGeom>
          <a:solidFill>
            <a:srgbClr val="0A1A33"/>
          </a:solidFill>
          <a:ln/>
          <a:effectLst>
            <a:outerShdw blurRad="101600" dist="38100" dir="5400000" algn="bl" rotWithShape="0">
              <a:srgbClr val="0A1A33">
                <a:alpha val="12000"/>
              </a:srgbClr>
            </a:outerShdw>
          </a:effectLst>
        </p:spPr>
        <p:txBody>
          <a:bodyPr/>
          <a:lstStyle/>
          <a:p>
            <a:endParaRPr lang="en-US"/>
          </a:p>
        </p:txBody>
      </p:sp>
      <p:sp>
        <p:nvSpPr>
          <p:cNvPr id="5" name="Text 3"/>
          <p:cNvSpPr/>
          <p:nvPr/>
        </p:nvSpPr>
        <p:spPr>
          <a:xfrm>
            <a:off x="1051560" y="1920240"/>
            <a:ext cx="10058400" cy="731520"/>
          </a:xfrm>
          <a:prstGeom prst="rect">
            <a:avLst/>
          </a:prstGeom>
          <a:noFill/>
          <a:ln/>
        </p:spPr>
        <p:txBody>
          <a:bodyPr wrap="square" lIns="0" tIns="0" rIns="0" bIns="0" rtlCol="0" anchor="ctr"/>
          <a:lstStyle/>
          <a:p>
            <a:pPr marL="0" indent="0">
              <a:buNone/>
            </a:pPr>
            <a:r>
              <a:rPr lang="en-US" sz="2200" b="1" i="1" dirty="0">
                <a:solidFill>
                  <a:srgbClr val="FFFFFF"/>
                </a:solidFill>
                <a:latin typeface="Cambria" pitchFamily="34" charset="0"/>
                <a:ea typeface="Cambria" pitchFamily="34" charset="-122"/>
                <a:cs typeface="Cambria" pitchFamily="34" charset="-120"/>
              </a:rPr>
              <a:t>“A single model looking at a brain MRI can be confidently wrong.”</a:t>
            </a:r>
            <a:endParaRPr lang="en-US" sz="2200" dirty="0"/>
          </a:p>
        </p:txBody>
      </p:sp>
      <p:sp>
        <p:nvSpPr>
          <p:cNvPr id="6" name="Text 4"/>
          <p:cNvSpPr/>
          <p:nvPr/>
        </p:nvSpPr>
        <p:spPr>
          <a:xfrm>
            <a:off x="1051560" y="2697480"/>
            <a:ext cx="10058400" cy="1097280"/>
          </a:xfrm>
          <a:prstGeom prst="rect">
            <a:avLst/>
          </a:prstGeom>
          <a:noFill/>
          <a:ln/>
        </p:spPr>
        <p:txBody>
          <a:bodyPr wrap="square" lIns="0" tIns="0" rIns="0" bIns="0" rtlCol="0" anchor="ctr"/>
          <a:lstStyle/>
          <a:p>
            <a:pPr marL="0" indent="0">
              <a:lnSpc>
                <a:spcPct val="120000"/>
              </a:lnSpc>
              <a:buNone/>
            </a:pPr>
            <a:r>
              <a:rPr lang="en-US" sz="1450" dirty="0">
                <a:solidFill>
                  <a:srgbClr val="CFE3F2"/>
                </a:solidFill>
                <a:latin typeface="Calibri" pitchFamily="34" charset="0"/>
                <a:ea typeface="Calibri" pitchFamily="34" charset="-122"/>
                <a:cs typeface="Calibri" pitchFamily="34" charset="-120"/>
              </a:rPr>
              <a:t>A radiologist must decide between glioma, meningioma, pituitary tumour, or no tumour at all - a decision that changes the entire treatment plan. It is slow, it rests on one person's eye, and mistakes are costly.</a:t>
            </a:r>
            <a:endParaRPr lang="en-US" sz="1450" dirty="0"/>
          </a:p>
        </p:txBody>
      </p:sp>
      <p:sp>
        <p:nvSpPr>
          <p:cNvPr id="7" name="Shape 5"/>
          <p:cNvSpPr/>
          <p:nvPr/>
        </p:nvSpPr>
        <p:spPr>
          <a:xfrm>
            <a:off x="640080" y="4297680"/>
            <a:ext cx="2514600" cy="777240"/>
          </a:xfrm>
          <a:prstGeom prst="roundRect">
            <a:avLst>
              <a:gd name="adj" fmla="val 9412"/>
            </a:avLst>
          </a:prstGeom>
          <a:solidFill>
            <a:srgbClr val="FFFFFF"/>
          </a:solidFill>
          <a:ln/>
          <a:effectLst>
            <a:outerShdw blurRad="101600" dist="38100" dir="5400000" algn="bl" rotWithShape="0">
              <a:srgbClr val="0A1A33">
                <a:alpha val="12000"/>
              </a:srgbClr>
            </a:outerShdw>
          </a:effectLst>
        </p:spPr>
        <p:txBody>
          <a:bodyPr/>
          <a:lstStyle/>
          <a:p>
            <a:endParaRPr lang="en-US"/>
          </a:p>
        </p:txBody>
      </p:sp>
      <p:pic>
        <p:nvPicPr>
          <p:cNvPr id="8" name="Image 0" descr="preencoded.png"/>
          <p:cNvPicPr>
            <a:picLocks noChangeAspect="1"/>
          </p:cNvPicPr>
          <p:nvPr/>
        </p:nvPicPr>
        <p:blipFill>
          <a:blip r:embed="rId3"/>
          <a:stretch>
            <a:fillRect/>
          </a:stretch>
        </p:blipFill>
        <p:spPr>
          <a:xfrm>
            <a:off x="804672" y="4480560"/>
            <a:ext cx="411480" cy="411480"/>
          </a:xfrm>
          <a:prstGeom prst="rect">
            <a:avLst/>
          </a:prstGeom>
        </p:spPr>
      </p:pic>
      <p:sp>
        <p:nvSpPr>
          <p:cNvPr id="9" name="Text 6"/>
          <p:cNvSpPr/>
          <p:nvPr/>
        </p:nvSpPr>
        <p:spPr>
          <a:xfrm>
            <a:off x="1280160" y="4297680"/>
            <a:ext cx="1783080" cy="777240"/>
          </a:xfrm>
          <a:prstGeom prst="rect">
            <a:avLst/>
          </a:prstGeom>
          <a:noFill/>
          <a:ln/>
        </p:spPr>
        <p:txBody>
          <a:bodyPr wrap="square" lIns="0" tIns="0" rIns="0" bIns="0" rtlCol="0" anchor="ctr"/>
          <a:lstStyle/>
          <a:p>
            <a:pPr marL="0" indent="0">
              <a:buNone/>
            </a:pPr>
            <a:r>
              <a:rPr lang="en-US" sz="1400" b="1" dirty="0">
                <a:solidFill>
                  <a:srgbClr val="16233B"/>
                </a:solidFill>
                <a:latin typeface="Calibri" pitchFamily="34" charset="0"/>
                <a:ea typeface="Calibri" pitchFamily="34" charset="-122"/>
                <a:cs typeface="Calibri" pitchFamily="34" charset="-120"/>
              </a:rPr>
              <a:t>Glioma</a:t>
            </a:r>
            <a:endParaRPr lang="en-US" sz="1400" dirty="0"/>
          </a:p>
        </p:txBody>
      </p:sp>
      <p:sp>
        <p:nvSpPr>
          <p:cNvPr id="10" name="Shape 7"/>
          <p:cNvSpPr/>
          <p:nvPr/>
        </p:nvSpPr>
        <p:spPr>
          <a:xfrm>
            <a:off x="3383280" y="4297680"/>
            <a:ext cx="2514600" cy="777240"/>
          </a:xfrm>
          <a:prstGeom prst="roundRect">
            <a:avLst>
              <a:gd name="adj" fmla="val 9412"/>
            </a:avLst>
          </a:prstGeom>
          <a:solidFill>
            <a:srgbClr val="FFFFFF"/>
          </a:solidFill>
          <a:ln/>
          <a:effectLst>
            <a:outerShdw blurRad="101600" dist="38100" dir="5400000" algn="bl" rotWithShape="0">
              <a:srgbClr val="0A1A33">
                <a:alpha val="12000"/>
              </a:srgbClr>
            </a:outerShdw>
          </a:effectLst>
        </p:spPr>
        <p:txBody>
          <a:bodyPr/>
          <a:lstStyle/>
          <a:p>
            <a:endParaRPr lang="en-US"/>
          </a:p>
        </p:txBody>
      </p:sp>
      <p:pic>
        <p:nvPicPr>
          <p:cNvPr id="11" name="Image 1" descr="preencoded.png"/>
          <p:cNvPicPr>
            <a:picLocks noChangeAspect="1"/>
          </p:cNvPicPr>
          <p:nvPr/>
        </p:nvPicPr>
        <p:blipFill>
          <a:blip r:embed="rId3"/>
          <a:stretch>
            <a:fillRect/>
          </a:stretch>
        </p:blipFill>
        <p:spPr>
          <a:xfrm>
            <a:off x="3547872" y="4480560"/>
            <a:ext cx="411480" cy="411480"/>
          </a:xfrm>
          <a:prstGeom prst="rect">
            <a:avLst/>
          </a:prstGeom>
        </p:spPr>
      </p:pic>
      <p:sp>
        <p:nvSpPr>
          <p:cNvPr id="12" name="Text 8"/>
          <p:cNvSpPr/>
          <p:nvPr/>
        </p:nvSpPr>
        <p:spPr>
          <a:xfrm>
            <a:off x="4023360" y="4297680"/>
            <a:ext cx="1783080" cy="777240"/>
          </a:xfrm>
          <a:prstGeom prst="rect">
            <a:avLst/>
          </a:prstGeom>
          <a:noFill/>
          <a:ln/>
        </p:spPr>
        <p:txBody>
          <a:bodyPr wrap="square" lIns="0" tIns="0" rIns="0" bIns="0" rtlCol="0" anchor="ctr"/>
          <a:lstStyle/>
          <a:p>
            <a:pPr marL="0" indent="0">
              <a:buNone/>
            </a:pPr>
            <a:r>
              <a:rPr lang="en-US" sz="1400" b="1" dirty="0">
                <a:solidFill>
                  <a:srgbClr val="16233B"/>
                </a:solidFill>
                <a:latin typeface="Calibri" pitchFamily="34" charset="0"/>
                <a:ea typeface="Calibri" pitchFamily="34" charset="-122"/>
                <a:cs typeface="Calibri" pitchFamily="34" charset="-120"/>
              </a:rPr>
              <a:t>Meningioma</a:t>
            </a:r>
            <a:endParaRPr lang="en-US" sz="1400" dirty="0"/>
          </a:p>
        </p:txBody>
      </p:sp>
      <p:sp>
        <p:nvSpPr>
          <p:cNvPr id="13" name="Shape 9"/>
          <p:cNvSpPr/>
          <p:nvPr/>
        </p:nvSpPr>
        <p:spPr>
          <a:xfrm>
            <a:off x="6126480" y="4297680"/>
            <a:ext cx="2514600" cy="777240"/>
          </a:xfrm>
          <a:prstGeom prst="roundRect">
            <a:avLst>
              <a:gd name="adj" fmla="val 9412"/>
            </a:avLst>
          </a:prstGeom>
          <a:solidFill>
            <a:srgbClr val="FFFFFF"/>
          </a:solidFill>
          <a:ln/>
          <a:effectLst>
            <a:outerShdw blurRad="101600" dist="38100" dir="5400000" algn="bl" rotWithShape="0">
              <a:srgbClr val="0A1A33">
                <a:alpha val="12000"/>
              </a:srgbClr>
            </a:outerShdw>
          </a:effectLst>
        </p:spPr>
        <p:txBody>
          <a:bodyPr/>
          <a:lstStyle/>
          <a:p>
            <a:endParaRPr lang="en-US"/>
          </a:p>
        </p:txBody>
      </p:sp>
      <p:pic>
        <p:nvPicPr>
          <p:cNvPr id="14" name="Image 2" descr="preencoded.png"/>
          <p:cNvPicPr>
            <a:picLocks noChangeAspect="1"/>
          </p:cNvPicPr>
          <p:nvPr/>
        </p:nvPicPr>
        <p:blipFill>
          <a:blip r:embed="rId3"/>
          <a:stretch>
            <a:fillRect/>
          </a:stretch>
        </p:blipFill>
        <p:spPr>
          <a:xfrm>
            <a:off x="6291072" y="4480560"/>
            <a:ext cx="411480" cy="411480"/>
          </a:xfrm>
          <a:prstGeom prst="rect">
            <a:avLst/>
          </a:prstGeom>
        </p:spPr>
      </p:pic>
      <p:sp>
        <p:nvSpPr>
          <p:cNvPr id="15" name="Text 10"/>
          <p:cNvSpPr/>
          <p:nvPr/>
        </p:nvSpPr>
        <p:spPr>
          <a:xfrm>
            <a:off x="6766560" y="4297680"/>
            <a:ext cx="1783080" cy="777240"/>
          </a:xfrm>
          <a:prstGeom prst="rect">
            <a:avLst/>
          </a:prstGeom>
          <a:noFill/>
          <a:ln/>
        </p:spPr>
        <p:txBody>
          <a:bodyPr wrap="square" lIns="0" tIns="0" rIns="0" bIns="0" rtlCol="0" anchor="ctr"/>
          <a:lstStyle/>
          <a:p>
            <a:pPr marL="0" indent="0">
              <a:buNone/>
            </a:pPr>
            <a:r>
              <a:rPr lang="en-US" sz="1400" b="1" dirty="0">
                <a:solidFill>
                  <a:srgbClr val="16233B"/>
                </a:solidFill>
                <a:latin typeface="Calibri" pitchFamily="34" charset="0"/>
                <a:ea typeface="Calibri" pitchFamily="34" charset="-122"/>
                <a:cs typeface="Calibri" pitchFamily="34" charset="-120"/>
              </a:rPr>
              <a:t>Pituitary</a:t>
            </a:r>
            <a:endParaRPr lang="en-US" sz="1400" dirty="0"/>
          </a:p>
        </p:txBody>
      </p:sp>
      <p:sp>
        <p:nvSpPr>
          <p:cNvPr id="16" name="Shape 11"/>
          <p:cNvSpPr/>
          <p:nvPr/>
        </p:nvSpPr>
        <p:spPr>
          <a:xfrm>
            <a:off x="8869680" y="4297680"/>
            <a:ext cx="2514600" cy="777240"/>
          </a:xfrm>
          <a:prstGeom prst="roundRect">
            <a:avLst>
              <a:gd name="adj" fmla="val 9412"/>
            </a:avLst>
          </a:prstGeom>
          <a:solidFill>
            <a:srgbClr val="FFFFFF"/>
          </a:solidFill>
          <a:ln/>
          <a:effectLst>
            <a:outerShdw blurRad="101600" dist="38100" dir="5400000" algn="bl" rotWithShape="0">
              <a:srgbClr val="0A1A33">
                <a:alpha val="12000"/>
              </a:srgbClr>
            </a:outerShdw>
          </a:effectLst>
        </p:spPr>
        <p:txBody>
          <a:bodyPr/>
          <a:lstStyle/>
          <a:p>
            <a:endParaRPr lang="en-US"/>
          </a:p>
        </p:txBody>
      </p:sp>
      <p:pic>
        <p:nvPicPr>
          <p:cNvPr id="17" name="Image 3" descr="preencoded.png"/>
          <p:cNvPicPr>
            <a:picLocks noChangeAspect="1"/>
          </p:cNvPicPr>
          <p:nvPr/>
        </p:nvPicPr>
        <p:blipFill>
          <a:blip r:embed="rId3"/>
          <a:stretch>
            <a:fillRect/>
          </a:stretch>
        </p:blipFill>
        <p:spPr>
          <a:xfrm>
            <a:off x="9034272" y="4480560"/>
            <a:ext cx="411480" cy="411480"/>
          </a:xfrm>
          <a:prstGeom prst="rect">
            <a:avLst/>
          </a:prstGeom>
        </p:spPr>
      </p:pic>
      <p:sp>
        <p:nvSpPr>
          <p:cNvPr id="18" name="Text 12"/>
          <p:cNvSpPr/>
          <p:nvPr/>
        </p:nvSpPr>
        <p:spPr>
          <a:xfrm>
            <a:off x="9509760" y="4297680"/>
            <a:ext cx="1783080" cy="777240"/>
          </a:xfrm>
          <a:prstGeom prst="rect">
            <a:avLst/>
          </a:prstGeom>
          <a:noFill/>
          <a:ln/>
        </p:spPr>
        <p:txBody>
          <a:bodyPr wrap="square" lIns="0" tIns="0" rIns="0" bIns="0" rtlCol="0" anchor="ctr"/>
          <a:lstStyle/>
          <a:p>
            <a:pPr marL="0" indent="0">
              <a:buNone/>
            </a:pPr>
            <a:r>
              <a:rPr lang="en-US" sz="1400" b="1" dirty="0">
                <a:solidFill>
                  <a:srgbClr val="16233B"/>
                </a:solidFill>
                <a:latin typeface="Calibri" pitchFamily="34" charset="0"/>
                <a:ea typeface="Calibri" pitchFamily="34" charset="-122"/>
                <a:cs typeface="Calibri" pitchFamily="34" charset="-120"/>
              </a:rPr>
              <a:t>No Tumour</a:t>
            </a:r>
            <a:endParaRPr lang="en-US" sz="1400" dirty="0"/>
          </a:p>
        </p:txBody>
      </p:sp>
      <p:sp>
        <p:nvSpPr>
          <p:cNvPr id="19" name="Text 13"/>
          <p:cNvSpPr/>
          <p:nvPr/>
        </p:nvSpPr>
        <p:spPr>
          <a:xfrm>
            <a:off x="640080" y="5440680"/>
            <a:ext cx="10881360" cy="548640"/>
          </a:xfrm>
          <a:prstGeom prst="rect">
            <a:avLst/>
          </a:prstGeom>
          <a:noFill/>
          <a:ln/>
        </p:spPr>
        <p:txBody>
          <a:bodyPr wrap="square" lIns="0" tIns="0" rIns="0" bIns="0" rtlCol="0" anchor="ctr"/>
          <a:lstStyle/>
          <a:p>
            <a:pPr marL="0" indent="0">
              <a:buNone/>
            </a:pPr>
            <a:r>
              <a:rPr lang="en-US" sz="1500" b="1" i="1" dirty="0">
                <a:solidFill>
                  <a:srgbClr val="0E7C72"/>
                </a:solidFill>
                <a:latin typeface="Calibri" pitchFamily="34" charset="0"/>
                <a:ea typeface="Calibri" pitchFamily="34" charset="-122"/>
                <a:cs typeface="Calibri" pitchFamily="34" charset="-120"/>
              </a:rPr>
              <a:t>Aim: build an AI system that is not just accurate, but honest about when it isn't sure.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9FC"/>
        </a:solidFill>
        <a:effectLst/>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lIns="0" tIns="0" rIns="0" bIns="0" rtlCol="0" anchor="ctr"/>
          <a:lstStyle/>
          <a:p>
            <a:pPr marL="0" indent="0">
              <a:buNone/>
            </a:pPr>
            <a:r>
              <a:rPr lang="en-US" sz="3000" b="1" dirty="0">
                <a:solidFill>
                  <a:srgbClr val="16233B"/>
                </a:solidFill>
                <a:latin typeface="Cambria" pitchFamily="34" charset="0"/>
                <a:ea typeface="Cambria" pitchFamily="34" charset="-122"/>
                <a:cs typeface="Cambria" pitchFamily="34" charset="-120"/>
              </a:rPr>
              <a:t>The Dataset</a:t>
            </a:r>
            <a:endParaRPr lang="en-US" sz="3000" dirty="0"/>
          </a:p>
        </p:txBody>
      </p:sp>
      <p:sp>
        <p:nvSpPr>
          <p:cNvPr id="3" name="Text 1"/>
          <p:cNvSpPr/>
          <p:nvPr/>
        </p:nvSpPr>
        <p:spPr>
          <a:xfrm>
            <a:off x="640080" y="1005840"/>
            <a:ext cx="10058400" cy="365760"/>
          </a:xfrm>
          <a:prstGeom prst="rect">
            <a:avLst/>
          </a:prstGeom>
          <a:noFill/>
          <a:ln/>
        </p:spPr>
        <p:txBody>
          <a:bodyPr wrap="square" lIns="0" tIns="0" rIns="0" bIns="0" rtlCol="0" anchor="ctr"/>
          <a:lstStyle/>
          <a:p>
            <a:pPr marL="0" indent="0">
              <a:buNone/>
            </a:pPr>
            <a:r>
              <a:rPr lang="en-US" sz="1400" dirty="0">
                <a:solidFill>
                  <a:srgbClr val="5B6B82"/>
                </a:solidFill>
                <a:latin typeface="Calibri" pitchFamily="34" charset="0"/>
                <a:ea typeface="Calibri" pitchFamily="34" charset="-122"/>
                <a:cs typeface="Calibri" pitchFamily="34" charset="-120"/>
              </a:rPr>
              <a:t>Kaggle Brain Tumour MRI Dataset - official train/test split preserved throughout</a:t>
            </a:r>
            <a:endParaRPr lang="en-US" sz="1400" dirty="0"/>
          </a:p>
        </p:txBody>
      </p:sp>
      <p:sp>
        <p:nvSpPr>
          <p:cNvPr id="4" name="Shape 2"/>
          <p:cNvSpPr/>
          <p:nvPr/>
        </p:nvSpPr>
        <p:spPr>
          <a:xfrm>
            <a:off x="640080" y="1600200"/>
            <a:ext cx="3566160" cy="4480560"/>
          </a:xfrm>
          <a:prstGeom prst="roundRect">
            <a:avLst>
              <a:gd name="adj" fmla="val 2051"/>
            </a:avLst>
          </a:prstGeom>
          <a:solidFill>
            <a:srgbClr val="0A1A33"/>
          </a:solidFill>
          <a:ln/>
          <a:effectLst>
            <a:outerShdw blurRad="101600" dist="38100" dir="5400000" algn="bl" rotWithShape="0">
              <a:srgbClr val="0A1A33">
                <a:alpha val="12000"/>
              </a:srgbClr>
            </a:outerShdw>
          </a:effectLst>
        </p:spPr>
        <p:txBody>
          <a:bodyPr/>
          <a:lstStyle/>
          <a:p>
            <a:endParaRPr lang="en-US"/>
          </a:p>
        </p:txBody>
      </p:sp>
      <p:sp>
        <p:nvSpPr>
          <p:cNvPr id="5" name="Shape 3"/>
          <p:cNvSpPr/>
          <p:nvPr/>
        </p:nvSpPr>
        <p:spPr>
          <a:xfrm>
            <a:off x="960120" y="1874520"/>
            <a:ext cx="640080" cy="640080"/>
          </a:xfrm>
          <a:prstGeom prst="ellipse">
            <a:avLst/>
          </a:prstGeom>
          <a:solidFill>
            <a:srgbClr val="0E7C72"/>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126541" y="2040941"/>
            <a:ext cx="307238" cy="307238"/>
          </a:xfrm>
          <a:prstGeom prst="rect">
            <a:avLst/>
          </a:prstGeom>
        </p:spPr>
      </p:pic>
      <p:sp>
        <p:nvSpPr>
          <p:cNvPr id="7" name="Text 4"/>
          <p:cNvSpPr/>
          <p:nvPr/>
        </p:nvSpPr>
        <p:spPr>
          <a:xfrm>
            <a:off x="640080" y="2697480"/>
            <a:ext cx="3566160" cy="91440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9,047</a:t>
            </a:r>
            <a:endParaRPr lang="en-US" sz="4600" dirty="0"/>
          </a:p>
        </p:txBody>
      </p:sp>
      <p:sp>
        <p:nvSpPr>
          <p:cNvPr id="8" name="Text 5"/>
          <p:cNvSpPr/>
          <p:nvPr/>
        </p:nvSpPr>
        <p:spPr>
          <a:xfrm>
            <a:off x="640080" y="3520440"/>
            <a:ext cx="3566160" cy="365760"/>
          </a:xfrm>
          <a:prstGeom prst="rect">
            <a:avLst/>
          </a:prstGeom>
          <a:noFill/>
          <a:ln/>
        </p:spPr>
        <p:txBody>
          <a:bodyPr wrap="square" lIns="0" tIns="0" rIns="0" bIns="0" rtlCol="0" anchor="ctr"/>
          <a:lstStyle/>
          <a:p>
            <a:pPr marL="0" indent="0" algn="ctr">
              <a:buNone/>
            </a:pPr>
            <a:r>
              <a:rPr lang="en-US" sz="1300" dirty="0">
                <a:solidFill>
                  <a:srgbClr val="CFE3F2"/>
                </a:solidFill>
                <a:latin typeface="Calibri" pitchFamily="34" charset="0"/>
                <a:ea typeface="Calibri" pitchFamily="34" charset="-122"/>
                <a:cs typeface="Calibri" pitchFamily="34" charset="-120"/>
              </a:rPr>
              <a:t>Total MRI scans</a:t>
            </a:r>
            <a:endParaRPr lang="en-US" sz="1300" dirty="0"/>
          </a:p>
        </p:txBody>
      </p:sp>
      <p:sp>
        <p:nvSpPr>
          <p:cNvPr id="9" name="Shape 6"/>
          <p:cNvSpPr/>
          <p:nvPr/>
        </p:nvSpPr>
        <p:spPr>
          <a:xfrm>
            <a:off x="1005840" y="4069080"/>
            <a:ext cx="2834640" cy="0"/>
          </a:xfrm>
          <a:prstGeom prst="line">
            <a:avLst/>
          </a:prstGeom>
          <a:noFill/>
          <a:ln w="12700">
            <a:solidFill>
              <a:srgbClr val="0E7C72"/>
            </a:solidFill>
            <a:prstDash val="solid"/>
          </a:ln>
        </p:spPr>
        <p:txBody>
          <a:bodyPr/>
          <a:lstStyle/>
          <a:p>
            <a:endParaRPr lang="en-US"/>
          </a:p>
        </p:txBody>
      </p:sp>
      <p:sp>
        <p:nvSpPr>
          <p:cNvPr id="10" name="Text 7"/>
          <p:cNvSpPr/>
          <p:nvPr/>
        </p:nvSpPr>
        <p:spPr>
          <a:xfrm>
            <a:off x="1005840" y="4251960"/>
            <a:ext cx="2834640" cy="640080"/>
          </a:xfrm>
          <a:prstGeom prst="rect">
            <a:avLst/>
          </a:prstGeom>
          <a:noFill/>
          <a:ln/>
        </p:spPr>
        <p:txBody>
          <a:bodyPr wrap="square" lIns="0" tIns="0" rIns="0" bIns="0" rtlCol="0" anchor="ctr"/>
          <a:lstStyle/>
          <a:p>
            <a:pPr marL="0" indent="0">
              <a:buNone/>
            </a:pPr>
            <a:r>
              <a:rPr lang="en-US" sz="2000" b="1" dirty="0">
                <a:solidFill>
                  <a:srgbClr val="1FBFAE"/>
                </a:solidFill>
                <a:latin typeface="Calibri" pitchFamily="34" charset="0"/>
                <a:ea typeface="Calibri" pitchFamily="34" charset="-122"/>
                <a:cs typeface="Calibri" pitchFamily="34" charset="-120"/>
              </a:rPr>
              <a:t>6,984  </a:t>
            </a:r>
            <a:r>
              <a:rPr lang="en-US" sz="1300" dirty="0">
                <a:solidFill>
                  <a:srgbClr val="CFE3F2"/>
                </a:solidFill>
                <a:latin typeface="Calibri" pitchFamily="34" charset="0"/>
                <a:ea typeface="Calibri" pitchFamily="34" charset="-122"/>
                <a:cs typeface="Calibri" pitchFamily="34" charset="-120"/>
              </a:rPr>
              <a:t>training images
</a:t>
            </a:r>
            <a:endParaRPr lang="en-US" sz="2000" dirty="0"/>
          </a:p>
        </p:txBody>
      </p:sp>
      <p:sp>
        <p:nvSpPr>
          <p:cNvPr id="11" name="Text 8"/>
          <p:cNvSpPr/>
          <p:nvPr/>
        </p:nvSpPr>
        <p:spPr>
          <a:xfrm>
            <a:off x="1005840" y="4892040"/>
            <a:ext cx="2834640" cy="548640"/>
          </a:xfrm>
          <a:prstGeom prst="rect">
            <a:avLst/>
          </a:prstGeom>
          <a:noFill/>
          <a:ln/>
        </p:spPr>
        <p:txBody>
          <a:bodyPr wrap="square" lIns="0" tIns="0" rIns="0" bIns="0" rtlCol="0" anchor="ctr"/>
          <a:lstStyle/>
          <a:p>
            <a:pPr marL="0" indent="0">
              <a:buNone/>
            </a:pPr>
            <a:r>
              <a:rPr lang="en-US" sz="2000" b="1" dirty="0">
                <a:solidFill>
                  <a:srgbClr val="1FBFAE"/>
                </a:solidFill>
                <a:latin typeface="Calibri" pitchFamily="34" charset="0"/>
                <a:ea typeface="Calibri" pitchFamily="34" charset="-122"/>
                <a:cs typeface="Calibri" pitchFamily="34" charset="-120"/>
              </a:rPr>
              <a:t>2,063  </a:t>
            </a:r>
            <a:r>
              <a:rPr lang="en-US" sz="1300" dirty="0">
                <a:solidFill>
                  <a:srgbClr val="CFE3F2"/>
                </a:solidFill>
                <a:latin typeface="Calibri" pitchFamily="34" charset="0"/>
                <a:ea typeface="Calibri" pitchFamily="34" charset="-122"/>
                <a:cs typeface="Calibri" pitchFamily="34" charset="-120"/>
              </a:rPr>
              <a:t>testing images</a:t>
            </a:r>
            <a:endParaRPr lang="en-US" sz="2000" dirty="0"/>
          </a:p>
        </p:txBody>
      </p:sp>
      <p:sp>
        <p:nvSpPr>
          <p:cNvPr id="12" name="Text 9"/>
          <p:cNvSpPr/>
          <p:nvPr/>
        </p:nvSpPr>
        <p:spPr>
          <a:xfrm>
            <a:off x="1005840" y="5532120"/>
            <a:ext cx="2834640" cy="502920"/>
          </a:xfrm>
          <a:prstGeom prst="rect">
            <a:avLst/>
          </a:prstGeom>
          <a:noFill/>
          <a:ln/>
        </p:spPr>
        <p:txBody>
          <a:bodyPr wrap="square" lIns="0" tIns="0" rIns="0" bIns="0" rtlCol="0" anchor="ctr"/>
          <a:lstStyle/>
          <a:p>
            <a:pPr marL="0" indent="0">
              <a:buNone/>
            </a:pPr>
            <a:r>
              <a:rPr lang="en-US" sz="1100" i="1" dirty="0">
                <a:solidFill>
                  <a:srgbClr val="CFE3F2"/>
                </a:solidFill>
                <a:latin typeface="Calibri" pitchFamily="34" charset="0"/>
                <a:ea typeface="Calibri" pitchFamily="34" charset="-122"/>
                <a:cs typeface="Calibri" pitchFamily="34" charset="-120"/>
              </a:rPr>
              <a:t>Test set is never touched during training, feature extraction, or model selection.</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0" y="1737360"/>
          <a:ext cx="6949440" cy="2523744"/>
        </p:xfrm>
        <a:graphic>
          <a:graphicData uri="http://schemas.openxmlformats.org/drawingml/2006/table">
            <a:tbl>
              <a:tblPr/>
              <a:tblGrid>
                <a:gridCol w="29260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420624">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Class</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A33"/>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Train</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A33"/>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Test</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A33"/>
                    </a:solidFill>
                  </a:tcPr>
                </a:tc>
                <a:extLst>
                  <a:ext uri="{0D108BD9-81ED-4DB2-BD59-A6C34878D82A}">
                    <a16:rowId xmlns:a16="http://schemas.microsoft.com/office/drawing/2014/main" val="10000"/>
                  </a:ext>
                </a:extLst>
              </a:tr>
              <a:tr h="420624">
                <a:tc>
                  <a:txBody>
                    <a:bodyPr/>
                    <a:lstStyle/>
                    <a:p>
                      <a:pPr marL="0" indent="0">
                        <a:buNone/>
                      </a:pPr>
                      <a:r>
                        <a:rPr lang="en-US" sz="1400" dirty="0">
                          <a:solidFill>
                            <a:srgbClr val="16233B"/>
                          </a:solidFill>
                          <a:latin typeface="Calibri" pitchFamily="34" charset="0"/>
                          <a:ea typeface="Calibri" pitchFamily="34" charset="-122"/>
                          <a:cs typeface="Calibri" pitchFamily="34" charset="-120"/>
                        </a:rPr>
                        <a:t>Glioma</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400" dirty="0">
                          <a:solidFill>
                            <a:srgbClr val="16233B"/>
                          </a:solidFill>
                          <a:latin typeface="Calibri" pitchFamily="34" charset="0"/>
                          <a:ea typeface="Calibri" pitchFamily="34" charset="-122"/>
                          <a:cs typeface="Calibri" pitchFamily="34" charset="-120"/>
                        </a:rPr>
                        <a:t>1,733</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400" dirty="0">
                          <a:solidFill>
                            <a:srgbClr val="16233B"/>
                          </a:solidFill>
                          <a:latin typeface="Calibri" pitchFamily="34" charset="0"/>
                          <a:ea typeface="Calibri" pitchFamily="34" charset="-122"/>
                          <a:cs typeface="Calibri" pitchFamily="34" charset="-120"/>
                        </a:rPr>
                        <a:t>504</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400" dirty="0">
                          <a:solidFill>
                            <a:srgbClr val="16233B"/>
                          </a:solidFill>
                          <a:latin typeface="Calibri" pitchFamily="34" charset="0"/>
                          <a:ea typeface="Calibri" pitchFamily="34" charset="-122"/>
                          <a:cs typeface="Calibri" pitchFamily="34" charset="-120"/>
                        </a:rPr>
                        <a:t>Meningioma</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400" dirty="0">
                          <a:solidFill>
                            <a:srgbClr val="16233B"/>
                          </a:solidFill>
                          <a:latin typeface="Calibri" pitchFamily="34" charset="0"/>
                          <a:ea typeface="Calibri" pitchFamily="34" charset="-122"/>
                          <a:cs typeface="Calibri" pitchFamily="34" charset="-120"/>
                        </a:rPr>
                        <a:t>1,699</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400" dirty="0">
                          <a:solidFill>
                            <a:srgbClr val="16233B"/>
                          </a:solidFill>
                          <a:latin typeface="Calibri" pitchFamily="34" charset="0"/>
                          <a:ea typeface="Calibri" pitchFamily="34" charset="-122"/>
                          <a:cs typeface="Calibri" pitchFamily="34" charset="-120"/>
                        </a:rPr>
                        <a:t>510</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400" dirty="0">
                          <a:solidFill>
                            <a:srgbClr val="16233B"/>
                          </a:solidFill>
                          <a:latin typeface="Calibri" pitchFamily="34" charset="0"/>
                          <a:ea typeface="Calibri" pitchFamily="34" charset="-122"/>
                          <a:cs typeface="Calibri" pitchFamily="34" charset="-120"/>
                        </a:rPr>
                        <a:t>No Tumour</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400" dirty="0">
                          <a:solidFill>
                            <a:srgbClr val="16233B"/>
                          </a:solidFill>
                          <a:latin typeface="Calibri" pitchFamily="34" charset="0"/>
                          <a:ea typeface="Calibri" pitchFamily="34" charset="-122"/>
                          <a:cs typeface="Calibri" pitchFamily="34" charset="-120"/>
                        </a:rPr>
                        <a:t>1,847</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400" dirty="0">
                          <a:solidFill>
                            <a:srgbClr val="16233B"/>
                          </a:solidFill>
                          <a:latin typeface="Calibri" pitchFamily="34" charset="0"/>
                          <a:ea typeface="Calibri" pitchFamily="34" charset="-122"/>
                          <a:cs typeface="Calibri" pitchFamily="34" charset="-120"/>
                        </a:rPr>
                        <a:t>545</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400" dirty="0">
                          <a:solidFill>
                            <a:srgbClr val="16233B"/>
                          </a:solidFill>
                          <a:latin typeface="Calibri" pitchFamily="34" charset="0"/>
                          <a:ea typeface="Calibri" pitchFamily="34" charset="-122"/>
                          <a:cs typeface="Calibri" pitchFamily="34" charset="-120"/>
                        </a:rPr>
                        <a:t>Pituitary</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400" dirty="0">
                          <a:solidFill>
                            <a:srgbClr val="16233B"/>
                          </a:solidFill>
                          <a:latin typeface="Calibri" pitchFamily="34" charset="0"/>
                          <a:ea typeface="Calibri" pitchFamily="34" charset="-122"/>
                          <a:cs typeface="Calibri" pitchFamily="34" charset="-120"/>
                        </a:rPr>
                        <a:t>1,705</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400" dirty="0">
                          <a:solidFill>
                            <a:srgbClr val="16233B"/>
                          </a:solidFill>
                          <a:latin typeface="Calibri" pitchFamily="34" charset="0"/>
                          <a:ea typeface="Calibri" pitchFamily="34" charset="-122"/>
                          <a:cs typeface="Calibri" pitchFamily="34" charset="-120"/>
                        </a:rPr>
                        <a:t>504</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r h="420624">
                <a:tc>
                  <a:txBody>
                    <a:bodyPr/>
                    <a:lstStyle/>
                    <a:p>
                      <a:pPr marL="0" indent="0">
                        <a:buNone/>
                      </a:pPr>
                      <a:r>
                        <a:rPr lang="en-US" sz="1400" b="1" dirty="0">
                          <a:solidFill>
                            <a:srgbClr val="16233B"/>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CFE3F2"/>
                    </a:solidFill>
                  </a:tcPr>
                </a:tc>
                <a:tc>
                  <a:txBody>
                    <a:bodyPr/>
                    <a:lstStyle/>
                    <a:p>
                      <a:pPr marL="0" indent="0" algn="ctr">
                        <a:buNone/>
                      </a:pPr>
                      <a:r>
                        <a:rPr lang="en-US" sz="1400" b="1" dirty="0">
                          <a:solidFill>
                            <a:srgbClr val="16233B"/>
                          </a:solidFill>
                          <a:latin typeface="Calibri" pitchFamily="34" charset="0"/>
                          <a:ea typeface="Calibri" pitchFamily="34" charset="-122"/>
                          <a:cs typeface="Calibri" pitchFamily="34" charset="-120"/>
                        </a:rPr>
                        <a:t>6,984</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CFE3F2"/>
                    </a:solidFill>
                  </a:tcPr>
                </a:tc>
                <a:tc>
                  <a:txBody>
                    <a:bodyPr/>
                    <a:lstStyle/>
                    <a:p>
                      <a:pPr marL="0" indent="0" algn="ctr">
                        <a:buNone/>
                      </a:pPr>
                      <a:r>
                        <a:rPr lang="en-US" sz="1400" b="1" dirty="0">
                          <a:solidFill>
                            <a:srgbClr val="16233B"/>
                          </a:solidFill>
                          <a:latin typeface="Calibri" pitchFamily="34" charset="0"/>
                          <a:ea typeface="Calibri" pitchFamily="34" charset="-122"/>
                          <a:cs typeface="Calibri" pitchFamily="34" charset="-120"/>
                        </a:rPr>
                        <a:t>2,063</a:t>
                      </a:r>
                      <a:endParaRPr lang="en-US" sz="140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CFE3F2"/>
                    </a:solidFill>
                  </a:tcPr>
                </a:tc>
                <a:extLst>
                  <a:ext uri="{0D108BD9-81ED-4DB2-BD59-A6C34878D82A}">
                    <a16:rowId xmlns:a16="http://schemas.microsoft.com/office/drawing/2014/main" val="10005"/>
                  </a:ext>
                </a:extLst>
              </a:tr>
            </a:tbl>
          </a:graphicData>
        </a:graphic>
      </p:graphicFrame>
      <p:graphicFrame>
        <p:nvGraphicFramePr>
          <p:cNvPr id="14" name="Chart 0"/>
          <p:cNvGraphicFramePr/>
          <p:nvPr/>
        </p:nvGraphicFramePr>
        <p:xfrm>
          <a:off x="4572000" y="4434840"/>
          <a:ext cx="6949440" cy="169164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9FC"/>
        </a:solidFill>
        <a:effectLst/>
      </p:bgPr>
    </p:bg>
    <p:spTree>
      <p:nvGrpSpPr>
        <p:cNvPr id="1" name=""/>
        <p:cNvGrpSpPr/>
        <p:nvPr/>
      </p:nvGrpSpPr>
      <p:grpSpPr>
        <a:xfrm>
          <a:off x="0" y="0"/>
          <a:ext cx="0" cy="0"/>
          <a:chOff x="0" y="0"/>
          <a:chExt cx="0" cy="0"/>
        </a:xfrm>
      </p:grpSpPr>
      <p:sp>
        <p:nvSpPr>
          <p:cNvPr id="2" name="Text 0"/>
          <p:cNvSpPr/>
          <p:nvPr/>
        </p:nvSpPr>
        <p:spPr>
          <a:xfrm>
            <a:off x="640080" y="457200"/>
            <a:ext cx="8229600" cy="640080"/>
          </a:xfrm>
          <a:prstGeom prst="rect">
            <a:avLst/>
          </a:prstGeom>
          <a:noFill/>
          <a:ln/>
        </p:spPr>
        <p:txBody>
          <a:bodyPr wrap="square" lIns="0" tIns="0" rIns="0" bIns="0" rtlCol="0" anchor="ctr"/>
          <a:lstStyle/>
          <a:p>
            <a:pPr marL="0" indent="0">
              <a:buNone/>
            </a:pPr>
            <a:r>
              <a:rPr lang="en-US" sz="3000" b="1" dirty="0">
                <a:solidFill>
                  <a:srgbClr val="16233B"/>
                </a:solidFill>
                <a:latin typeface="Cambria" pitchFamily="34" charset="0"/>
                <a:ea typeface="Cambria" pitchFamily="34" charset="-122"/>
                <a:cs typeface="Cambria" pitchFamily="34" charset="-120"/>
              </a:rPr>
              <a:t>One Recipe, Every Model</a:t>
            </a:r>
            <a:endParaRPr lang="en-US" sz="3000" dirty="0"/>
          </a:p>
        </p:txBody>
      </p:sp>
      <p:sp>
        <p:nvSpPr>
          <p:cNvPr id="3" name="Text 1"/>
          <p:cNvSpPr/>
          <p:nvPr/>
        </p:nvSpPr>
        <p:spPr>
          <a:xfrm>
            <a:off x="640080" y="1005840"/>
            <a:ext cx="10058400" cy="365760"/>
          </a:xfrm>
          <a:prstGeom prst="rect">
            <a:avLst/>
          </a:prstGeom>
          <a:noFill/>
          <a:ln/>
        </p:spPr>
        <p:txBody>
          <a:bodyPr wrap="square" lIns="0" tIns="0" rIns="0" bIns="0" rtlCol="0" anchor="ctr"/>
          <a:lstStyle/>
          <a:p>
            <a:pPr marL="0" indent="0">
              <a:buNone/>
            </a:pPr>
            <a:r>
              <a:rPr lang="en-US" sz="1400" dirty="0">
                <a:solidFill>
                  <a:srgbClr val="5B6B82"/>
                </a:solidFill>
                <a:latin typeface="Calibri" pitchFamily="34" charset="0"/>
                <a:ea typeface="Calibri" pitchFamily="34" charset="-122"/>
                <a:cs typeface="Calibri" pitchFamily="34" charset="-120"/>
              </a:rPr>
              <a:t>Identical preprocessing ensures a fair comparison across models</a:t>
            </a:r>
            <a:endParaRPr lang="en-US" sz="1400" dirty="0"/>
          </a:p>
        </p:txBody>
      </p:sp>
      <p:sp>
        <p:nvSpPr>
          <p:cNvPr id="4" name="Shape 2"/>
          <p:cNvSpPr/>
          <p:nvPr/>
        </p:nvSpPr>
        <p:spPr>
          <a:xfrm>
            <a:off x="640080" y="1828800"/>
            <a:ext cx="2423160" cy="1920240"/>
          </a:xfrm>
          <a:prstGeom prst="roundRect">
            <a:avLst>
              <a:gd name="adj" fmla="val 3810"/>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5" name="Shape 3"/>
          <p:cNvSpPr/>
          <p:nvPr/>
        </p:nvSpPr>
        <p:spPr>
          <a:xfrm>
            <a:off x="1531620" y="2057400"/>
            <a:ext cx="640080" cy="640080"/>
          </a:xfrm>
          <a:prstGeom prst="ellipse">
            <a:avLst/>
          </a:prstGeom>
          <a:solidFill>
            <a:srgbClr val="0A1A33"/>
          </a:solidFill>
          <a:ln/>
        </p:spPr>
        <p:txBody>
          <a:bodyPr/>
          <a:lstStyle/>
          <a:p>
            <a:endParaRPr lang="en-US"/>
          </a:p>
        </p:txBody>
      </p:sp>
      <p:sp>
        <p:nvSpPr>
          <p:cNvPr id="6" name="Text 4"/>
          <p:cNvSpPr/>
          <p:nvPr/>
        </p:nvSpPr>
        <p:spPr>
          <a:xfrm>
            <a:off x="1531620" y="2057400"/>
            <a:ext cx="640080" cy="640080"/>
          </a:xfrm>
          <a:prstGeom prst="rect">
            <a:avLst/>
          </a:prstGeom>
          <a:noFill/>
          <a:ln/>
        </p:spPr>
        <p:txBody>
          <a:bodyPr wrap="square" lIns="0" tIns="0" rIns="0" bIns="0" rtlCol="0" anchor="ctr"/>
          <a:lstStyle/>
          <a:p>
            <a:pPr marL="0" indent="0" algn="ctr">
              <a:buNone/>
            </a:pPr>
            <a:r>
              <a:rPr lang="en-US" sz="2200" b="1" dirty="0">
                <a:solidFill>
                  <a:srgbClr val="1FBFAE"/>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731520" y="2788920"/>
            <a:ext cx="2240280" cy="365760"/>
          </a:xfrm>
          <a:prstGeom prst="rect">
            <a:avLst/>
          </a:prstGeom>
          <a:noFill/>
          <a:ln/>
        </p:spPr>
        <p:txBody>
          <a:bodyPr wrap="square" lIns="0" tIns="0" rIns="0" bIns="0" rtlCol="0" anchor="ctr"/>
          <a:lstStyle/>
          <a:p>
            <a:pPr marL="0" indent="0" algn="ctr">
              <a:buNone/>
            </a:pPr>
            <a:r>
              <a:rPr lang="en-US" sz="1500" b="1" dirty="0">
                <a:solidFill>
                  <a:srgbClr val="16233B"/>
                </a:solidFill>
                <a:latin typeface="Calibri" pitchFamily="34" charset="0"/>
                <a:ea typeface="Calibri" pitchFamily="34" charset="-122"/>
                <a:cs typeface="Calibri" pitchFamily="34" charset="-120"/>
              </a:rPr>
              <a:t>Read</a:t>
            </a:r>
            <a:endParaRPr lang="en-US" sz="1500" dirty="0"/>
          </a:p>
        </p:txBody>
      </p:sp>
      <p:sp>
        <p:nvSpPr>
          <p:cNvPr id="8" name="Text 6"/>
          <p:cNvSpPr/>
          <p:nvPr/>
        </p:nvSpPr>
        <p:spPr>
          <a:xfrm>
            <a:off x="777240" y="3154680"/>
            <a:ext cx="2148840" cy="548640"/>
          </a:xfrm>
          <a:prstGeom prst="rect">
            <a:avLst/>
          </a:prstGeom>
          <a:noFill/>
          <a:ln/>
        </p:spPr>
        <p:txBody>
          <a:bodyPr wrap="square" lIns="0" tIns="0" rIns="0" bIns="0" rtlCol="0" anchor="ctr"/>
          <a:lstStyle/>
          <a:p>
            <a:pPr marL="0" indent="0" algn="ctr">
              <a:buNone/>
            </a:pPr>
            <a:r>
              <a:rPr lang="en-US" sz="1050" dirty="0">
                <a:solidFill>
                  <a:srgbClr val="5B6B82"/>
                </a:solidFill>
                <a:latin typeface="Calibri" pitchFamily="34" charset="0"/>
                <a:ea typeface="Calibri" pitchFamily="34" charset="-122"/>
                <a:cs typeface="Calibri" pitchFamily="34" charset="-120"/>
              </a:rPr>
              <a:t>Load JPG in colour (BGR)</a:t>
            </a:r>
            <a:endParaRPr lang="en-US" sz="1050" dirty="0"/>
          </a:p>
        </p:txBody>
      </p:sp>
      <p:pic>
        <p:nvPicPr>
          <p:cNvPr id="9" name="Image 0" descr="preencoded.png"/>
          <p:cNvPicPr>
            <a:picLocks noChangeAspect="1"/>
          </p:cNvPicPr>
          <p:nvPr/>
        </p:nvPicPr>
        <p:blipFill>
          <a:blip r:embed="rId3"/>
          <a:stretch>
            <a:fillRect/>
          </a:stretch>
        </p:blipFill>
        <p:spPr>
          <a:xfrm>
            <a:off x="3090672" y="2670048"/>
            <a:ext cx="256032" cy="237744"/>
          </a:xfrm>
          <a:prstGeom prst="rect">
            <a:avLst/>
          </a:prstGeom>
        </p:spPr>
      </p:pic>
      <p:sp>
        <p:nvSpPr>
          <p:cNvPr id="10" name="Shape 7"/>
          <p:cNvSpPr/>
          <p:nvPr/>
        </p:nvSpPr>
        <p:spPr>
          <a:xfrm>
            <a:off x="3383280" y="1828800"/>
            <a:ext cx="2423160" cy="1920240"/>
          </a:xfrm>
          <a:prstGeom prst="roundRect">
            <a:avLst>
              <a:gd name="adj" fmla="val 3810"/>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11" name="Shape 8"/>
          <p:cNvSpPr/>
          <p:nvPr/>
        </p:nvSpPr>
        <p:spPr>
          <a:xfrm>
            <a:off x="4274820" y="2057400"/>
            <a:ext cx="640080" cy="640080"/>
          </a:xfrm>
          <a:prstGeom prst="ellipse">
            <a:avLst/>
          </a:prstGeom>
          <a:solidFill>
            <a:srgbClr val="0A1A33"/>
          </a:solidFill>
          <a:ln/>
        </p:spPr>
        <p:txBody>
          <a:bodyPr/>
          <a:lstStyle/>
          <a:p>
            <a:endParaRPr lang="en-US"/>
          </a:p>
        </p:txBody>
      </p:sp>
      <p:sp>
        <p:nvSpPr>
          <p:cNvPr id="12" name="Text 9"/>
          <p:cNvSpPr/>
          <p:nvPr/>
        </p:nvSpPr>
        <p:spPr>
          <a:xfrm>
            <a:off x="4274820" y="2057400"/>
            <a:ext cx="640080" cy="640080"/>
          </a:xfrm>
          <a:prstGeom prst="rect">
            <a:avLst/>
          </a:prstGeom>
          <a:noFill/>
          <a:ln/>
        </p:spPr>
        <p:txBody>
          <a:bodyPr wrap="square" lIns="0" tIns="0" rIns="0" bIns="0" rtlCol="0" anchor="ctr"/>
          <a:lstStyle/>
          <a:p>
            <a:pPr marL="0" indent="0" algn="ctr">
              <a:buNone/>
            </a:pPr>
            <a:r>
              <a:rPr lang="en-US" sz="2200" b="1" dirty="0">
                <a:solidFill>
                  <a:srgbClr val="1FBFAE"/>
                </a:solidFill>
                <a:latin typeface="Cambria" pitchFamily="34" charset="0"/>
                <a:ea typeface="Cambria" pitchFamily="34" charset="-122"/>
                <a:cs typeface="Cambria" pitchFamily="34" charset="-120"/>
              </a:rPr>
              <a:t>2</a:t>
            </a:r>
            <a:endParaRPr lang="en-US" sz="2200" dirty="0"/>
          </a:p>
        </p:txBody>
      </p:sp>
      <p:sp>
        <p:nvSpPr>
          <p:cNvPr id="13" name="Text 10"/>
          <p:cNvSpPr/>
          <p:nvPr/>
        </p:nvSpPr>
        <p:spPr>
          <a:xfrm>
            <a:off x="3474720" y="2788920"/>
            <a:ext cx="2240280" cy="365760"/>
          </a:xfrm>
          <a:prstGeom prst="rect">
            <a:avLst/>
          </a:prstGeom>
          <a:noFill/>
          <a:ln/>
        </p:spPr>
        <p:txBody>
          <a:bodyPr wrap="square" lIns="0" tIns="0" rIns="0" bIns="0" rtlCol="0" anchor="ctr"/>
          <a:lstStyle/>
          <a:p>
            <a:pPr marL="0" indent="0" algn="ctr">
              <a:buNone/>
            </a:pPr>
            <a:r>
              <a:rPr lang="en-US" sz="1500" b="1" dirty="0">
                <a:solidFill>
                  <a:srgbClr val="16233B"/>
                </a:solidFill>
                <a:latin typeface="Calibri" pitchFamily="34" charset="0"/>
                <a:ea typeface="Calibri" pitchFamily="34" charset="-122"/>
                <a:cs typeface="Calibri" pitchFamily="34" charset="-120"/>
              </a:rPr>
              <a:t>Resize</a:t>
            </a:r>
            <a:endParaRPr lang="en-US" sz="1500" dirty="0"/>
          </a:p>
        </p:txBody>
      </p:sp>
      <p:sp>
        <p:nvSpPr>
          <p:cNvPr id="14" name="Text 11"/>
          <p:cNvSpPr/>
          <p:nvPr/>
        </p:nvSpPr>
        <p:spPr>
          <a:xfrm>
            <a:off x="3520440" y="3154680"/>
            <a:ext cx="2148840" cy="548640"/>
          </a:xfrm>
          <a:prstGeom prst="rect">
            <a:avLst/>
          </a:prstGeom>
          <a:noFill/>
          <a:ln/>
        </p:spPr>
        <p:txBody>
          <a:bodyPr wrap="square" lIns="0" tIns="0" rIns="0" bIns="0" rtlCol="0" anchor="ctr"/>
          <a:lstStyle/>
          <a:p>
            <a:pPr marL="0" indent="0" algn="ctr">
              <a:buNone/>
            </a:pPr>
            <a:r>
              <a:rPr lang="en-US" sz="1050" dirty="0">
                <a:solidFill>
                  <a:srgbClr val="5B6B82"/>
                </a:solidFill>
                <a:latin typeface="Calibri" pitchFamily="34" charset="0"/>
                <a:ea typeface="Calibri" pitchFamily="34" charset="-122"/>
                <a:cs typeface="Calibri" pitchFamily="34" charset="-120"/>
              </a:rPr>
              <a:t>Fixed square input size</a:t>
            </a:r>
            <a:endParaRPr lang="en-US" sz="1050" dirty="0"/>
          </a:p>
        </p:txBody>
      </p:sp>
      <p:pic>
        <p:nvPicPr>
          <p:cNvPr id="15" name="Image 1" descr="preencoded.png"/>
          <p:cNvPicPr>
            <a:picLocks noChangeAspect="1"/>
          </p:cNvPicPr>
          <p:nvPr/>
        </p:nvPicPr>
        <p:blipFill>
          <a:blip r:embed="rId3"/>
          <a:stretch>
            <a:fillRect/>
          </a:stretch>
        </p:blipFill>
        <p:spPr>
          <a:xfrm>
            <a:off x="5833872" y="2670048"/>
            <a:ext cx="256032" cy="237744"/>
          </a:xfrm>
          <a:prstGeom prst="rect">
            <a:avLst/>
          </a:prstGeom>
        </p:spPr>
      </p:pic>
      <p:sp>
        <p:nvSpPr>
          <p:cNvPr id="16" name="Shape 12"/>
          <p:cNvSpPr/>
          <p:nvPr/>
        </p:nvSpPr>
        <p:spPr>
          <a:xfrm>
            <a:off x="6126480" y="1828800"/>
            <a:ext cx="2423160" cy="1920240"/>
          </a:xfrm>
          <a:prstGeom prst="roundRect">
            <a:avLst>
              <a:gd name="adj" fmla="val 3810"/>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17" name="Shape 13"/>
          <p:cNvSpPr/>
          <p:nvPr/>
        </p:nvSpPr>
        <p:spPr>
          <a:xfrm>
            <a:off x="7018020" y="2057400"/>
            <a:ext cx="640080" cy="640080"/>
          </a:xfrm>
          <a:prstGeom prst="ellipse">
            <a:avLst/>
          </a:prstGeom>
          <a:solidFill>
            <a:srgbClr val="0A1A33"/>
          </a:solidFill>
          <a:ln/>
        </p:spPr>
        <p:txBody>
          <a:bodyPr/>
          <a:lstStyle/>
          <a:p>
            <a:endParaRPr lang="en-US"/>
          </a:p>
        </p:txBody>
      </p:sp>
      <p:sp>
        <p:nvSpPr>
          <p:cNvPr id="18" name="Text 14"/>
          <p:cNvSpPr/>
          <p:nvPr/>
        </p:nvSpPr>
        <p:spPr>
          <a:xfrm>
            <a:off x="7018020" y="2057400"/>
            <a:ext cx="640080" cy="640080"/>
          </a:xfrm>
          <a:prstGeom prst="rect">
            <a:avLst/>
          </a:prstGeom>
          <a:noFill/>
          <a:ln/>
        </p:spPr>
        <p:txBody>
          <a:bodyPr wrap="square" lIns="0" tIns="0" rIns="0" bIns="0" rtlCol="0" anchor="ctr"/>
          <a:lstStyle/>
          <a:p>
            <a:pPr marL="0" indent="0" algn="ctr">
              <a:buNone/>
            </a:pPr>
            <a:r>
              <a:rPr lang="en-US" sz="2200" b="1" dirty="0">
                <a:solidFill>
                  <a:srgbClr val="1FBFAE"/>
                </a:solidFill>
                <a:latin typeface="Cambria" pitchFamily="34" charset="0"/>
                <a:ea typeface="Cambria" pitchFamily="34" charset="-122"/>
                <a:cs typeface="Cambria" pitchFamily="34" charset="-120"/>
              </a:rPr>
              <a:t>3</a:t>
            </a:r>
            <a:endParaRPr lang="en-US" sz="2200" dirty="0"/>
          </a:p>
        </p:txBody>
      </p:sp>
      <p:sp>
        <p:nvSpPr>
          <p:cNvPr id="19" name="Text 15"/>
          <p:cNvSpPr/>
          <p:nvPr/>
        </p:nvSpPr>
        <p:spPr>
          <a:xfrm>
            <a:off x="6217920" y="2788920"/>
            <a:ext cx="2240280" cy="365760"/>
          </a:xfrm>
          <a:prstGeom prst="rect">
            <a:avLst/>
          </a:prstGeom>
          <a:noFill/>
          <a:ln/>
        </p:spPr>
        <p:txBody>
          <a:bodyPr wrap="square" lIns="0" tIns="0" rIns="0" bIns="0" rtlCol="0" anchor="ctr"/>
          <a:lstStyle/>
          <a:p>
            <a:pPr marL="0" indent="0" algn="ctr">
              <a:buNone/>
            </a:pPr>
            <a:r>
              <a:rPr lang="en-US" sz="1500" b="1" dirty="0">
                <a:solidFill>
                  <a:srgbClr val="16233B"/>
                </a:solidFill>
                <a:latin typeface="Calibri" pitchFamily="34" charset="0"/>
                <a:ea typeface="Calibri" pitchFamily="34" charset="-122"/>
                <a:cs typeface="Calibri" pitchFamily="34" charset="-120"/>
              </a:rPr>
              <a:t>Fix Colour</a:t>
            </a:r>
            <a:endParaRPr lang="en-US" sz="1500" dirty="0"/>
          </a:p>
        </p:txBody>
      </p:sp>
      <p:sp>
        <p:nvSpPr>
          <p:cNvPr id="20" name="Text 16"/>
          <p:cNvSpPr/>
          <p:nvPr/>
        </p:nvSpPr>
        <p:spPr>
          <a:xfrm>
            <a:off x="6263640" y="3154680"/>
            <a:ext cx="2148840" cy="548640"/>
          </a:xfrm>
          <a:prstGeom prst="rect">
            <a:avLst/>
          </a:prstGeom>
          <a:noFill/>
          <a:ln/>
        </p:spPr>
        <p:txBody>
          <a:bodyPr wrap="square" lIns="0" tIns="0" rIns="0" bIns="0" rtlCol="0" anchor="ctr"/>
          <a:lstStyle/>
          <a:p>
            <a:pPr marL="0" indent="0" algn="ctr">
              <a:buNone/>
            </a:pPr>
            <a:r>
              <a:rPr lang="en-US" sz="1050" dirty="0">
                <a:solidFill>
                  <a:srgbClr val="5B6B82"/>
                </a:solidFill>
                <a:latin typeface="Calibri" pitchFamily="34" charset="0"/>
                <a:ea typeface="Calibri" pitchFamily="34" charset="-122"/>
                <a:cs typeface="Calibri" pitchFamily="34" charset="-120"/>
              </a:rPr>
              <a:t>BGR → RGB for ImageNet models</a:t>
            </a:r>
            <a:endParaRPr lang="en-US" sz="1050" dirty="0"/>
          </a:p>
        </p:txBody>
      </p:sp>
      <p:pic>
        <p:nvPicPr>
          <p:cNvPr id="21" name="Image 2" descr="preencoded.png"/>
          <p:cNvPicPr>
            <a:picLocks noChangeAspect="1"/>
          </p:cNvPicPr>
          <p:nvPr/>
        </p:nvPicPr>
        <p:blipFill>
          <a:blip r:embed="rId3"/>
          <a:stretch>
            <a:fillRect/>
          </a:stretch>
        </p:blipFill>
        <p:spPr>
          <a:xfrm>
            <a:off x="8577072" y="2670048"/>
            <a:ext cx="256032" cy="237744"/>
          </a:xfrm>
          <a:prstGeom prst="rect">
            <a:avLst/>
          </a:prstGeom>
        </p:spPr>
      </p:pic>
      <p:sp>
        <p:nvSpPr>
          <p:cNvPr id="22" name="Shape 17"/>
          <p:cNvSpPr/>
          <p:nvPr/>
        </p:nvSpPr>
        <p:spPr>
          <a:xfrm>
            <a:off x="8869680" y="1828800"/>
            <a:ext cx="2423160" cy="1920240"/>
          </a:xfrm>
          <a:prstGeom prst="roundRect">
            <a:avLst>
              <a:gd name="adj" fmla="val 3810"/>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23" name="Shape 18"/>
          <p:cNvSpPr/>
          <p:nvPr/>
        </p:nvSpPr>
        <p:spPr>
          <a:xfrm>
            <a:off x="9761220" y="2057400"/>
            <a:ext cx="640080" cy="640080"/>
          </a:xfrm>
          <a:prstGeom prst="ellipse">
            <a:avLst/>
          </a:prstGeom>
          <a:solidFill>
            <a:srgbClr val="0A1A33"/>
          </a:solidFill>
          <a:ln/>
        </p:spPr>
        <p:txBody>
          <a:bodyPr/>
          <a:lstStyle/>
          <a:p>
            <a:endParaRPr lang="en-US"/>
          </a:p>
        </p:txBody>
      </p:sp>
      <p:sp>
        <p:nvSpPr>
          <p:cNvPr id="24" name="Text 19"/>
          <p:cNvSpPr/>
          <p:nvPr/>
        </p:nvSpPr>
        <p:spPr>
          <a:xfrm>
            <a:off x="9761220" y="2057400"/>
            <a:ext cx="640080" cy="640080"/>
          </a:xfrm>
          <a:prstGeom prst="rect">
            <a:avLst/>
          </a:prstGeom>
          <a:noFill/>
          <a:ln/>
        </p:spPr>
        <p:txBody>
          <a:bodyPr wrap="square" lIns="0" tIns="0" rIns="0" bIns="0" rtlCol="0" anchor="ctr"/>
          <a:lstStyle/>
          <a:p>
            <a:pPr marL="0" indent="0" algn="ctr">
              <a:buNone/>
            </a:pPr>
            <a:r>
              <a:rPr lang="en-US" sz="2200" b="1" dirty="0">
                <a:solidFill>
                  <a:srgbClr val="1FBFAE"/>
                </a:solidFill>
                <a:latin typeface="Cambria" pitchFamily="34" charset="0"/>
                <a:ea typeface="Cambria" pitchFamily="34" charset="-122"/>
                <a:cs typeface="Cambria" pitchFamily="34" charset="-120"/>
              </a:rPr>
              <a:t>4</a:t>
            </a:r>
            <a:endParaRPr lang="en-US" sz="2200" dirty="0"/>
          </a:p>
        </p:txBody>
      </p:sp>
      <p:sp>
        <p:nvSpPr>
          <p:cNvPr id="25" name="Text 20"/>
          <p:cNvSpPr/>
          <p:nvPr/>
        </p:nvSpPr>
        <p:spPr>
          <a:xfrm>
            <a:off x="8961120" y="2788920"/>
            <a:ext cx="2240280" cy="365760"/>
          </a:xfrm>
          <a:prstGeom prst="rect">
            <a:avLst/>
          </a:prstGeom>
          <a:noFill/>
          <a:ln/>
        </p:spPr>
        <p:txBody>
          <a:bodyPr wrap="square" lIns="0" tIns="0" rIns="0" bIns="0" rtlCol="0" anchor="ctr"/>
          <a:lstStyle/>
          <a:p>
            <a:pPr marL="0" indent="0" algn="ctr">
              <a:buNone/>
            </a:pPr>
            <a:r>
              <a:rPr lang="en-US" sz="1500" b="1" dirty="0">
                <a:solidFill>
                  <a:srgbClr val="16233B"/>
                </a:solidFill>
                <a:latin typeface="Calibri" pitchFamily="34" charset="0"/>
                <a:ea typeface="Calibri" pitchFamily="34" charset="-122"/>
                <a:cs typeface="Calibri" pitchFamily="34" charset="-120"/>
              </a:rPr>
              <a:t>Normalise</a:t>
            </a:r>
            <a:endParaRPr lang="en-US" sz="1500" dirty="0"/>
          </a:p>
        </p:txBody>
      </p:sp>
      <p:sp>
        <p:nvSpPr>
          <p:cNvPr id="26" name="Text 21"/>
          <p:cNvSpPr/>
          <p:nvPr/>
        </p:nvSpPr>
        <p:spPr>
          <a:xfrm>
            <a:off x="9006840" y="3154680"/>
            <a:ext cx="2148840" cy="548640"/>
          </a:xfrm>
          <a:prstGeom prst="rect">
            <a:avLst/>
          </a:prstGeom>
          <a:noFill/>
          <a:ln/>
        </p:spPr>
        <p:txBody>
          <a:bodyPr wrap="square" lIns="0" tIns="0" rIns="0" bIns="0" rtlCol="0" anchor="ctr"/>
          <a:lstStyle/>
          <a:p>
            <a:pPr marL="0" indent="0" algn="ctr">
              <a:buNone/>
            </a:pPr>
            <a:r>
              <a:rPr lang="en-US" sz="1050" dirty="0">
                <a:solidFill>
                  <a:srgbClr val="5B6B82"/>
                </a:solidFill>
                <a:latin typeface="Calibri" pitchFamily="34" charset="0"/>
                <a:ea typeface="Calibri" pitchFamily="34" charset="-122"/>
                <a:cs typeface="Calibri" pitchFamily="34" charset="-120"/>
              </a:rPr>
              <a:t>Scale pixels to a stable range</a:t>
            </a:r>
            <a:endParaRPr lang="en-US" sz="1050" dirty="0"/>
          </a:p>
        </p:txBody>
      </p:sp>
      <p:sp>
        <p:nvSpPr>
          <p:cNvPr id="27" name="Shape 22"/>
          <p:cNvSpPr/>
          <p:nvPr/>
        </p:nvSpPr>
        <p:spPr>
          <a:xfrm>
            <a:off x="640080" y="4114800"/>
            <a:ext cx="5257800" cy="1920240"/>
          </a:xfrm>
          <a:prstGeom prst="roundRect">
            <a:avLst>
              <a:gd name="adj" fmla="val 3810"/>
            </a:avLst>
          </a:prstGeom>
          <a:solidFill>
            <a:srgbClr val="0A1A33"/>
          </a:solidFill>
          <a:ln/>
          <a:effectLst>
            <a:outerShdw blurRad="101600" dist="38100" dir="5400000" algn="bl" rotWithShape="0">
              <a:srgbClr val="0A1A33">
                <a:alpha val="12000"/>
              </a:srgbClr>
            </a:outerShdw>
          </a:effectLst>
        </p:spPr>
        <p:txBody>
          <a:bodyPr/>
          <a:lstStyle/>
          <a:p>
            <a:endParaRPr lang="en-US"/>
          </a:p>
        </p:txBody>
      </p:sp>
      <p:sp>
        <p:nvSpPr>
          <p:cNvPr id="28" name="Text 23"/>
          <p:cNvSpPr/>
          <p:nvPr/>
        </p:nvSpPr>
        <p:spPr>
          <a:xfrm>
            <a:off x="914400" y="4251960"/>
            <a:ext cx="2743200" cy="502920"/>
          </a:xfrm>
          <a:prstGeom prst="rect">
            <a:avLst/>
          </a:prstGeom>
          <a:noFill/>
          <a:ln/>
        </p:spPr>
        <p:txBody>
          <a:bodyPr wrap="square" lIns="0" tIns="0" rIns="0" bIns="0" rtlCol="0" anchor="ctr"/>
          <a:lstStyle/>
          <a:p>
            <a:pPr marL="0" indent="0">
              <a:buNone/>
            </a:pPr>
            <a:r>
              <a:rPr lang="en-US" sz="2600" b="1" dirty="0">
                <a:solidFill>
                  <a:srgbClr val="1FBFAE"/>
                </a:solidFill>
                <a:latin typeface="Cambria" pitchFamily="34" charset="0"/>
                <a:ea typeface="Cambria" pitchFamily="34" charset="-122"/>
                <a:cs typeface="Cambria" pitchFamily="34" charset="-120"/>
              </a:rPr>
              <a:t>256 × 256</a:t>
            </a:r>
            <a:endParaRPr lang="en-US" sz="2600" dirty="0"/>
          </a:p>
        </p:txBody>
      </p:sp>
      <p:sp>
        <p:nvSpPr>
          <p:cNvPr id="29" name="Text 24"/>
          <p:cNvSpPr/>
          <p:nvPr/>
        </p:nvSpPr>
        <p:spPr>
          <a:xfrm>
            <a:off x="914400" y="4754880"/>
            <a:ext cx="4709160" cy="1143000"/>
          </a:xfrm>
          <a:prstGeom prst="rect">
            <a:avLst/>
          </a:prstGeom>
          <a:noFill/>
          <a:ln/>
        </p:spPr>
        <p:txBody>
          <a:bodyPr wrap="square" lIns="0" tIns="0" rIns="0" bIns="0" rtlCol="0" anchor="ctr"/>
          <a:lstStyle/>
          <a:p>
            <a:pPr marL="0" indent="0">
              <a:lnSpc>
                <a:spcPct val="115000"/>
              </a:lnSpc>
              <a:buNone/>
            </a:pPr>
            <a:r>
              <a:rPr lang="en-US" sz="1250" dirty="0">
                <a:solidFill>
                  <a:srgbClr val="CFE3F2"/>
                </a:solidFill>
                <a:latin typeface="Calibri" pitchFamily="34" charset="0"/>
                <a:ea typeface="Calibri" pitchFamily="34" charset="-122"/>
                <a:cs typeface="Calibri" pitchFamily="34" charset="-120"/>
              </a:rPr>
              <a:t>Standalone deep models (CNN, Xception, InceptionV3) - maximum detail, since one network does the whole job alone.</a:t>
            </a:r>
            <a:endParaRPr lang="en-US" sz="1250" dirty="0"/>
          </a:p>
        </p:txBody>
      </p:sp>
      <p:sp>
        <p:nvSpPr>
          <p:cNvPr id="30" name="Shape 25"/>
          <p:cNvSpPr/>
          <p:nvPr/>
        </p:nvSpPr>
        <p:spPr>
          <a:xfrm>
            <a:off x="6263640" y="4114800"/>
            <a:ext cx="5257800" cy="1920240"/>
          </a:xfrm>
          <a:prstGeom prst="roundRect">
            <a:avLst>
              <a:gd name="adj" fmla="val 3810"/>
            </a:avLst>
          </a:prstGeom>
          <a:solidFill>
            <a:srgbClr val="0E7C72"/>
          </a:solidFill>
          <a:ln/>
          <a:effectLst>
            <a:outerShdw blurRad="101600" dist="38100" dir="5400000" algn="bl" rotWithShape="0">
              <a:srgbClr val="0A1A33">
                <a:alpha val="12000"/>
              </a:srgbClr>
            </a:outerShdw>
          </a:effectLst>
        </p:spPr>
        <p:txBody>
          <a:bodyPr/>
          <a:lstStyle/>
          <a:p>
            <a:endParaRPr lang="en-US"/>
          </a:p>
        </p:txBody>
      </p:sp>
      <p:sp>
        <p:nvSpPr>
          <p:cNvPr id="31" name="Text 26"/>
          <p:cNvSpPr/>
          <p:nvPr/>
        </p:nvSpPr>
        <p:spPr>
          <a:xfrm>
            <a:off x="6537960" y="4251960"/>
            <a:ext cx="2743200" cy="5029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128 × 128</a:t>
            </a:r>
            <a:endParaRPr lang="en-US" sz="2600" dirty="0"/>
          </a:p>
        </p:txBody>
      </p:sp>
      <p:sp>
        <p:nvSpPr>
          <p:cNvPr id="32" name="Text 27"/>
          <p:cNvSpPr/>
          <p:nvPr/>
        </p:nvSpPr>
        <p:spPr>
          <a:xfrm>
            <a:off x="6537960" y="4754880"/>
            <a:ext cx="4709160" cy="1143000"/>
          </a:xfrm>
          <a:prstGeom prst="rect">
            <a:avLst/>
          </a:prstGeom>
          <a:noFill/>
          <a:ln/>
        </p:spPr>
        <p:txBody>
          <a:bodyPr wrap="square" lIns="0" tIns="0" rIns="0" bIns="0" rtlCol="0" anchor="ctr"/>
          <a:lstStyle/>
          <a:p>
            <a:pPr marL="0" indent="0">
              <a:lnSpc>
                <a:spcPct val="115000"/>
              </a:lnSpc>
              <a:buNone/>
            </a:pPr>
            <a:r>
              <a:rPr lang="en-US" sz="1250" dirty="0">
                <a:solidFill>
                  <a:srgbClr val="F0FBFA"/>
                </a:solidFill>
                <a:latin typeface="Calibri" pitchFamily="34" charset="0"/>
                <a:ea typeface="Calibri" pitchFamily="34" charset="-122"/>
                <a:cs typeface="Calibri" pitchFamily="34" charset="-120"/>
              </a:rPr>
              <a:t>Feature-extraction backbones - compact, fast and memory-friendly when running classical ML across thousands of images.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9FC"/>
        </a:solidFill>
        <a:effectLst/>
      </p:bgPr>
    </p:bg>
    <p:spTree>
      <p:nvGrpSpPr>
        <p:cNvPr id="1" name=""/>
        <p:cNvGrpSpPr/>
        <p:nvPr/>
      </p:nvGrpSpPr>
      <p:grpSpPr>
        <a:xfrm>
          <a:off x="0" y="0"/>
          <a:ext cx="0" cy="0"/>
          <a:chOff x="0" y="0"/>
          <a:chExt cx="0" cy="0"/>
        </a:xfrm>
      </p:grpSpPr>
      <p:sp>
        <p:nvSpPr>
          <p:cNvPr id="2" name="Text 0"/>
          <p:cNvSpPr/>
          <p:nvPr/>
        </p:nvSpPr>
        <p:spPr>
          <a:xfrm>
            <a:off x="640080" y="457200"/>
            <a:ext cx="9144000" cy="640080"/>
          </a:xfrm>
          <a:prstGeom prst="rect">
            <a:avLst/>
          </a:prstGeom>
          <a:noFill/>
          <a:ln/>
        </p:spPr>
        <p:txBody>
          <a:bodyPr wrap="square" lIns="0" tIns="0" rIns="0" bIns="0" rtlCol="0" anchor="ctr"/>
          <a:lstStyle/>
          <a:p>
            <a:pPr marL="0" indent="0">
              <a:buNone/>
            </a:pPr>
            <a:r>
              <a:rPr lang="en-US" sz="3000" b="1" dirty="0">
                <a:solidFill>
                  <a:srgbClr val="16233B"/>
                </a:solidFill>
                <a:latin typeface="Cambria" pitchFamily="34" charset="0"/>
                <a:ea typeface="Cambria" pitchFamily="34" charset="-122"/>
                <a:cs typeface="Cambria" pitchFamily="34" charset="-120"/>
              </a:rPr>
              <a:t>Step 1: A Custom CNN Baseline</a:t>
            </a:r>
            <a:endParaRPr lang="en-US" sz="3000" dirty="0"/>
          </a:p>
        </p:txBody>
      </p:sp>
      <p:sp>
        <p:nvSpPr>
          <p:cNvPr id="3" name="Text 1"/>
          <p:cNvSpPr/>
          <p:nvPr/>
        </p:nvSpPr>
        <p:spPr>
          <a:xfrm>
            <a:off x="640080" y="1005840"/>
            <a:ext cx="9144000" cy="365760"/>
          </a:xfrm>
          <a:prstGeom prst="rect">
            <a:avLst/>
          </a:prstGeom>
          <a:noFill/>
          <a:ln/>
        </p:spPr>
        <p:txBody>
          <a:bodyPr wrap="square" lIns="0" tIns="0" rIns="0" bIns="0" rtlCol="0" anchor="ctr"/>
          <a:lstStyle/>
          <a:p>
            <a:pPr marL="0" indent="0">
              <a:buNone/>
            </a:pPr>
            <a:r>
              <a:rPr lang="en-US" sz="1400" dirty="0">
                <a:solidFill>
                  <a:srgbClr val="5B6B82"/>
                </a:solidFill>
                <a:latin typeface="Calibri" pitchFamily="34" charset="0"/>
                <a:ea typeface="Calibri" pitchFamily="34" charset="-122"/>
                <a:cs typeface="Calibri" pitchFamily="34" charset="-120"/>
              </a:rPr>
              <a:t>Starting simple, to establish a reference point</a:t>
            </a:r>
            <a:endParaRPr lang="en-US" sz="1400" dirty="0"/>
          </a:p>
        </p:txBody>
      </p:sp>
      <p:sp>
        <p:nvSpPr>
          <p:cNvPr id="4" name="Shape 2"/>
          <p:cNvSpPr/>
          <p:nvPr/>
        </p:nvSpPr>
        <p:spPr>
          <a:xfrm>
            <a:off x="640080" y="1965960"/>
            <a:ext cx="1600200" cy="914400"/>
          </a:xfrm>
          <a:prstGeom prst="roundRect">
            <a:avLst>
              <a:gd name="adj" fmla="val 7000"/>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5" name="Text 3"/>
          <p:cNvSpPr/>
          <p:nvPr/>
        </p:nvSpPr>
        <p:spPr>
          <a:xfrm>
            <a:off x="685800" y="1965960"/>
            <a:ext cx="1508760" cy="914400"/>
          </a:xfrm>
          <a:prstGeom prst="rect">
            <a:avLst/>
          </a:prstGeom>
          <a:noFill/>
          <a:ln/>
        </p:spPr>
        <p:txBody>
          <a:bodyPr wrap="square" lIns="0" tIns="0" rIns="0" bIns="0" rtlCol="0" anchor="ctr"/>
          <a:lstStyle/>
          <a:p>
            <a:pPr marL="0" indent="0" algn="ctr">
              <a:buNone/>
            </a:pPr>
            <a:r>
              <a:rPr lang="en-US" sz="1150" b="1" dirty="0">
                <a:solidFill>
                  <a:srgbClr val="16233B"/>
                </a:solidFill>
                <a:latin typeface="Calibri" pitchFamily="34" charset="0"/>
                <a:ea typeface="Calibri" pitchFamily="34" charset="-122"/>
                <a:cs typeface="Calibri" pitchFamily="34" charset="-120"/>
              </a:rPr>
              <a:t>Conv + Pool</a:t>
            </a:r>
            <a:endParaRPr lang="en-US" sz="1150" dirty="0"/>
          </a:p>
        </p:txBody>
      </p:sp>
      <p:pic>
        <p:nvPicPr>
          <p:cNvPr id="6" name="Image 0" descr="preencoded.png"/>
          <p:cNvPicPr>
            <a:picLocks noChangeAspect="1"/>
          </p:cNvPicPr>
          <p:nvPr/>
        </p:nvPicPr>
        <p:blipFill>
          <a:blip r:embed="rId3"/>
          <a:stretch>
            <a:fillRect/>
          </a:stretch>
        </p:blipFill>
        <p:spPr>
          <a:xfrm>
            <a:off x="2249424" y="2322576"/>
            <a:ext cx="182880" cy="201168"/>
          </a:xfrm>
          <a:prstGeom prst="rect">
            <a:avLst/>
          </a:prstGeom>
        </p:spPr>
      </p:pic>
      <p:sp>
        <p:nvSpPr>
          <p:cNvPr id="7" name="Shape 4"/>
          <p:cNvSpPr/>
          <p:nvPr/>
        </p:nvSpPr>
        <p:spPr>
          <a:xfrm>
            <a:off x="2423160" y="1965960"/>
            <a:ext cx="1600200" cy="914400"/>
          </a:xfrm>
          <a:prstGeom prst="roundRect">
            <a:avLst>
              <a:gd name="adj" fmla="val 7000"/>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8" name="Text 5"/>
          <p:cNvSpPr/>
          <p:nvPr/>
        </p:nvSpPr>
        <p:spPr>
          <a:xfrm>
            <a:off x="2468880" y="1965960"/>
            <a:ext cx="1508760" cy="914400"/>
          </a:xfrm>
          <a:prstGeom prst="rect">
            <a:avLst/>
          </a:prstGeom>
          <a:noFill/>
          <a:ln/>
        </p:spPr>
        <p:txBody>
          <a:bodyPr wrap="square" lIns="0" tIns="0" rIns="0" bIns="0" rtlCol="0" anchor="ctr"/>
          <a:lstStyle/>
          <a:p>
            <a:pPr marL="0" indent="0" algn="ctr">
              <a:buNone/>
            </a:pPr>
            <a:r>
              <a:rPr lang="en-US" sz="1150" b="1" dirty="0">
                <a:solidFill>
                  <a:srgbClr val="16233B"/>
                </a:solidFill>
                <a:latin typeface="Calibri" pitchFamily="34" charset="0"/>
                <a:ea typeface="Calibri" pitchFamily="34" charset="-122"/>
                <a:cs typeface="Calibri" pitchFamily="34" charset="-120"/>
              </a:rPr>
              <a:t>Conv + Pool</a:t>
            </a:r>
            <a:endParaRPr lang="en-US" sz="1150" dirty="0"/>
          </a:p>
        </p:txBody>
      </p:sp>
      <p:pic>
        <p:nvPicPr>
          <p:cNvPr id="9" name="Image 1" descr="preencoded.png"/>
          <p:cNvPicPr>
            <a:picLocks noChangeAspect="1"/>
          </p:cNvPicPr>
          <p:nvPr/>
        </p:nvPicPr>
        <p:blipFill>
          <a:blip r:embed="rId3"/>
          <a:stretch>
            <a:fillRect/>
          </a:stretch>
        </p:blipFill>
        <p:spPr>
          <a:xfrm>
            <a:off x="4032504" y="2322576"/>
            <a:ext cx="182880" cy="201168"/>
          </a:xfrm>
          <a:prstGeom prst="rect">
            <a:avLst/>
          </a:prstGeom>
        </p:spPr>
      </p:pic>
      <p:sp>
        <p:nvSpPr>
          <p:cNvPr id="10" name="Shape 6"/>
          <p:cNvSpPr/>
          <p:nvPr/>
        </p:nvSpPr>
        <p:spPr>
          <a:xfrm>
            <a:off x="4206240" y="1965960"/>
            <a:ext cx="1600200" cy="914400"/>
          </a:xfrm>
          <a:prstGeom prst="roundRect">
            <a:avLst>
              <a:gd name="adj" fmla="val 7000"/>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11" name="Text 7"/>
          <p:cNvSpPr/>
          <p:nvPr/>
        </p:nvSpPr>
        <p:spPr>
          <a:xfrm>
            <a:off x="4251960" y="1965960"/>
            <a:ext cx="1508760" cy="914400"/>
          </a:xfrm>
          <a:prstGeom prst="rect">
            <a:avLst/>
          </a:prstGeom>
          <a:noFill/>
          <a:ln/>
        </p:spPr>
        <p:txBody>
          <a:bodyPr wrap="square" lIns="0" tIns="0" rIns="0" bIns="0" rtlCol="0" anchor="ctr"/>
          <a:lstStyle/>
          <a:p>
            <a:pPr marL="0" indent="0" algn="ctr">
              <a:buNone/>
            </a:pPr>
            <a:r>
              <a:rPr lang="en-US" sz="1150" b="1" dirty="0">
                <a:solidFill>
                  <a:srgbClr val="16233B"/>
                </a:solidFill>
                <a:latin typeface="Calibri" pitchFamily="34" charset="0"/>
                <a:ea typeface="Calibri" pitchFamily="34" charset="-122"/>
                <a:cs typeface="Calibri" pitchFamily="34" charset="-120"/>
              </a:rPr>
              <a:t>Conv + Pool</a:t>
            </a:r>
            <a:endParaRPr lang="en-US" sz="1150" dirty="0"/>
          </a:p>
        </p:txBody>
      </p:sp>
      <p:pic>
        <p:nvPicPr>
          <p:cNvPr id="12" name="Image 2" descr="preencoded.png"/>
          <p:cNvPicPr>
            <a:picLocks noChangeAspect="1"/>
          </p:cNvPicPr>
          <p:nvPr/>
        </p:nvPicPr>
        <p:blipFill>
          <a:blip r:embed="rId3"/>
          <a:stretch>
            <a:fillRect/>
          </a:stretch>
        </p:blipFill>
        <p:spPr>
          <a:xfrm>
            <a:off x="5815584" y="2322576"/>
            <a:ext cx="182880" cy="201168"/>
          </a:xfrm>
          <a:prstGeom prst="rect">
            <a:avLst/>
          </a:prstGeom>
        </p:spPr>
      </p:pic>
      <p:sp>
        <p:nvSpPr>
          <p:cNvPr id="13" name="Shape 8"/>
          <p:cNvSpPr/>
          <p:nvPr/>
        </p:nvSpPr>
        <p:spPr>
          <a:xfrm>
            <a:off x="5989320" y="1965960"/>
            <a:ext cx="1600200" cy="914400"/>
          </a:xfrm>
          <a:prstGeom prst="roundRect">
            <a:avLst>
              <a:gd name="adj" fmla="val 7000"/>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14" name="Text 9"/>
          <p:cNvSpPr/>
          <p:nvPr/>
        </p:nvSpPr>
        <p:spPr>
          <a:xfrm>
            <a:off x="6035040" y="1965960"/>
            <a:ext cx="1508760" cy="914400"/>
          </a:xfrm>
          <a:prstGeom prst="rect">
            <a:avLst/>
          </a:prstGeom>
          <a:noFill/>
          <a:ln/>
        </p:spPr>
        <p:txBody>
          <a:bodyPr wrap="square" lIns="0" tIns="0" rIns="0" bIns="0" rtlCol="0" anchor="ctr"/>
          <a:lstStyle/>
          <a:p>
            <a:pPr marL="0" indent="0" algn="ctr">
              <a:buNone/>
            </a:pPr>
            <a:r>
              <a:rPr lang="en-US" sz="1150" b="1" dirty="0">
                <a:solidFill>
                  <a:srgbClr val="16233B"/>
                </a:solidFill>
                <a:latin typeface="Calibri" pitchFamily="34" charset="0"/>
                <a:ea typeface="Calibri" pitchFamily="34" charset="-122"/>
                <a:cs typeface="Calibri" pitchFamily="34" charset="-120"/>
              </a:rPr>
              <a:t>Conv + Pool</a:t>
            </a:r>
            <a:endParaRPr lang="en-US" sz="1150" dirty="0"/>
          </a:p>
        </p:txBody>
      </p:sp>
      <p:pic>
        <p:nvPicPr>
          <p:cNvPr id="15" name="Image 3" descr="preencoded.png"/>
          <p:cNvPicPr>
            <a:picLocks noChangeAspect="1"/>
          </p:cNvPicPr>
          <p:nvPr/>
        </p:nvPicPr>
        <p:blipFill>
          <a:blip r:embed="rId3"/>
          <a:stretch>
            <a:fillRect/>
          </a:stretch>
        </p:blipFill>
        <p:spPr>
          <a:xfrm>
            <a:off x="7598664" y="2322576"/>
            <a:ext cx="182880" cy="201168"/>
          </a:xfrm>
          <a:prstGeom prst="rect">
            <a:avLst/>
          </a:prstGeom>
        </p:spPr>
      </p:pic>
      <p:sp>
        <p:nvSpPr>
          <p:cNvPr id="16" name="Shape 10"/>
          <p:cNvSpPr/>
          <p:nvPr/>
        </p:nvSpPr>
        <p:spPr>
          <a:xfrm>
            <a:off x="7772400" y="1965960"/>
            <a:ext cx="1600200" cy="914400"/>
          </a:xfrm>
          <a:prstGeom prst="roundRect">
            <a:avLst>
              <a:gd name="adj" fmla="val 7000"/>
            </a:avLst>
          </a:prstGeom>
          <a:solidFill>
            <a:srgbClr val="CFE3F2"/>
          </a:solidFill>
          <a:ln/>
          <a:effectLst>
            <a:outerShdw blurRad="101600" dist="38100" dir="5400000" algn="bl" rotWithShape="0">
              <a:srgbClr val="0A1A33">
                <a:alpha val="12000"/>
              </a:srgbClr>
            </a:outerShdw>
          </a:effectLst>
        </p:spPr>
        <p:txBody>
          <a:bodyPr/>
          <a:lstStyle/>
          <a:p>
            <a:endParaRPr lang="en-US"/>
          </a:p>
        </p:txBody>
      </p:sp>
      <p:sp>
        <p:nvSpPr>
          <p:cNvPr id="17" name="Text 11"/>
          <p:cNvSpPr/>
          <p:nvPr/>
        </p:nvSpPr>
        <p:spPr>
          <a:xfrm>
            <a:off x="7818120" y="1965960"/>
            <a:ext cx="1508760" cy="914400"/>
          </a:xfrm>
          <a:prstGeom prst="rect">
            <a:avLst/>
          </a:prstGeom>
          <a:noFill/>
          <a:ln/>
        </p:spPr>
        <p:txBody>
          <a:bodyPr wrap="square" lIns="0" tIns="0" rIns="0" bIns="0" rtlCol="0" anchor="ctr"/>
          <a:lstStyle/>
          <a:p>
            <a:pPr marL="0" indent="0" algn="ctr">
              <a:buNone/>
            </a:pPr>
            <a:r>
              <a:rPr lang="en-US" sz="1150" b="1" dirty="0">
                <a:solidFill>
                  <a:srgbClr val="16233B"/>
                </a:solidFill>
                <a:latin typeface="Calibri" pitchFamily="34" charset="0"/>
                <a:ea typeface="Calibri" pitchFamily="34" charset="-122"/>
                <a:cs typeface="Calibri" pitchFamily="34" charset="-120"/>
              </a:rPr>
              <a:t>Dense Layers</a:t>
            </a:r>
            <a:endParaRPr lang="en-US" sz="1150" dirty="0"/>
          </a:p>
        </p:txBody>
      </p:sp>
      <p:pic>
        <p:nvPicPr>
          <p:cNvPr id="18" name="Image 4" descr="preencoded.png"/>
          <p:cNvPicPr>
            <a:picLocks noChangeAspect="1"/>
          </p:cNvPicPr>
          <p:nvPr/>
        </p:nvPicPr>
        <p:blipFill>
          <a:blip r:embed="rId3"/>
          <a:stretch>
            <a:fillRect/>
          </a:stretch>
        </p:blipFill>
        <p:spPr>
          <a:xfrm>
            <a:off x="9381744" y="2322576"/>
            <a:ext cx="182880" cy="201168"/>
          </a:xfrm>
          <a:prstGeom prst="rect">
            <a:avLst/>
          </a:prstGeom>
        </p:spPr>
      </p:pic>
      <p:sp>
        <p:nvSpPr>
          <p:cNvPr id="19" name="Shape 12"/>
          <p:cNvSpPr/>
          <p:nvPr/>
        </p:nvSpPr>
        <p:spPr>
          <a:xfrm>
            <a:off x="9555480" y="1965960"/>
            <a:ext cx="1600200" cy="914400"/>
          </a:xfrm>
          <a:prstGeom prst="roundRect">
            <a:avLst>
              <a:gd name="adj" fmla="val 7000"/>
            </a:avLst>
          </a:prstGeom>
          <a:solidFill>
            <a:srgbClr val="0A1A33"/>
          </a:solidFill>
          <a:ln/>
          <a:effectLst>
            <a:outerShdw blurRad="101600" dist="38100" dir="5400000" algn="bl" rotWithShape="0">
              <a:srgbClr val="0A1A33">
                <a:alpha val="12000"/>
              </a:srgbClr>
            </a:outerShdw>
          </a:effectLst>
        </p:spPr>
        <p:txBody>
          <a:bodyPr/>
          <a:lstStyle/>
          <a:p>
            <a:endParaRPr lang="en-US"/>
          </a:p>
        </p:txBody>
      </p:sp>
      <p:sp>
        <p:nvSpPr>
          <p:cNvPr id="20" name="Text 13"/>
          <p:cNvSpPr/>
          <p:nvPr/>
        </p:nvSpPr>
        <p:spPr>
          <a:xfrm>
            <a:off x="9601200" y="1965960"/>
            <a:ext cx="1508760" cy="91440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4-Class Output</a:t>
            </a:r>
            <a:endParaRPr lang="en-US" sz="1150" dirty="0"/>
          </a:p>
        </p:txBody>
      </p:sp>
      <p:sp>
        <p:nvSpPr>
          <p:cNvPr id="21" name="Text 14"/>
          <p:cNvSpPr/>
          <p:nvPr/>
        </p:nvSpPr>
        <p:spPr>
          <a:xfrm>
            <a:off x="640080" y="3017520"/>
            <a:ext cx="10881360" cy="365760"/>
          </a:xfrm>
          <a:prstGeom prst="rect">
            <a:avLst/>
          </a:prstGeom>
          <a:noFill/>
          <a:ln/>
        </p:spPr>
        <p:txBody>
          <a:bodyPr wrap="square" lIns="0" tIns="0" rIns="0" bIns="0" rtlCol="0" anchor="ctr"/>
          <a:lstStyle/>
          <a:p>
            <a:pPr marL="0" indent="0" algn="ctr">
              <a:buNone/>
            </a:pPr>
            <a:r>
              <a:rPr lang="en-US" sz="1250" i="1" dirty="0">
                <a:solidFill>
                  <a:srgbClr val="5B6B82"/>
                </a:solidFill>
                <a:latin typeface="Calibri" pitchFamily="34" charset="0"/>
                <a:ea typeface="Calibri" pitchFamily="34" charset="-122"/>
                <a:cs typeface="Calibri" pitchFamily="34" charset="-120"/>
              </a:rPr>
              <a:t>Edges  →  Textures  →  Tumour-shaped patterns  →  Final decision</a:t>
            </a:r>
            <a:endParaRPr lang="en-US" sz="1250" dirty="0"/>
          </a:p>
        </p:txBody>
      </p:sp>
      <p:sp>
        <p:nvSpPr>
          <p:cNvPr id="22" name="Shape 15"/>
          <p:cNvSpPr/>
          <p:nvPr/>
        </p:nvSpPr>
        <p:spPr>
          <a:xfrm>
            <a:off x="640080" y="3794760"/>
            <a:ext cx="3291840" cy="2148840"/>
          </a:xfrm>
          <a:prstGeom prst="roundRect">
            <a:avLst>
              <a:gd name="adj" fmla="val 3404"/>
            </a:avLst>
          </a:prstGeom>
          <a:solidFill>
            <a:srgbClr val="0A1A33"/>
          </a:solidFill>
          <a:ln/>
          <a:effectLst>
            <a:outerShdw blurRad="101600" dist="38100" dir="5400000" algn="bl" rotWithShape="0">
              <a:srgbClr val="0A1A33">
                <a:alpha val="12000"/>
              </a:srgbClr>
            </a:outerShdw>
          </a:effectLst>
        </p:spPr>
        <p:txBody>
          <a:bodyPr/>
          <a:lstStyle/>
          <a:p>
            <a:endParaRPr lang="en-US"/>
          </a:p>
        </p:txBody>
      </p:sp>
      <p:sp>
        <p:nvSpPr>
          <p:cNvPr id="23" name="Text 16"/>
          <p:cNvSpPr/>
          <p:nvPr/>
        </p:nvSpPr>
        <p:spPr>
          <a:xfrm>
            <a:off x="640080" y="4069080"/>
            <a:ext cx="3291840" cy="822960"/>
          </a:xfrm>
          <a:prstGeom prst="rect">
            <a:avLst/>
          </a:prstGeom>
          <a:noFill/>
          <a:ln/>
        </p:spPr>
        <p:txBody>
          <a:bodyPr wrap="square" lIns="0" tIns="0" rIns="0" bIns="0" rtlCol="0" anchor="ctr"/>
          <a:lstStyle/>
          <a:p>
            <a:pPr marL="0" indent="0" algn="ctr">
              <a:buNone/>
            </a:pPr>
            <a:r>
              <a:rPr lang="en-US" sz="3800" b="1" dirty="0">
                <a:solidFill>
                  <a:srgbClr val="1FBFAE"/>
                </a:solidFill>
                <a:latin typeface="Cambria" pitchFamily="34" charset="0"/>
                <a:ea typeface="Cambria" pitchFamily="34" charset="-122"/>
                <a:cs typeface="Cambria" pitchFamily="34" charset="-120"/>
              </a:rPr>
              <a:t>91–94%</a:t>
            </a:r>
            <a:endParaRPr lang="en-US" sz="3800" dirty="0"/>
          </a:p>
        </p:txBody>
      </p:sp>
      <p:sp>
        <p:nvSpPr>
          <p:cNvPr id="24" name="Text 17"/>
          <p:cNvSpPr/>
          <p:nvPr/>
        </p:nvSpPr>
        <p:spPr>
          <a:xfrm>
            <a:off x="822960" y="4892040"/>
            <a:ext cx="2926080" cy="731520"/>
          </a:xfrm>
          <a:prstGeom prst="rect">
            <a:avLst/>
          </a:prstGeom>
          <a:noFill/>
          <a:ln/>
        </p:spPr>
        <p:txBody>
          <a:bodyPr wrap="square" lIns="0" tIns="0" rIns="0" bIns="0" rtlCol="0" anchor="ctr"/>
          <a:lstStyle/>
          <a:p>
            <a:pPr marL="0" indent="0" algn="ctr">
              <a:buNone/>
            </a:pPr>
            <a:r>
              <a:rPr lang="en-US" sz="1250" dirty="0">
                <a:solidFill>
                  <a:srgbClr val="CFE3F2"/>
                </a:solidFill>
                <a:latin typeface="Calibri" pitchFamily="34" charset="0"/>
                <a:ea typeface="Calibri" pitchFamily="34" charset="-122"/>
                <a:cs typeface="Calibri" pitchFamily="34" charset="-120"/>
              </a:rPr>
              <a:t>Test accuracy - best single model</a:t>
            </a:r>
            <a:endParaRPr lang="en-US" sz="1250" dirty="0"/>
          </a:p>
        </p:txBody>
      </p:sp>
      <p:sp>
        <p:nvSpPr>
          <p:cNvPr id="25" name="Shape 18"/>
          <p:cNvSpPr/>
          <p:nvPr/>
        </p:nvSpPr>
        <p:spPr>
          <a:xfrm>
            <a:off x="4160520" y="3794760"/>
            <a:ext cx="7360920" cy="2148840"/>
          </a:xfrm>
          <a:prstGeom prst="roundRect">
            <a:avLst>
              <a:gd name="adj" fmla="val 3404"/>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26" name="Shape 19"/>
          <p:cNvSpPr/>
          <p:nvPr/>
        </p:nvSpPr>
        <p:spPr>
          <a:xfrm>
            <a:off x="4434840" y="4023360"/>
            <a:ext cx="548640" cy="548640"/>
          </a:xfrm>
          <a:prstGeom prst="ellipse">
            <a:avLst/>
          </a:prstGeom>
          <a:solidFill>
            <a:srgbClr val="FBECEC"/>
          </a:solidFill>
          <a:ln/>
        </p:spPr>
        <p:txBody>
          <a:bodyPr/>
          <a:lstStyle/>
          <a:p>
            <a:endParaRPr lang="en-US"/>
          </a:p>
        </p:txBody>
      </p:sp>
      <p:pic>
        <p:nvPicPr>
          <p:cNvPr id="27" name="Image 5" descr="preencoded.png"/>
          <p:cNvPicPr>
            <a:picLocks noChangeAspect="1"/>
          </p:cNvPicPr>
          <p:nvPr/>
        </p:nvPicPr>
        <p:blipFill>
          <a:blip r:embed="rId4"/>
          <a:stretch>
            <a:fillRect/>
          </a:stretch>
        </p:blipFill>
        <p:spPr>
          <a:xfrm>
            <a:off x="4577486" y="4166006"/>
            <a:ext cx="263347" cy="263347"/>
          </a:xfrm>
          <a:prstGeom prst="rect">
            <a:avLst/>
          </a:prstGeom>
        </p:spPr>
      </p:pic>
      <p:sp>
        <p:nvSpPr>
          <p:cNvPr id="28" name="Text 20"/>
          <p:cNvSpPr/>
          <p:nvPr/>
        </p:nvSpPr>
        <p:spPr>
          <a:xfrm>
            <a:off x="5120640" y="4041648"/>
            <a:ext cx="6217920" cy="365760"/>
          </a:xfrm>
          <a:prstGeom prst="rect">
            <a:avLst/>
          </a:prstGeom>
          <a:noFill/>
          <a:ln/>
        </p:spPr>
        <p:txBody>
          <a:bodyPr wrap="square" lIns="0" tIns="0" rIns="0" bIns="0" rtlCol="0" anchor="ctr"/>
          <a:lstStyle/>
          <a:p>
            <a:pPr marL="0" indent="0">
              <a:buNone/>
            </a:pPr>
            <a:r>
              <a:rPr lang="en-US" sz="1500" b="1" dirty="0">
                <a:solidFill>
                  <a:srgbClr val="16233B"/>
                </a:solidFill>
                <a:latin typeface="Calibri" pitchFamily="34" charset="0"/>
                <a:ea typeface="Calibri" pitchFamily="34" charset="-122"/>
                <a:cs typeface="Calibri" pitchFamily="34" charset="-120"/>
              </a:rPr>
              <a:t>Good - but it's one architecture's opinion</a:t>
            </a:r>
            <a:endParaRPr lang="en-US" sz="1500" dirty="0"/>
          </a:p>
        </p:txBody>
      </p:sp>
      <p:sp>
        <p:nvSpPr>
          <p:cNvPr id="29" name="Text 21"/>
          <p:cNvSpPr/>
          <p:nvPr/>
        </p:nvSpPr>
        <p:spPr>
          <a:xfrm>
            <a:off x="4434840" y="4617720"/>
            <a:ext cx="6858000" cy="1188720"/>
          </a:xfrm>
          <a:prstGeom prst="rect">
            <a:avLst/>
          </a:prstGeom>
          <a:noFill/>
          <a:ln/>
        </p:spPr>
        <p:txBody>
          <a:bodyPr wrap="square" lIns="0" tIns="0" rIns="0" bIns="0" rtlCol="0" anchor="ctr"/>
          <a:lstStyle/>
          <a:p>
            <a:pPr marL="0" indent="0">
              <a:lnSpc>
                <a:spcPct val="120000"/>
              </a:lnSpc>
              <a:buNone/>
            </a:pPr>
            <a:r>
              <a:rPr lang="en-US" sz="1300" dirty="0">
                <a:solidFill>
                  <a:srgbClr val="5B6B82"/>
                </a:solidFill>
                <a:latin typeface="Calibri" pitchFamily="34" charset="0"/>
                <a:ea typeface="Calibri" pitchFamily="34" charset="-122"/>
                <a:cs typeface="Calibri" pitchFamily="34" charset="-120"/>
              </a:rPr>
              <a:t>Training showed overfitting after roughly ten epochs. A single model inherits its own blind spots — this motivates moving to transfer learning and an ensemble of diverse architectures.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9FC"/>
        </a:solidFill>
        <a:effectLst/>
      </p:bgPr>
    </p:bg>
    <p:spTree>
      <p:nvGrpSpPr>
        <p:cNvPr id="1" name=""/>
        <p:cNvGrpSpPr/>
        <p:nvPr/>
      </p:nvGrpSpPr>
      <p:grpSpPr>
        <a:xfrm>
          <a:off x="0" y="0"/>
          <a:ext cx="0" cy="0"/>
          <a:chOff x="0" y="0"/>
          <a:chExt cx="0" cy="0"/>
        </a:xfrm>
      </p:grpSpPr>
      <p:sp>
        <p:nvSpPr>
          <p:cNvPr id="2" name="Text 0"/>
          <p:cNvSpPr/>
          <p:nvPr/>
        </p:nvSpPr>
        <p:spPr>
          <a:xfrm>
            <a:off x="640080" y="411480"/>
            <a:ext cx="10058400" cy="640080"/>
          </a:xfrm>
          <a:prstGeom prst="rect">
            <a:avLst/>
          </a:prstGeom>
          <a:noFill/>
          <a:ln/>
        </p:spPr>
        <p:txBody>
          <a:bodyPr wrap="square" lIns="0" tIns="0" rIns="0" bIns="0" rtlCol="0" anchor="ctr"/>
          <a:lstStyle/>
          <a:p>
            <a:pPr marL="0" indent="0">
              <a:buNone/>
            </a:pPr>
            <a:r>
              <a:rPr lang="en-US" sz="2800" b="1" dirty="0">
                <a:solidFill>
                  <a:srgbClr val="16233B"/>
                </a:solidFill>
                <a:latin typeface="Cambria" pitchFamily="34" charset="0"/>
                <a:ea typeface="Cambria" pitchFamily="34" charset="-122"/>
                <a:cs typeface="Cambria" pitchFamily="34" charset="-120"/>
              </a:rPr>
              <a:t>Why Xception and InceptionV3?</a:t>
            </a:r>
            <a:endParaRPr lang="en-US" sz="2800" dirty="0"/>
          </a:p>
        </p:txBody>
      </p:sp>
      <p:sp>
        <p:nvSpPr>
          <p:cNvPr id="3" name="Text 1"/>
          <p:cNvSpPr/>
          <p:nvPr/>
        </p:nvSpPr>
        <p:spPr>
          <a:xfrm>
            <a:off x="640080" y="932688"/>
            <a:ext cx="10058400" cy="365760"/>
          </a:xfrm>
          <a:prstGeom prst="rect">
            <a:avLst/>
          </a:prstGeom>
          <a:noFill/>
          <a:ln/>
        </p:spPr>
        <p:txBody>
          <a:bodyPr wrap="square" lIns="0" tIns="0" rIns="0" bIns="0" rtlCol="0" anchor="ctr"/>
          <a:lstStyle/>
          <a:p>
            <a:pPr marL="0" indent="0">
              <a:buNone/>
            </a:pPr>
            <a:r>
              <a:rPr lang="en-US" sz="1400" dirty="0">
                <a:solidFill>
                  <a:srgbClr val="5B6B82"/>
                </a:solidFill>
                <a:latin typeface="Calibri" pitchFamily="34" charset="0"/>
                <a:ea typeface="Calibri" pitchFamily="34" charset="-122"/>
                <a:cs typeface="Calibri" pitchFamily="34" charset="-120"/>
              </a:rPr>
              <a:t>Two reasons: transfer learning, and architectural diversity</a:t>
            </a:r>
            <a:endParaRPr lang="en-US" sz="1400" dirty="0"/>
          </a:p>
        </p:txBody>
      </p:sp>
      <p:sp>
        <p:nvSpPr>
          <p:cNvPr id="4" name="Shape 2"/>
          <p:cNvSpPr/>
          <p:nvPr/>
        </p:nvSpPr>
        <p:spPr>
          <a:xfrm>
            <a:off x="640080" y="1463040"/>
            <a:ext cx="10881360" cy="1051560"/>
          </a:xfrm>
          <a:prstGeom prst="roundRect">
            <a:avLst>
              <a:gd name="adj" fmla="val 6957"/>
            </a:avLst>
          </a:prstGeom>
          <a:solidFill>
            <a:srgbClr val="0A1A33"/>
          </a:solidFill>
          <a:ln/>
          <a:effectLst>
            <a:outerShdw blurRad="101600" dist="38100" dir="5400000" algn="bl" rotWithShape="0">
              <a:srgbClr val="0A1A33">
                <a:alpha val="12000"/>
              </a:srgbClr>
            </a:outerShdw>
          </a:effectLst>
        </p:spPr>
        <p:txBody>
          <a:bodyPr/>
          <a:lstStyle/>
          <a:p>
            <a:endParaRPr lang="en-US"/>
          </a:p>
        </p:txBody>
      </p:sp>
      <p:sp>
        <p:nvSpPr>
          <p:cNvPr id="5" name="Shape 3"/>
          <p:cNvSpPr/>
          <p:nvPr/>
        </p:nvSpPr>
        <p:spPr>
          <a:xfrm>
            <a:off x="868680" y="1627632"/>
            <a:ext cx="713232" cy="713232"/>
          </a:xfrm>
          <a:prstGeom prst="ellipse">
            <a:avLst/>
          </a:prstGeom>
          <a:solidFill>
            <a:srgbClr val="0E7C72"/>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054120" y="1813072"/>
            <a:ext cx="342351" cy="342351"/>
          </a:xfrm>
          <a:prstGeom prst="rect">
            <a:avLst/>
          </a:prstGeom>
        </p:spPr>
      </p:pic>
      <p:sp>
        <p:nvSpPr>
          <p:cNvPr id="7" name="Text 4"/>
          <p:cNvSpPr/>
          <p:nvPr/>
        </p:nvSpPr>
        <p:spPr>
          <a:xfrm>
            <a:off x="1737360" y="1536192"/>
            <a:ext cx="9601200" cy="868680"/>
          </a:xfrm>
          <a:prstGeom prst="rect">
            <a:avLst/>
          </a:prstGeom>
          <a:noFill/>
          <a:ln/>
        </p:spPr>
        <p:txBody>
          <a:bodyPr wrap="square" lIns="0" tIns="0" rIns="0" bIns="0" rtlCol="0" anchor="ctr"/>
          <a:lstStyle/>
          <a:p>
            <a:pPr marL="0" indent="0">
              <a:lnSpc>
                <a:spcPct val="115000"/>
              </a:lnSpc>
              <a:buNone/>
            </a:pPr>
            <a:r>
              <a:rPr lang="en-US" sz="1300" b="1" dirty="0">
                <a:solidFill>
                  <a:srgbClr val="1FBFAE"/>
                </a:solidFill>
                <a:latin typeface="Calibri" pitchFamily="34" charset="0"/>
                <a:ea typeface="Calibri" pitchFamily="34" charset="-122"/>
                <a:cs typeface="Calibri" pitchFamily="34" charset="-120"/>
              </a:rPr>
              <a:t>Transfer learning: </a:t>
            </a:r>
            <a:r>
              <a:rPr lang="en-US" sz="1300" dirty="0">
                <a:solidFill>
                  <a:srgbClr val="CFE3F2"/>
                </a:solidFill>
                <a:latin typeface="Calibri" pitchFamily="34" charset="0"/>
                <a:ea typeface="Calibri" pitchFamily="34" charset="-122"/>
                <a:cs typeface="Calibri" pitchFamily="34" charset="-120"/>
              </a:rPr>
              <a:t>both were pretrained on 1M+ ImageNet photos, already knowing edges, curves, textures and shapes. A tumour is still edges, textures and shapes - so pretrained layers are frozen, and only a small new head is trained on ~7,000 MRIs.</a:t>
            </a:r>
            <a:endParaRPr lang="en-US" sz="1300" dirty="0"/>
          </a:p>
        </p:txBody>
      </p:sp>
      <p:sp>
        <p:nvSpPr>
          <p:cNvPr id="8" name="Shape 5"/>
          <p:cNvSpPr/>
          <p:nvPr/>
        </p:nvSpPr>
        <p:spPr>
          <a:xfrm>
            <a:off x="640080" y="2697480"/>
            <a:ext cx="5257800" cy="2148840"/>
          </a:xfrm>
          <a:prstGeom prst="roundRect">
            <a:avLst>
              <a:gd name="adj" fmla="val 3404"/>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9" name="Shape 6"/>
          <p:cNvSpPr/>
          <p:nvPr/>
        </p:nvSpPr>
        <p:spPr>
          <a:xfrm>
            <a:off x="868680" y="2926080"/>
            <a:ext cx="548640" cy="548640"/>
          </a:xfrm>
          <a:prstGeom prst="ellipse">
            <a:avLst/>
          </a:prstGeom>
          <a:solidFill>
            <a:srgbClr val="CFE3F2"/>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1011326" y="3068726"/>
            <a:ext cx="263347" cy="263347"/>
          </a:xfrm>
          <a:prstGeom prst="rect">
            <a:avLst/>
          </a:prstGeom>
        </p:spPr>
      </p:pic>
      <p:sp>
        <p:nvSpPr>
          <p:cNvPr id="11" name="Text 7"/>
          <p:cNvSpPr/>
          <p:nvPr/>
        </p:nvSpPr>
        <p:spPr>
          <a:xfrm>
            <a:off x="1554480" y="2926080"/>
            <a:ext cx="4114800" cy="457200"/>
          </a:xfrm>
          <a:prstGeom prst="rect">
            <a:avLst/>
          </a:prstGeom>
          <a:noFill/>
          <a:ln/>
        </p:spPr>
        <p:txBody>
          <a:bodyPr wrap="square" lIns="0" tIns="0" rIns="0" bIns="0" rtlCol="0" anchor="ctr"/>
          <a:lstStyle/>
          <a:p>
            <a:pPr marL="0" indent="0">
              <a:buNone/>
            </a:pPr>
            <a:r>
              <a:rPr lang="en-US" sz="1700" b="1" dirty="0">
                <a:solidFill>
                  <a:srgbClr val="16233B"/>
                </a:solidFill>
                <a:latin typeface="Calibri" pitchFamily="34" charset="0"/>
                <a:ea typeface="Calibri" pitchFamily="34" charset="-122"/>
                <a:cs typeface="Calibri" pitchFamily="34" charset="-120"/>
              </a:rPr>
              <a:t>InceptionV3</a:t>
            </a:r>
            <a:endParaRPr lang="en-US" sz="1700" dirty="0"/>
          </a:p>
        </p:txBody>
      </p:sp>
      <p:sp>
        <p:nvSpPr>
          <p:cNvPr id="12" name="Text 8"/>
          <p:cNvSpPr/>
          <p:nvPr/>
        </p:nvSpPr>
        <p:spPr>
          <a:xfrm>
            <a:off x="868680" y="3566160"/>
            <a:ext cx="4800600" cy="1143000"/>
          </a:xfrm>
          <a:prstGeom prst="rect">
            <a:avLst/>
          </a:prstGeom>
          <a:noFill/>
          <a:ln/>
        </p:spPr>
        <p:txBody>
          <a:bodyPr wrap="square" lIns="0" tIns="0" rIns="0" bIns="0" rtlCol="0" anchor="ctr"/>
          <a:lstStyle/>
          <a:p>
            <a:pPr marL="0" indent="0">
              <a:lnSpc>
                <a:spcPct val="120000"/>
              </a:lnSpc>
              <a:buNone/>
            </a:pPr>
            <a:r>
              <a:rPr lang="en-US" sz="1300" dirty="0">
                <a:solidFill>
                  <a:srgbClr val="5B6B82"/>
                </a:solidFill>
                <a:latin typeface="Calibri" pitchFamily="34" charset="0"/>
                <a:ea typeface="Calibri" pitchFamily="34" charset="-122"/>
                <a:cs typeface="Calibri" pitchFamily="34" charset="-120"/>
              </a:rPr>
              <a:t>Looks at each region with several filter sizes in parallel - capturing tiny detail and larger structure at once.</a:t>
            </a:r>
            <a:endParaRPr lang="en-US" sz="1300" dirty="0"/>
          </a:p>
        </p:txBody>
      </p:sp>
      <p:sp>
        <p:nvSpPr>
          <p:cNvPr id="13" name="Shape 9"/>
          <p:cNvSpPr/>
          <p:nvPr/>
        </p:nvSpPr>
        <p:spPr>
          <a:xfrm>
            <a:off x="6263640" y="2697480"/>
            <a:ext cx="5257800" cy="2148840"/>
          </a:xfrm>
          <a:prstGeom prst="roundRect">
            <a:avLst>
              <a:gd name="adj" fmla="val 3404"/>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14" name="Shape 10"/>
          <p:cNvSpPr/>
          <p:nvPr/>
        </p:nvSpPr>
        <p:spPr>
          <a:xfrm>
            <a:off x="6492240" y="2926080"/>
            <a:ext cx="548640" cy="548640"/>
          </a:xfrm>
          <a:prstGeom prst="ellipse">
            <a:avLst/>
          </a:prstGeom>
          <a:solidFill>
            <a:srgbClr val="CFE3F2"/>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6634886" y="3068726"/>
            <a:ext cx="263347" cy="263347"/>
          </a:xfrm>
          <a:prstGeom prst="rect">
            <a:avLst/>
          </a:prstGeom>
        </p:spPr>
      </p:pic>
      <p:sp>
        <p:nvSpPr>
          <p:cNvPr id="16" name="Text 11"/>
          <p:cNvSpPr/>
          <p:nvPr/>
        </p:nvSpPr>
        <p:spPr>
          <a:xfrm>
            <a:off x="7178040" y="2926080"/>
            <a:ext cx="4114800" cy="457200"/>
          </a:xfrm>
          <a:prstGeom prst="rect">
            <a:avLst/>
          </a:prstGeom>
          <a:noFill/>
          <a:ln/>
        </p:spPr>
        <p:txBody>
          <a:bodyPr wrap="square" lIns="0" tIns="0" rIns="0" bIns="0" rtlCol="0" anchor="ctr"/>
          <a:lstStyle/>
          <a:p>
            <a:pPr marL="0" indent="0">
              <a:buNone/>
            </a:pPr>
            <a:r>
              <a:rPr lang="en-US" sz="1700" b="1" dirty="0">
                <a:solidFill>
                  <a:srgbClr val="16233B"/>
                </a:solidFill>
                <a:latin typeface="Calibri" pitchFamily="34" charset="0"/>
                <a:ea typeface="Calibri" pitchFamily="34" charset="-122"/>
                <a:cs typeface="Calibri" pitchFamily="34" charset="-120"/>
              </a:rPr>
              <a:t>Xception</a:t>
            </a:r>
            <a:endParaRPr lang="en-US" sz="1700" dirty="0"/>
          </a:p>
        </p:txBody>
      </p:sp>
      <p:sp>
        <p:nvSpPr>
          <p:cNvPr id="17" name="Text 12"/>
          <p:cNvSpPr/>
          <p:nvPr/>
        </p:nvSpPr>
        <p:spPr>
          <a:xfrm>
            <a:off x="6492240" y="3566160"/>
            <a:ext cx="4800600" cy="1143000"/>
          </a:xfrm>
          <a:prstGeom prst="rect">
            <a:avLst/>
          </a:prstGeom>
          <a:noFill/>
          <a:ln/>
        </p:spPr>
        <p:txBody>
          <a:bodyPr wrap="square" lIns="0" tIns="0" rIns="0" bIns="0" rtlCol="0" anchor="ctr"/>
          <a:lstStyle/>
          <a:p>
            <a:pPr marL="0" indent="0">
              <a:lnSpc>
                <a:spcPct val="120000"/>
              </a:lnSpc>
              <a:buNone/>
            </a:pPr>
            <a:r>
              <a:rPr lang="en-US" sz="1300" dirty="0">
                <a:solidFill>
                  <a:srgbClr val="5B6B82"/>
                </a:solidFill>
                <a:latin typeface="Calibri" pitchFamily="34" charset="0"/>
                <a:ea typeface="Calibri" pitchFamily="34" charset="-122"/>
                <a:cs typeface="Calibri" pitchFamily="34" charset="-120"/>
              </a:rPr>
              <a:t>Uses depthwise-separable convolutions - separating where a pattern is from which channel it's in, capturing fine spatial detail efficiently.</a:t>
            </a:r>
            <a:endParaRPr lang="en-US" sz="1300" dirty="0"/>
          </a:p>
        </p:txBody>
      </p:sp>
      <p:sp>
        <p:nvSpPr>
          <p:cNvPr id="18" name="Text 13"/>
          <p:cNvSpPr/>
          <p:nvPr/>
        </p:nvSpPr>
        <p:spPr>
          <a:xfrm>
            <a:off x="640080" y="5029200"/>
            <a:ext cx="10881360" cy="594360"/>
          </a:xfrm>
          <a:prstGeom prst="rect">
            <a:avLst/>
          </a:prstGeom>
          <a:noFill/>
          <a:ln/>
        </p:spPr>
        <p:txBody>
          <a:bodyPr wrap="square" lIns="0" tIns="0" rIns="0" bIns="0" rtlCol="0" anchor="ctr"/>
          <a:lstStyle/>
          <a:p>
            <a:pPr marL="0" indent="0">
              <a:lnSpc>
                <a:spcPct val="115000"/>
              </a:lnSpc>
              <a:buNone/>
            </a:pPr>
            <a:r>
              <a:rPr lang="en-US" sz="1250" b="1" i="1" dirty="0">
                <a:solidFill>
                  <a:srgbClr val="0E7C72"/>
                </a:solidFill>
                <a:latin typeface="Calibri" pitchFamily="34" charset="0"/>
                <a:ea typeface="Calibri" pitchFamily="34" charset="-122"/>
                <a:cs typeface="Calibri" pitchFamily="34" charset="-120"/>
              </a:rPr>
              <a:t>Three architecturally distinct viewpoints - CNN, Inception's multi-scale view, Xception's separable view - mean their mistakes differ, which is exactly what an ensemble needs.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9FC"/>
        </a:solidFill>
        <a:effectLst/>
      </p:bgPr>
    </p:bg>
    <p:spTree>
      <p:nvGrpSpPr>
        <p:cNvPr id="1" name=""/>
        <p:cNvGrpSpPr/>
        <p:nvPr/>
      </p:nvGrpSpPr>
      <p:grpSpPr>
        <a:xfrm>
          <a:off x="0" y="0"/>
          <a:ext cx="0" cy="0"/>
          <a:chOff x="0" y="0"/>
          <a:chExt cx="0" cy="0"/>
        </a:xfrm>
      </p:grpSpPr>
      <p:sp>
        <p:nvSpPr>
          <p:cNvPr id="2" name="Text 0"/>
          <p:cNvSpPr/>
          <p:nvPr/>
        </p:nvSpPr>
        <p:spPr>
          <a:xfrm>
            <a:off x="640080" y="411480"/>
            <a:ext cx="10515600" cy="640080"/>
          </a:xfrm>
          <a:prstGeom prst="rect">
            <a:avLst/>
          </a:prstGeom>
          <a:noFill/>
          <a:ln/>
        </p:spPr>
        <p:txBody>
          <a:bodyPr wrap="square" lIns="0" tIns="0" rIns="0" bIns="0" rtlCol="0" anchor="ctr"/>
          <a:lstStyle/>
          <a:p>
            <a:pPr marL="0" indent="0">
              <a:buNone/>
            </a:pPr>
            <a:r>
              <a:rPr lang="en-US" sz="2700" b="1" dirty="0">
                <a:solidFill>
                  <a:srgbClr val="16233B"/>
                </a:solidFill>
                <a:latin typeface="Cambria" pitchFamily="34" charset="0"/>
                <a:ea typeface="Cambria" pitchFamily="34" charset="-122"/>
                <a:cs typeface="Cambria" pitchFamily="34" charset="-120"/>
              </a:rPr>
              <a:t>The Core Idea: Cutting the Dense Layer</a:t>
            </a:r>
            <a:endParaRPr lang="en-US" sz="2700" dirty="0"/>
          </a:p>
        </p:txBody>
      </p:sp>
      <p:sp>
        <p:nvSpPr>
          <p:cNvPr id="3" name="Text 1"/>
          <p:cNvSpPr/>
          <p:nvPr/>
        </p:nvSpPr>
        <p:spPr>
          <a:xfrm>
            <a:off x="640080" y="960120"/>
            <a:ext cx="9144000" cy="365760"/>
          </a:xfrm>
          <a:prstGeom prst="rect">
            <a:avLst/>
          </a:prstGeom>
          <a:noFill/>
          <a:ln/>
        </p:spPr>
        <p:txBody>
          <a:bodyPr wrap="square" lIns="0" tIns="0" rIns="0" bIns="0" rtlCol="0" anchor="ctr"/>
          <a:lstStyle/>
          <a:p>
            <a:pPr marL="0" indent="0">
              <a:buNone/>
            </a:pPr>
            <a:r>
              <a:rPr lang="en-US" sz="1400" dirty="0">
                <a:solidFill>
                  <a:srgbClr val="5B6B82"/>
                </a:solidFill>
                <a:latin typeface="Calibri" pitchFamily="34" charset="0"/>
                <a:ea typeface="Calibri" pitchFamily="34" charset="-122"/>
                <a:cs typeface="Calibri" pitchFamily="34" charset="-120"/>
              </a:rPr>
              <a:t>Deep networks see; classical models decide</a:t>
            </a:r>
            <a:endParaRPr lang="en-US" sz="1400" dirty="0"/>
          </a:p>
        </p:txBody>
      </p:sp>
      <p:sp>
        <p:nvSpPr>
          <p:cNvPr id="4" name="Shape 2"/>
          <p:cNvSpPr/>
          <p:nvPr/>
        </p:nvSpPr>
        <p:spPr>
          <a:xfrm>
            <a:off x="640080" y="1691640"/>
            <a:ext cx="1828800" cy="1051560"/>
          </a:xfrm>
          <a:prstGeom prst="roundRect">
            <a:avLst>
              <a:gd name="adj" fmla="val 6087"/>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5" name="Text 3"/>
          <p:cNvSpPr/>
          <p:nvPr/>
        </p:nvSpPr>
        <p:spPr>
          <a:xfrm>
            <a:off x="685800" y="1801368"/>
            <a:ext cx="1737360" cy="411480"/>
          </a:xfrm>
          <a:prstGeom prst="rect">
            <a:avLst/>
          </a:prstGeom>
          <a:noFill/>
          <a:ln/>
        </p:spPr>
        <p:txBody>
          <a:bodyPr wrap="square" lIns="0" tIns="0" rIns="0" bIns="0" rtlCol="0" anchor="ctr"/>
          <a:lstStyle/>
          <a:p>
            <a:pPr marL="0" indent="0" algn="ctr">
              <a:buNone/>
            </a:pPr>
            <a:r>
              <a:rPr lang="en-US" sz="1300" b="1" dirty="0">
                <a:solidFill>
                  <a:srgbClr val="16233B"/>
                </a:solidFill>
                <a:latin typeface="Calibri" pitchFamily="34" charset="0"/>
                <a:ea typeface="Calibri" pitchFamily="34" charset="-122"/>
                <a:cs typeface="Calibri" pitchFamily="34" charset="-120"/>
              </a:rPr>
              <a:t>MRI Input</a:t>
            </a:r>
            <a:endParaRPr lang="en-US" sz="1300" dirty="0"/>
          </a:p>
        </p:txBody>
      </p:sp>
      <p:sp>
        <p:nvSpPr>
          <p:cNvPr id="6" name="Text 4"/>
          <p:cNvSpPr/>
          <p:nvPr/>
        </p:nvSpPr>
        <p:spPr>
          <a:xfrm>
            <a:off x="685800" y="2221992"/>
            <a:ext cx="1737360" cy="457200"/>
          </a:xfrm>
          <a:prstGeom prst="rect">
            <a:avLst/>
          </a:prstGeom>
          <a:noFill/>
          <a:ln/>
        </p:spPr>
        <p:txBody>
          <a:bodyPr wrap="square" lIns="0" tIns="0" rIns="0" bIns="0" rtlCol="0" anchor="ctr"/>
          <a:lstStyle/>
          <a:p>
            <a:pPr marL="0" indent="0" algn="ctr">
              <a:buNone/>
            </a:pPr>
            <a:r>
              <a:rPr lang="en-US" sz="1000" dirty="0">
                <a:solidFill>
                  <a:srgbClr val="16233B"/>
                </a:solidFill>
                <a:latin typeface="Calibri" pitchFamily="34" charset="0"/>
                <a:ea typeface="Calibri" pitchFamily="34" charset="-122"/>
                <a:cs typeface="Calibri" pitchFamily="34" charset="-120"/>
              </a:rPr>
              <a:t>128×128</a:t>
            </a:r>
            <a:endParaRPr lang="en-US" sz="1000" dirty="0"/>
          </a:p>
        </p:txBody>
      </p:sp>
      <p:pic>
        <p:nvPicPr>
          <p:cNvPr id="7" name="Image 0" descr="preencoded.png"/>
          <p:cNvPicPr>
            <a:picLocks noChangeAspect="1"/>
          </p:cNvPicPr>
          <p:nvPr/>
        </p:nvPicPr>
        <p:blipFill>
          <a:blip r:embed="rId3"/>
          <a:stretch>
            <a:fillRect/>
          </a:stretch>
        </p:blipFill>
        <p:spPr>
          <a:xfrm>
            <a:off x="2542032" y="2116836"/>
            <a:ext cx="219456" cy="201168"/>
          </a:xfrm>
          <a:prstGeom prst="rect">
            <a:avLst/>
          </a:prstGeom>
        </p:spPr>
      </p:pic>
      <p:sp>
        <p:nvSpPr>
          <p:cNvPr id="8" name="Shape 5"/>
          <p:cNvSpPr/>
          <p:nvPr/>
        </p:nvSpPr>
        <p:spPr>
          <a:xfrm>
            <a:off x="2834640" y="1691640"/>
            <a:ext cx="2286000" cy="1051560"/>
          </a:xfrm>
          <a:prstGeom prst="roundRect">
            <a:avLst>
              <a:gd name="adj" fmla="val 6087"/>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9" name="Text 6"/>
          <p:cNvSpPr/>
          <p:nvPr/>
        </p:nvSpPr>
        <p:spPr>
          <a:xfrm>
            <a:off x="2880360" y="1801368"/>
            <a:ext cx="2194560" cy="411480"/>
          </a:xfrm>
          <a:prstGeom prst="rect">
            <a:avLst/>
          </a:prstGeom>
          <a:noFill/>
          <a:ln/>
        </p:spPr>
        <p:txBody>
          <a:bodyPr wrap="square" lIns="0" tIns="0" rIns="0" bIns="0" rtlCol="0" anchor="ctr"/>
          <a:lstStyle/>
          <a:p>
            <a:pPr marL="0" indent="0" algn="ctr">
              <a:buNone/>
            </a:pPr>
            <a:r>
              <a:rPr lang="en-US" sz="1300" b="1" dirty="0">
                <a:solidFill>
                  <a:srgbClr val="16233B"/>
                </a:solidFill>
                <a:latin typeface="Calibri" pitchFamily="34" charset="0"/>
                <a:ea typeface="Calibri" pitchFamily="34" charset="-122"/>
                <a:cs typeface="Calibri" pitchFamily="34" charset="-120"/>
              </a:rPr>
              <a:t>Backbone</a:t>
            </a:r>
            <a:endParaRPr lang="en-US" sz="1300" dirty="0"/>
          </a:p>
        </p:txBody>
      </p:sp>
      <p:sp>
        <p:nvSpPr>
          <p:cNvPr id="10" name="Text 7"/>
          <p:cNvSpPr/>
          <p:nvPr/>
        </p:nvSpPr>
        <p:spPr>
          <a:xfrm>
            <a:off x="2880360" y="2221992"/>
            <a:ext cx="2194560" cy="457200"/>
          </a:xfrm>
          <a:prstGeom prst="rect">
            <a:avLst/>
          </a:prstGeom>
          <a:noFill/>
          <a:ln/>
        </p:spPr>
        <p:txBody>
          <a:bodyPr wrap="square" lIns="0" tIns="0" rIns="0" bIns="0" rtlCol="0" anchor="ctr"/>
          <a:lstStyle/>
          <a:p>
            <a:pPr marL="0" indent="0" algn="ctr">
              <a:buNone/>
            </a:pPr>
            <a:r>
              <a:rPr lang="en-US" sz="1000" dirty="0">
                <a:solidFill>
                  <a:srgbClr val="16233B"/>
                </a:solidFill>
                <a:latin typeface="Calibri" pitchFamily="34" charset="0"/>
                <a:ea typeface="Calibri" pitchFamily="34" charset="-122"/>
                <a:cs typeface="Calibri" pitchFamily="34" charset="-120"/>
              </a:rPr>
              <a:t>Xception / InceptionV3 / CNN (frozen)</a:t>
            </a:r>
            <a:endParaRPr lang="en-US" sz="1000" dirty="0"/>
          </a:p>
        </p:txBody>
      </p:sp>
      <p:pic>
        <p:nvPicPr>
          <p:cNvPr id="11" name="Image 1" descr="preencoded.png"/>
          <p:cNvPicPr>
            <a:picLocks noChangeAspect="1"/>
          </p:cNvPicPr>
          <p:nvPr/>
        </p:nvPicPr>
        <p:blipFill>
          <a:blip r:embed="rId3"/>
          <a:stretch>
            <a:fillRect/>
          </a:stretch>
        </p:blipFill>
        <p:spPr>
          <a:xfrm>
            <a:off x="5193792" y="2116836"/>
            <a:ext cx="219456" cy="201168"/>
          </a:xfrm>
          <a:prstGeom prst="rect">
            <a:avLst/>
          </a:prstGeom>
        </p:spPr>
      </p:pic>
      <p:sp>
        <p:nvSpPr>
          <p:cNvPr id="12" name="Shape 8"/>
          <p:cNvSpPr/>
          <p:nvPr/>
        </p:nvSpPr>
        <p:spPr>
          <a:xfrm>
            <a:off x="5486400" y="1581912"/>
            <a:ext cx="2103120" cy="1271016"/>
          </a:xfrm>
          <a:prstGeom prst="roundRect">
            <a:avLst>
              <a:gd name="adj" fmla="val 5755"/>
            </a:avLst>
          </a:prstGeom>
          <a:solidFill>
            <a:srgbClr val="0A1A33"/>
          </a:solidFill>
          <a:ln w="19050">
            <a:solidFill>
              <a:srgbClr val="1FBFAE"/>
            </a:solidFill>
            <a:prstDash val="dash"/>
          </a:ln>
        </p:spPr>
        <p:txBody>
          <a:bodyPr/>
          <a:lstStyle/>
          <a:p>
            <a:endParaRPr lang="en-US"/>
          </a:p>
        </p:txBody>
      </p:sp>
      <p:sp>
        <p:nvSpPr>
          <p:cNvPr id="13" name="Text 9"/>
          <p:cNvSpPr/>
          <p:nvPr/>
        </p:nvSpPr>
        <p:spPr>
          <a:xfrm>
            <a:off x="5532120" y="1691640"/>
            <a:ext cx="2011680" cy="411480"/>
          </a:xfrm>
          <a:prstGeom prst="rect">
            <a:avLst/>
          </a:prstGeom>
          <a:noFill/>
          <a:ln/>
        </p:spPr>
        <p:txBody>
          <a:bodyPr wrap="square" lIns="0" tIns="0" rIns="0" bIns="0" rtlCol="0" anchor="ctr"/>
          <a:lstStyle/>
          <a:p>
            <a:pPr marL="0" indent="0" algn="ctr">
              <a:buNone/>
            </a:pPr>
            <a:r>
              <a:rPr lang="en-US" sz="1300" b="1" dirty="0">
                <a:solidFill>
                  <a:srgbClr val="1FBFAE"/>
                </a:solidFill>
                <a:latin typeface="Calibri" pitchFamily="34" charset="0"/>
                <a:ea typeface="Calibri" pitchFamily="34" charset="-122"/>
                <a:cs typeface="Calibri" pitchFamily="34" charset="-120"/>
              </a:rPr>
              <a:t>Dense(256)</a:t>
            </a:r>
            <a:endParaRPr lang="en-US" sz="1300" dirty="0"/>
          </a:p>
        </p:txBody>
      </p:sp>
      <p:sp>
        <p:nvSpPr>
          <p:cNvPr id="14" name="Text 10"/>
          <p:cNvSpPr/>
          <p:nvPr/>
        </p:nvSpPr>
        <p:spPr>
          <a:xfrm>
            <a:off x="5532120" y="2112264"/>
            <a:ext cx="2011680" cy="502920"/>
          </a:xfrm>
          <a:prstGeom prst="rect">
            <a:avLst/>
          </a:prstGeom>
          <a:noFill/>
          <a:ln/>
        </p:spPr>
        <p:txBody>
          <a:bodyPr wrap="square" lIns="0" tIns="0" rIns="0" bIns="0" rtlCol="0" anchor="ctr"/>
          <a:lstStyle/>
          <a:p>
            <a:pPr marL="0" indent="0" algn="ctr">
              <a:buNone/>
            </a:pPr>
            <a:r>
              <a:rPr lang="en-US" sz="1000" dirty="0">
                <a:solidFill>
                  <a:srgbClr val="CFE3F2"/>
                </a:solidFill>
                <a:latin typeface="Calibri" pitchFamily="34" charset="0"/>
                <a:ea typeface="Calibri" pitchFamily="34" charset="-122"/>
                <a:cs typeface="Calibri" pitchFamily="34" charset="-120"/>
              </a:rPr>
              <a:t>the 256-number</a:t>
            </a:r>
            <a:endParaRPr lang="en-US" sz="1000" dirty="0"/>
          </a:p>
          <a:p>
            <a:pPr marL="0" indent="0" algn="ctr">
              <a:buNone/>
            </a:pPr>
            <a:r>
              <a:rPr lang="en-US" sz="1000" dirty="0">
                <a:solidFill>
                  <a:srgbClr val="CFE3F2"/>
                </a:solidFill>
                <a:latin typeface="Calibri" pitchFamily="34" charset="0"/>
                <a:ea typeface="Calibri" pitchFamily="34" charset="-122"/>
                <a:cs typeface="Calibri" pitchFamily="34" charset="-120"/>
              </a:rPr>
              <a:t>"fingerprint"</a:t>
            </a:r>
            <a:endParaRPr lang="en-US" sz="1000" dirty="0"/>
          </a:p>
        </p:txBody>
      </p:sp>
      <p:sp>
        <p:nvSpPr>
          <p:cNvPr id="15" name="Text 11"/>
          <p:cNvSpPr/>
          <p:nvPr/>
        </p:nvSpPr>
        <p:spPr>
          <a:xfrm>
            <a:off x="5532120" y="2889504"/>
            <a:ext cx="2011680" cy="274320"/>
          </a:xfrm>
          <a:prstGeom prst="rect">
            <a:avLst/>
          </a:prstGeom>
          <a:noFill/>
          <a:ln/>
        </p:spPr>
        <p:txBody>
          <a:bodyPr wrap="square" lIns="0" tIns="0" rIns="0" bIns="0" rtlCol="0" anchor="ctr"/>
          <a:lstStyle/>
          <a:p>
            <a:pPr marL="0" indent="0" algn="ctr">
              <a:buNone/>
            </a:pPr>
            <a:r>
              <a:rPr lang="en-US" sz="1000" b="1" i="1" dirty="0">
                <a:solidFill>
                  <a:srgbClr val="0E7C72"/>
                </a:solidFill>
                <a:latin typeface="Calibri" pitchFamily="34" charset="0"/>
                <a:ea typeface="Calibri" pitchFamily="34" charset="-122"/>
                <a:cs typeface="Calibri" pitchFamily="34" charset="-120"/>
              </a:rPr>
              <a:t>✂ cut here</a:t>
            </a:r>
            <a:endParaRPr lang="en-US" sz="1000" dirty="0"/>
          </a:p>
        </p:txBody>
      </p:sp>
      <p:sp>
        <p:nvSpPr>
          <p:cNvPr id="16" name="Shape 12"/>
          <p:cNvSpPr/>
          <p:nvPr/>
        </p:nvSpPr>
        <p:spPr>
          <a:xfrm>
            <a:off x="6537960" y="2852928"/>
            <a:ext cx="0" cy="502920"/>
          </a:xfrm>
          <a:prstGeom prst="line">
            <a:avLst/>
          </a:prstGeom>
          <a:noFill/>
          <a:ln w="19050">
            <a:solidFill>
              <a:srgbClr val="0E7C72"/>
            </a:solidFill>
            <a:prstDash val="solid"/>
          </a:ln>
        </p:spPr>
        <p:txBody>
          <a:bodyPr/>
          <a:lstStyle/>
          <a:p>
            <a:endParaRPr lang="en-US"/>
          </a:p>
        </p:txBody>
      </p:sp>
      <p:sp>
        <p:nvSpPr>
          <p:cNvPr id="17" name="Shape 13"/>
          <p:cNvSpPr/>
          <p:nvPr/>
        </p:nvSpPr>
        <p:spPr>
          <a:xfrm>
            <a:off x="4023360" y="3355848"/>
            <a:ext cx="5029200" cy="0"/>
          </a:xfrm>
          <a:prstGeom prst="line">
            <a:avLst/>
          </a:prstGeom>
          <a:noFill/>
          <a:ln w="19050">
            <a:solidFill>
              <a:srgbClr val="0E7C72"/>
            </a:solidFill>
            <a:prstDash val="solid"/>
          </a:ln>
        </p:spPr>
        <p:txBody>
          <a:bodyPr/>
          <a:lstStyle/>
          <a:p>
            <a:endParaRPr lang="en-US"/>
          </a:p>
        </p:txBody>
      </p:sp>
      <p:sp>
        <p:nvSpPr>
          <p:cNvPr id="18" name="Shape 14"/>
          <p:cNvSpPr/>
          <p:nvPr/>
        </p:nvSpPr>
        <p:spPr>
          <a:xfrm>
            <a:off x="4023360" y="3355848"/>
            <a:ext cx="0" cy="320040"/>
          </a:xfrm>
          <a:prstGeom prst="line">
            <a:avLst/>
          </a:prstGeom>
          <a:noFill/>
          <a:ln w="19050">
            <a:solidFill>
              <a:srgbClr val="0E7C72"/>
            </a:solidFill>
            <a:prstDash val="solid"/>
          </a:ln>
        </p:spPr>
        <p:txBody>
          <a:bodyPr/>
          <a:lstStyle/>
          <a:p>
            <a:endParaRPr lang="en-US"/>
          </a:p>
        </p:txBody>
      </p:sp>
      <p:sp>
        <p:nvSpPr>
          <p:cNvPr id="19" name="Shape 15"/>
          <p:cNvSpPr/>
          <p:nvPr/>
        </p:nvSpPr>
        <p:spPr>
          <a:xfrm>
            <a:off x="9052560" y="3355848"/>
            <a:ext cx="0" cy="320040"/>
          </a:xfrm>
          <a:prstGeom prst="line">
            <a:avLst/>
          </a:prstGeom>
          <a:noFill/>
          <a:ln w="19050">
            <a:solidFill>
              <a:srgbClr val="0E7C72"/>
            </a:solidFill>
            <a:prstDash val="solid"/>
          </a:ln>
        </p:spPr>
        <p:txBody>
          <a:bodyPr/>
          <a:lstStyle/>
          <a:p>
            <a:endParaRPr lang="en-US"/>
          </a:p>
        </p:txBody>
      </p:sp>
      <p:sp>
        <p:nvSpPr>
          <p:cNvPr id="20" name="Shape 16"/>
          <p:cNvSpPr/>
          <p:nvPr/>
        </p:nvSpPr>
        <p:spPr>
          <a:xfrm>
            <a:off x="2651760" y="3675888"/>
            <a:ext cx="2743200" cy="777240"/>
          </a:xfrm>
          <a:prstGeom prst="roundRect">
            <a:avLst>
              <a:gd name="adj" fmla="val 8235"/>
            </a:avLst>
          </a:prstGeom>
          <a:solidFill>
            <a:srgbClr val="CFE3F2"/>
          </a:solidFill>
          <a:ln/>
        </p:spPr>
        <p:txBody>
          <a:bodyPr/>
          <a:lstStyle/>
          <a:p>
            <a:endParaRPr lang="en-US"/>
          </a:p>
        </p:txBody>
      </p:sp>
      <p:sp>
        <p:nvSpPr>
          <p:cNvPr id="21" name="Text 17"/>
          <p:cNvSpPr/>
          <p:nvPr/>
        </p:nvSpPr>
        <p:spPr>
          <a:xfrm>
            <a:off x="2743200" y="3675888"/>
            <a:ext cx="2560320" cy="777240"/>
          </a:xfrm>
          <a:prstGeom prst="rect">
            <a:avLst/>
          </a:prstGeom>
          <a:noFill/>
          <a:ln/>
        </p:spPr>
        <p:txBody>
          <a:bodyPr wrap="square" lIns="0" tIns="0" rIns="0" bIns="0" rtlCol="0" anchor="ctr"/>
          <a:lstStyle/>
          <a:p>
            <a:pPr marL="0" indent="0" algn="ctr">
              <a:buNone/>
            </a:pPr>
            <a:r>
              <a:rPr lang="en-US" sz="1050" dirty="0">
                <a:solidFill>
                  <a:srgbClr val="16233B"/>
                </a:solidFill>
                <a:latin typeface="Calibri" pitchFamily="34" charset="0"/>
                <a:ea typeface="Calibri" pitchFamily="34" charset="-122"/>
                <a:cs typeface="Calibri" pitchFamily="34" charset="-120"/>
              </a:rPr>
              <a:t>Softmax → 4-class</a:t>
            </a:r>
            <a:endParaRPr lang="en-US" sz="1050" dirty="0"/>
          </a:p>
          <a:p>
            <a:pPr marL="0" indent="0" algn="ctr">
              <a:buNone/>
            </a:pPr>
            <a:r>
              <a:rPr lang="en-US" sz="1050" dirty="0">
                <a:solidFill>
                  <a:srgbClr val="16233B"/>
                </a:solidFill>
                <a:latin typeface="Calibri" pitchFamily="34" charset="0"/>
                <a:ea typeface="Calibri" pitchFamily="34" charset="-122"/>
                <a:cs typeface="Calibri" pitchFamily="34" charset="-120"/>
              </a:rPr>
              <a:t>(original path, not used for final vote)</a:t>
            </a:r>
            <a:endParaRPr lang="en-US" sz="1050" dirty="0"/>
          </a:p>
        </p:txBody>
      </p:sp>
      <p:sp>
        <p:nvSpPr>
          <p:cNvPr id="22" name="Shape 18"/>
          <p:cNvSpPr/>
          <p:nvPr/>
        </p:nvSpPr>
        <p:spPr>
          <a:xfrm>
            <a:off x="7680960" y="3675888"/>
            <a:ext cx="3840480" cy="777240"/>
          </a:xfrm>
          <a:prstGeom prst="roundRect">
            <a:avLst>
              <a:gd name="adj" fmla="val 8235"/>
            </a:avLst>
          </a:prstGeom>
          <a:solidFill>
            <a:srgbClr val="0E7C72"/>
          </a:solidFill>
          <a:ln/>
        </p:spPr>
        <p:txBody>
          <a:bodyPr/>
          <a:lstStyle/>
          <a:p>
            <a:endParaRPr lang="en-US"/>
          </a:p>
        </p:txBody>
      </p:sp>
      <p:sp>
        <p:nvSpPr>
          <p:cNvPr id="23" name="Text 19"/>
          <p:cNvSpPr/>
          <p:nvPr/>
        </p:nvSpPr>
        <p:spPr>
          <a:xfrm>
            <a:off x="7772400" y="3675888"/>
            <a:ext cx="3657600" cy="7772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Random Forest  •  Decision Tree  •  SVM</a:t>
            </a:r>
            <a:endParaRPr lang="en-US" sz="1200" dirty="0"/>
          </a:p>
        </p:txBody>
      </p:sp>
      <p:sp>
        <p:nvSpPr>
          <p:cNvPr id="24" name="Text 20"/>
          <p:cNvSpPr/>
          <p:nvPr/>
        </p:nvSpPr>
        <p:spPr>
          <a:xfrm>
            <a:off x="640080" y="4343400"/>
            <a:ext cx="10881360" cy="777240"/>
          </a:xfrm>
          <a:prstGeom prst="rect">
            <a:avLst/>
          </a:prstGeom>
          <a:noFill/>
          <a:ln/>
        </p:spPr>
        <p:txBody>
          <a:bodyPr wrap="square" lIns="0" tIns="0" rIns="0" bIns="0" rtlCol="0" anchor="ctr"/>
          <a:lstStyle/>
          <a:p>
            <a:pPr marL="0" indent="0" algn="ctr">
              <a:lnSpc>
                <a:spcPct val="120000"/>
              </a:lnSpc>
              <a:buNone/>
            </a:pPr>
            <a:r>
              <a:rPr lang="en-US" sz="1500" i="1" dirty="0">
                <a:solidFill>
                  <a:srgbClr val="16233B"/>
                </a:solidFill>
                <a:latin typeface="Cambria" pitchFamily="34" charset="0"/>
                <a:ea typeface="Cambria" pitchFamily="34" charset="-122"/>
                <a:cs typeface="Cambria" pitchFamily="34" charset="-120"/>
              </a:rPr>
              <a:t>“The deep network is a specialist who writes a 256-line summary of the scan. The Random Forest is a second specialist who reads only that summary and makes the call.”</a:t>
            </a:r>
            <a:endParaRPr lang="en-US" sz="1500" dirty="0"/>
          </a:p>
        </p:txBody>
      </p:sp>
      <p:sp>
        <p:nvSpPr>
          <p:cNvPr id="25" name="Shape 21"/>
          <p:cNvSpPr/>
          <p:nvPr/>
        </p:nvSpPr>
        <p:spPr>
          <a:xfrm>
            <a:off x="640080" y="5257800"/>
            <a:ext cx="10881360" cy="1051560"/>
          </a:xfrm>
          <a:prstGeom prst="roundRect">
            <a:avLst>
              <a:gd name="adj" fmla="val 6957"/>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26" name="Text 22"/>
          <p:cNvSpPr/>
          <p:nvPr/>
        </p:nvSpPr>
        <p:spPr>
          <a:xfrm>
            <a:off x="914400" y="5257800"/>
            <a:ext cx="10332720" cy="1051560"/>
          </a:xfrm>
          <a:prstGeom prst="rect">
            <a:avLst/>
          </a:prstGeom>
          <a:noFill/>
          <a:ln/>
        </p:spPr>
        <p:txBody>
          <a:bodyPr wrap="square" lIns="0" tIns="0" rIns="0" bIns="0" rtlCol="0" anchor="ctr"/>
          <a:lstStyle/>
          <a:p>
            <a:pPr marL="0" indent="0">
              <a:lnSpc>
                <a:spcPct val="120000"/>
              </a:lnSpc>
              <a:buNone/>
            </a:pPr>
            <a:r>
              <a:rPr lang="en-US" sz="1250" b="1" dirty="0">
                <a:solidFill>
                  <a:srgbClr val="16233B"/>
                </a:solidFill>
                <a:latin typeface="Calibri" pitchFamily="34" charset="0"/>
                <a:ea typeface="Calibri" pitchFamily="34" charset="-122"/>
                <a:cs typeface="Calibri" pitchFamily="34" charset="-120"/>
              </a:rPr>
              <a:t>Why not just use the network's own softmax?  </a:t>
            </a:r>
            <a:r>
              <a:rPr lang="en-US" sz="1250" dirty="0">
                <a:solidFill>
                  <a:srgbClr val="5B6B82"/>
                </a:solidFill>
                <a:latin typeface="Calibri" pitchFamily="34" charset="0"/>
                <a:ea typeface="Calibri" pitchFamily="34" charset="-122"/>
                <a:cs typeface="Calibri" pitchFamily="34" charset="-120"/>
              </a:rPr>
              <a:t>Classical models are more robust on small data and easy to interpret — and this gives three more independent voters for the ensemble, built from the same backbones but with different decision logic.</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9FC"/>
        </a:solidFill>
        <a:effectLst/>
      </p:bgPr>
    </p:bg>
    <p:spTree>
      <p:nvGrpSpPr>
        <p:cNvPr id="1" name=""/>
        <p:cNvGrpSpPr/>
        <p:nvPr/>
      </p:nvGrpSpPr>
      <p:grpSpPr>
        <a:xfrm>
          <a:off x="0" y="0"/>
          <a:ext cx="0" cy="0"/>
          <a:chOff x="0" y="0"/>
          <a:chExt cx="0" cy="0"/>
        </a:xfrm>
      </p:grpSpPr>
      <p:sp>
        <p:nvSpPr>
          <p:cNvPr id="2" name="Text 0"/>
          <p:cNvSpPr/>
          <p:nvPr/>
        </p:nvSpPr>
        <p:spPr>
          <a:xfrm>
            <a:off x="640080" y="411480"/>
            <a:ext cx="9144000" cy="640080"/>
          </a:xfrm>
          <a:prstGeom prst="rect">
            <a:avLst/>
          </a:prstGeom>
          <a:noFill/>
          <a:ln/>
        </p:spPr>
        <p:txBody>
          <a:bodyPr wrap="square" lIns="0" tIns="0" rIns="0" bIns="0" rtlCol="0" anchor="ctr"/>
          <a:lstStyle/>
          <a:p>
            <a:pPr marL="0" indent="0">
              <a:buNone/>
            </a:pPr>
            <a:r>
              <a:rPr lang="en-US" sz="2800" b="1" dirty="0">
                <a:solidFill>
                  <a:srgbClr val="16233B"/>
                </a:solidFill>
                <a:latin typeface="Cambria" pitchFamily="34" charset="0"/>
                <a:ea typeface="Cambria" pitchFamily="34" charset="-122"/>
                <a:cs typeface="Cambria" pitchFamily="34" charset="-120"/>
              </a:rPr>
              <a:t>Six Opinions, One Vote</a:t>
            </a:r>
            <a:endParaRPr lang="en-US" sz="2800" dirty="0"/>
          </a:p>
        </p:txBody>
      </p:sp>
      <p:sp>
        <p:nvSpPr>
          <p:cNvPr id="3" name="Text 1"/>
          <p:cNvSpPr/>
          <p:nvPr/>
        </p:nvSpPr>
        <p:spPr>
          <a:xfrm>
            <a:off x="640080" y="960120"/>
            <a:ext cx="10058400" cy="365760"/>
          </a:xfrm>
          <a:prstGeom prst="rect">
            <a:avLst/>
          </a:prstGeom>
          <a:noFill/>
          <a:ln/>
        </p:spPr>
        <p:txBody>
          <a:bodyPr wrap="square" lIns="0" tIns="0" rIns="0" bIns="0" rtlCol="0" anchor="ctr"/>
          <a:lstStyle/>
          <a:p>
            <a:pPr marL="0" indent="0">
              <a:buNone/>
            </a:pPr>
            <a:r>
              <a:rPr lang="en-US" sz="1400" dirty="0">
                <a:solidFill>
                  <a:srgbClr val="5B6B82"/>
                </a:solidFill>
                <a:latin typeface="Calibri" pitchFamily="34" charset="0"/>
                <a:ea typeface="Calibri" pitchFamily="34" charset="-122"/>
                <a:cs typeface="Calibri" pitchFamily="34" charset="-120"/>
              </a:rPr>
              <a:t>Combining direct predictions with feature-based classical models</a:t>
            </a:r>
            <a:endParaRPr lang="en-US" sz="1400" dirty="0"/>
          </a:p>
        </p:txBody>
      </p:sp>
      <p:sp>
        <p:nvSpPr>
          <p:cNvPr id="4" name="Shape 2"/>
          <p:cNvSpPr/>
          <p:nvPr/>
        </p:nvSpPr>
        <p:spPr>
          <a:xfrm>
            <a:off x="640080" y="1691640"/>
            <a:ext cx="3337560" cy="777240"/>
          </a:xfrm>
          <a:prstGeom prst="roundRect">
            <a:avLst>
              <a:gd name="adj" fmla="val 8235"/>
            </a:avLst>
          </a:prstGeom>
          <a:solidFill>
            <a:srgbClr val="0A1A33"/>
          </a:solidFill>
          <a:ln/>
          <a:effectLst>
            <a:outerShdw blurRad="101600" dist="38100" dir="5400000" algn="bl" rotWithShape="0">
              <a:srgbClr val="0A1A33">
                <a:alpha val="12000"/>
              </a:srgbClr>
            </a:outerShdw>
          </a:effectLst>
        </p:spPr>
        <p:txBody>
          <a:bodyPr/>
          <a:lstStyle/>
          <a:p>
            <a:endParaRPr lang="en-US"/>
          </a:p>
        </p:txBody>
      </p:sp>
      <p:sp>
        <p:nvSpPr>
          <p:cNvPr id="5" name="Text 3"/>
          <p:cNvSpPr/>
          <p:nvPr/>
        </p:nvSpPr>
        <p:spPr>
          <a:xfrm>
            <a:off x="777240" y="1691640"/>
            <a:ext cx="306324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CNN</a:t>
            </a:r>
            <a:endParaRPr lang="en-US" sz="1300" dirty="0"/>
          </a:p>
        </p:txBody>
      </p:sp>
      <p:sp>
        <p:nvSpPr>
          <p:cNvPr id="6" name="Shape 4"/>
          <p:cNvSpPr/>
          <p:nvPr/>
        </p:nvSpPr>
        <p:spPr>
          <a:xfrm>
            <a:off x="4206240" y="1691640"/>
            <a:ext cx="3337560" cy="777240"/>
          </a:xfrm>
          <a:prstGeom prst="roundRect">
            <a:avLst>
              <a:gd name="adj" fmla="val 8235"/>
            </a:avLst>
          </a:prstGeom>
          <a:solidFill>
            <a:srgbClr val="0A1A33"/>
          </a:solidFill>
          <a:ln/>
          <a:effectLst>
            <a:outerShdw blurRad="101600" dist="38100" dir="5400000" algn="bl" rotWithShape="0">
              <a:srgbClr val="0A1A33">
                <a:alpha val="12000"/>
              </a:srgbClr>
            </a:outerShdw>
          </a:effectLst>
        </p:spPr>
        <p:txBody>
          <a:bodyPr/>
          <a:lstStyle/>
          <a:p>
            <a:endParaRPr lang="en-US"/>
          </a:p>
        </p:txBody>
      </p:sp>
      <p:sp>
        <p:nvSpPr>
          <p:cNvPr id="7" name="Text 5"/>
          <p:cNvSpPr/>
          <p:nvPr/>
        </p:nvSpPr>
        <p:spPr>
          <a:xfrm>
            <a:off x="4343400" y="1691640"/>
            <a:ext cx="306324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InceptionV3</a:t>
            </a:r>
            <a:endParaRPr lang="en-US" sz="1300" dirty="0"/>
          </a:p>
        </p:txBody>
      </p:sp>
      <p:sp>
        <p:nvSpPr>
          <p:cNvPr id="8" name="Shape 6"/>
          <p:cNvSpPr/>
          <p:nvPr/>
        </p:nvSpPr>
        <p:spPr>
          <a:xfrm>
            <a:off x="7772400" y="1691640"/>
            <a:ext cx="3337560" cy="777240"/>
          </a:xfrm>
          <a:prstGeom prst="roundRect">
            <a:avLst>
              <a:gd name="adj" fmla="val 8235"/>
            </a:avLst>
          </a:prstGeom>
          <a:solidFill>
            <a:srgbClr val="0A1A33"/>
          </a:solidFill>
          <a:ln/>
          <a:effectLst>
            <a:outerShdw blurRad="101600" dist="38100" dir="5400000" algn="bl" rotWithShape="0">
              <a:srgbClr val="0A1A33">
                <a:alpha val="12000"/>
              </a:srgbClr>
            </a:outerShdw>
          </a:effectLst>
        </p:spPr>
        <p:txBody>
          <a:bodyPr/>
          <a:lstStyle/>
          <a:p>
            <a:endParaRPr lang="en-US"/>
          </a:p>
        </p:txBody>
      </p:sp>
      <p:sp>
        <p:nvSpPr>
          <p:cNvPr id="9" name="Text 7"/>
          <p:cNvSpPr/>
          <p:nvPr/>
        </p:nvSpPr>
        <p:spPr>
          <a:xfrm>
            <a:off x="7909560" y="1691640"/>
            <a:ext cx="306324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Xception</a:t>
            </a:r>
            <a:endParaRPr lang="en-US" sz="1300" dirty="0"/>
          </a:p>
        </p:txBody>
      </p:sp>
      <p:sp>
        <p:nvSpPr>
          <p:cNvPr id="10" name="Shape 8"/>
          <p:cNvSpPr/>
          <p:nvPr/>
        </p:nvSpPr>
        <p:spPr>
          <a:xfrm>
            <a:off x="640080" y="2651760"/>
            <a:ext cx="3337560" cy="777240"/>
          </a:xfrm>
          <a:prstGeom prst="roundRect">
            <a:avLst>
              <a:gd name="adj" fmla="val 8235"/>
            </a:avLst>
          </a:prstGeom>
          <a:solidFill>
            <a:srgbClr val="0E7C72"/>
          </a:solidFill>
          <a:ln/>
          <a:effectLst>
            <a:outerShdw blurRad="101600" dist="38100" dir="5400000" algn="bl" rotWithShape="0">
              <a:srgbClr val="0A1A33">
                <a:alpha val="12000"/>
              </a:srgbClr>
            </a:outerShdw>
          </a:effectLst>
        </p:spPr>
        <p:txBody>
          <a:bodyPr/>
          <a:lstStyle/>
          <a:p>
            <a:endParaRPr lang="en-US"/>
          </a:p>
        </p:txBody>
      </p:sp>
      <p:sp>
        <p:nvSpPr>
          <p:cNvPr id="11" name="Text 9"/>
          <p:cNvSpPr/>
          <p:nvPr/>
        </p:nvSpPr>
        <p:spPr>
          <a:xfrm>
            <a:off x="777240" y="2651760"/>
            <a:ext cx="306324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CNN + RF/DT/SVM</a:t>
            </a:r>
            <a:endParaRPr lang="en-US" sz="1300" dirty="0"/>
          </a:p>
        </p:txBody>
      </p:sp>
      <p:sp>
        <p:nvSpPr>
          <p:cNvPr id="12" name="Shape 10"/>
          <p:cNvSpPr/>
          <p:nvPr/>
        </p:nvSpPr>
        <p:spPr>
          <a:xfrm>
            <a:off x="4206240" y="2651760"/>
            <a:ext cx="3337560" cy="777240"/>
          </a:xfrm>
          <a:prstGeom prst="roundRect">
            <a:avLst>
              <a:gd name="adj" fmla="val 8235"/>
            </a:avLst>
          </a:prstGeom>
          <a:solidFill>
            <a:srgbClr val="0E7C72"/>
          </a:solidFill>
          <a:ln/>
          <a:effectLst>
            <a:outerShdw blurRad="101600" dist="38100" dir="5400000" algn="bl" rotWithShape="0">
              <a:srgbClr val="0A1A33">
                <a:alpha val="12000"/>
              </a:srgbClr>
            </a:outerShdw>
          </a:effectLst>
        </p:spPr>
        <p:txBody>
          <a:bodyPr/>
          <a:lstStyle/>
          <a:p>
            <a:endParaRPr lang="en-US"/>
          </a:p>
        </p:txBody>
      </p:sp>
      <p:sp>
        <p:nvSpPr>
          <p:cNvPr id="13" name="Text 11"/>
          <p:cNvSpPr/>
          <p:nvPr/>
        </p:nvSpPr>
        <p:spPr>
          <a:xfrm>
            <a:off x="4343400" y="2651760"/>
            <a:ext cx="306324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Inception + RF/DT/SVM</a:t>
            </a:r>
            <a:endParaRPr lang="en-US" sz="1300" dirty="0"/>
          </a:p>
        </p:txBody>
      </p:sp>
      <p:sp>
        <p:nvSpPr>
          <p:cNvPr id="14" name="Shape 12"/>
          <p:cNvSpPr/>
          <p:nvPr/>
        </p:nvSpPr>
        <p:spPr>
          <a:xfrm>
            <a:off x="7772400" y="2651760"/>
            <a:ext cx="3337560" cy="777240"/>
          </a:xfrm>
          <a:prstGeom prst="roundRect">
            <a:avLst>
              <a:gd name="adj" fmla="val 8235"/>
            </a:avLst>
          </a:prstGeom>
          <a:solidFill>
            <a:srgbClr val="0E7C72"/>
          </a:solidFill>
          <a:ln/>
          <a:effectLst>
            <a:outerShdw blurRad="101600" dist="38100" dir="5400000" algn="bl" rotWithShape="0">
              <a:srgbClr val="0A1A33">
                <a:alpha val="12000"/>
              </a:srgbClr>
            </a:outerShdw>
          </a:effectLst>
        </p:spPr>
        <p:txBody>
          <a:bodyPr/>
          <a:lstStyle/>
          <a:p>
            <a:endParaRPr lang="en-US"/>
          </a:p>
        </p:txBody>
      </p:sp>
      <p:sp>
        <p:nvSpPr>
          <p:cNvPr id="15" name="Text 13"/>
          <p:cNvSpPr/>
          <p:nvPr/>
        </p:nvSpPr>
        <p:spPr>
          <a:xfrm>
            <a:off x="7909560" y="2651760"/>
            <a:ext cx="306324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Xception + RF/DT/SVM</a:t>
            </a:r>
            <a:endParaRPr lang="en-US" sz="1300" dirty="0"/>
          </a:p>
        </p:txBody>
      </p:sp>
      <p:pic>
        <p:nvPicPr>
          <p:cNvPr id="16" name="Image 0" descr="preencoded.png"/>
          <p:cNvPicPr>
            <a:picLocks noChangeAspect="1"/>
          </p:cNvPicPr>
          <p:nvPr/>
        </p:nvPicPr>
        <p:blipFill>
          <a:blip r:embed="rId3"/>
          <a:stretch>
            <a:fillRect/>
          </a:stretch>
        </p:blipFill>
        <p:spPr>
          <a:xfrm rot="5400000">
            <a:off x="5806440" y="3749040"/>
            <a:ext cx="274320" cy="274320"/>
          </a:xfrm>
          <a:prstGeom prst="rect">
            <a:avLst/>
          </a:prstGeom>
        </p:spPr>
      </p:pic>
      <p:sp>
        <p:nvSpPr>
          <p:cNvPr id="17" name="Shape 14"/>
          <p:cNvSpPr/>
          <p:nvPr/>
        </p:nvSpPr>
        <p:spPr>
          <a:xfrm>
            <a:off x="3200400" y="4114800"/>
            <a:ext cx="5760720" cy="868680"/>
          </a:xfrm>
          <a:prstGeom prst="roundRect">
            <a:avLst>
              <a:gd name="adj" fmla="val 8421"/>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18" name="Shape 15"/>
          <p:cNvSpPr/>
          <p:nvPr/>
        </p:nvSpPr>
        <p:spPr>
          <a:xfrm>
            <a:off x="3429000" y="4224528"/>
            <a:ext cx="640080" cy="640080"/>
          </a:xfrm>
          <a:prstGeom prst="ellipse">
            <a:avLst/>
          </a:prstGeom>
          <a:solidFill>
            <a:srgbClr val="CFE3F2"/>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3595421" y="4390949"/>
            <a:ext cx="307238" cy="307238"/>
          </a:xfrm>
          <a:prstGeom prst="rect">
            <a:avLst/>
          </a:prstGeom>
        </p:spPr>
      </p:pic>
      <p:sp>
        <p:nvSpPr>
          <p:cNvPr id="20" name="Text 16"/>
          <p:cNvSpPr/>
          <p:nvPr/>
        </p:nvSpPr>
        <p:spPr>
          <a:xfrm>
            <a:off x="4206240" y="4114800"/>
            <a:ext cx="4663440" cy="868680"/>
          </a:xfrm>
          <a:prstGeom prst="rect">
            <a:avLst/>
          </a:prstGeom>
          <a:noFill/>
          <a:ln/>
        </p:spPr>
        <p:txBody>
          <a:bodyPr wrap="square" lIns="0" tIns="0" rIns="0" bIns="0" rtlCol="0" anchor="ctr"/>
          <a:lstStyle/>
          <a:p>
            <a:pPr marL="0" indent="0">
              <a:buNone/>
            </a:pPr>
            <a:r>
              <a:rPr lang="en-US" sz="1600" b="1" dirty="0">
                <a:solidFill>
                  <a:srgbClr val="16233B"/>
                </a:solidFill>
                <a:latin typeface="Calibri" pitchFamily="34" charset="0"/>
                <a:ea typeface="Calibri" pitchFamily="34" charset="-122"/>
                <a:cs typeface="Calibri" pitchFamily="34" charset="-120"/>
              </a:rPr>
              <a:t>Majority Vote → Final Diagnosis</a:t>
            </a:r>
            <a:endParaRPr lang="en-US" sz="1600" dirty="0"/>
          </a:p>
        </p:txBody>
      </p:sp>
      <p:sp>
        <p:nvSpPr>
          <p:cNvPr id="25" name="Text 21"/>
          <p:cNvSpPr/>
          <p:nvPr/>
        </p:nvSpPr>
        <p:spPr>
          <a:xfrm>
            <a:off x="640080" y="5166360"/>
            <a:ext cx="10881360" cy="594360"/>
          </a:xfrm>
          <a:prstGeom prst="rect">
            <a:avLst/>
          </a:prstGeom>
          <a:noFill/>
          <a:ln/>
        </p:spPr>
        <p:txBody>
          <a:bodyPr wrap="square" lIns="0" tIns="0" rIns="0" bIns="0" rtlCol="0" anchor="ctr"/>
          <a:lstStyle/>
          <a:p>
            <a:pPr marL="0" indent="0">
              <a:lnSpc>
                <a:spcPct val="115000"/>
              </a:lnSpc>
              <a:buNone/>
            </a:pPr>
            <a:r>
              <a:rPr lang="en-US" sz="1250" i="1" dirty="0">
                <a:solidFill>
                  <a:srgbClr val="5B6B82"/>
                </a:solidFill>
                <a:latin typeface="Calibri" pitchFamily="34" charset="0"/>
                <a:ea typeface="Calibri" pitchFamily="34" charset="-122"/>
                <a:cs typeface="Calibri" pitchFamily="34" charset="-120"/>
              </a:rPr>
              <a:t>Web-app upgrade: instead of one hard vote per model, probability vectors are summed - confidence-weighted voting - giving a real confidence percentage for the clinician.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A33"/>
        </a:solidFill>
        <a:effectLst/>
      </p:bgPr>
    </p:bg>
    <p:spTree>
      <p:nvGrpSpPr>
        <p:cNvPr id="1" name=""/>
        <p:cNvGrpSpPr/>
        <p:nvPr/>
      </p:nvGrpSpPr>
      <p:grpSpPr>
        <a:xfrm>
          <a:off x="0" y="0"/>
          <a:ext cx="0" cy="0"/>
          <a:chOff x="0" y="0"/>
          <a:chExt cx="0" cy="0"/>
        </a:xfrm>
      </p:grpSpPr>
      <p:sp>
        <p:nvSpPr>
          <p:cNvPr id="2" name="Shape 0"/>
          <p:cNvSpPr/>
          <p:nvPr/>
        </p:nvSpPr>
        <p:spPr>
          <a:xfrm>
            <a:off x="10241280" y="-2011680"/>
            <a:ext cx="5029200" cy="5029200"/>
          </a:xfrm>
          <a:prstGeom prst="ellipse">
            <a:avLst/>
          </a:prstGeom>
          <a:solidFill>
            <a:srgbClr val="13294B"/>
          </a:solidFill>
          <a:ln/>
        </p:spPr>
        <p:txBody>
          <a:bodyPr/>
          <a:lstStyle/>
          <a:p>
            <a:endParaRPr lang="en-US"/>
          </a:p>
        </p:txBody>
      </p:sp>
      <p:sp>
        <p:nvSpPr>
          <p:cNvPr id="3" name="Shape 1"/>
          <p:cNvSpPr/>
          <p:nvPr/>
        </p:nvSpPr>
        <p:spPr>
          <a:xfrm>
            <a:off x="640080" y="502920"/>
            <a:ext cx="685800" cy="685800"/>
          </a:xfrm>
          <a:prstGeom prst="ellipse">
            <a:avLst/>
          </a:prstGeom>
          <a:solidFill>
            <a:srgbClr val="0E7C72"/>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818388" y="681228"/>
            <a:ext cx="329184" cy="329184"/>
          </a:xfrm>
          <a:prstGeom prst="rect">
            <a:avLst/>
          </a:prstGeom>
        </p:spPr>
      </p:pic>
      <p:sp>
        <p:nvSpPr>
          <p:cNvPr id="5" name="Text 2"/>
          <p:cNvSpPr/>
          <p:nvPr/>
        </p:nvSpPr>
        <p:spPr>
          <a:xfrm>
            <a:off x="1508760" y="5029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The Novelty: EAA-IoU</a:t>
            </a:r>
            <a:endParaRPr lang="en-US" sz="2800" dirty="0"/>
          </a:p>
        </p:txBody>
      </p:sp>
      <p:sp>
        <p:nvSpPr>
          <p:cNvPr id="6" name="Text 3"/>
          <p:cNvSpPr/>
          <p:nvPr/>
        </p:nvSpPr>
        <p:spPr>
          <a:xfrm>
            <a:off x="1508760" y="1051560"/>
            <a:ext cx="8229600" cy="365760"/>
          </a:xfrm>
          <a:prstGeom prst="rect">
            <a:avLst/>
          </a:prstGeom>
          <a:noFill/>
          <a:ln/>
        </p:spPr>
        <p:txBody>
          <a:bodyPr wrap="square" lIns="0" tIns="0" rIns="0" bIns="0" rtlCol="0" anchor="ctr"/>
          <a:lstStyle/>
          <a:p>
            <a:pPr marL="0" indent="0">
              <a:buNone/>
            </a:pPr>
            <a:r>
              <a:rPr lang="en-US" sz="1400" i="1" dirty="0">
                <a:solidFill>
                  <a:srgbClr val="CFE3F2"/>
                </a:solidFill>
                <a:latin typeface="Calibri" pitchFamily="34" charset="0"/>
                <a:ea typeface="Calibri" pitchFamily="34" charset="-122"/>
                <a:cs typeface="Calibri" pitchFamily="34" charset="-120"/>
              </a:rPr>
              <a:t>Teaching the ensemble to say "I'm not sure"</a:t>
            </a:r>
            <a:endParaRPr lang="en-US" sz="1400" dirty="0"/>
          </a:p>
        </p:txBody>
      </p:sp>
      <p:sp>
        <p:nvSpPr>
          <p:cNvPr id="7" name="Shape 4"/>
          <p:cNvSpPr/>
          <p:nvPr/>
        </p:nvSpPr>
        <p:spPr>
          <a:xfrm>
            <a:off x="448766" y="1892808"/>
            <a:ext cx="1600200" cy="1234440"/>
          </a:xfrm>
          <a:prstGeom prst="roundRect">
            <a:avLst>
              <a:gd name="adj" fmla="val 5185"/>
            </a:avLst>
          </a:prstGeom>
          <a:solidFill>
            <a:srgbClr val="13294B"/>
          </a:solidFill>
          <a:ln/>
        </p:spPr>
        <p:txBody>
          <a:bodyPr/>
          <a:lstStyle/>
          <a:p>
            <a:endParaRPr lang="en-US"/>
          </a:p>
        </p:txBody>
      </p:sp>
      <p:pic>
        <p:nvPicPr>
          <p:cNvPr id="8" name="Image 1" descr="preencoded.png"/>
          <p:cNvPicPr>
            <a:picLocks noChangeAspect="1"/>
          </p:cNvPicPr>
          <p:nvPr/>
        </p:nvPicPr>
        <p:blipFill>
          <a:blip r:embed="rId4"/>
          <a:stretch>
            <a:fillRect/>
          </a:stretch>
        </p:blipFill>
        <p:spPr>
          <a:xfrm>
            <a:off x="992834" y="2075688"/>
            <a:ext cx="512064" cy="512064"/>
          </a:xfrm>
          <a:prstGeom prst="rect">
            <a:avLst/>
          </a:prstGeom>
        </p:spPr>
      </p:pic>
      <p:sp>
        <p:nvSpPr>
          <p:cNvPr id="9" name="Text 5"/>
          <p:cNvSpPr/>
          <p:nvPr/>
        </p:nvSpPr>
        <p:spPr>
          <a:xfrm>
            <a:off x="494486" y="2761488"/>
            <a:ext cx="1508760" cy="320040"/>
          </a:xfrm>
          <a:prstGeom prst="rect">
            <a:avLst/>
          </a:prstGeom>
          <a:noFill/>
          <a:ln/>
        </p:spPr>
        <p:txBody>
          <a:bodyPr wrap="square" lIns="0" tIns="0" rIns="0" bIns="0" rtlCol="0" anchor="ctr"/>
          <a:lstStyle/>
          <a:p>
            <a:pPr marL="0" indent="0" algn="ctr">
              <a:buNone/>
            </a:pPr>
            <a:r>
              <a:rPr lang="en-US" sz="1000" dirty="0">
                <a:solidFill>
                  <a:srgbClr val="CFE3F2"/>
                </a:solidFill>
                <a:latin typeface="Calibri" pitchFamily="34" charset="0"/>
                <a:ea typeface="Calibri" pitchFamily="34" charset="-122"/>
                <a:cs typeface="Calibri" pitchFamily="34" charset="-120"/>
              </a:rPr>
              <a:t>CNN Grad-CAM</a:t>
            </a:r>
            <a:endParaRPr lang="en-US" sz="1000" dirty="0"/>
          </a:p>
        </p:txBody>
      </p:sp>
      <p:sp>
        <p:nvSpPr>
          <p:cNvPr id="10" name="Shape 6"/>
          <p:cNvSpPr/>
          <p:nvPr/>
        </p:nvSpPr>
        <p:spPr>
          <a:xfrm>
            <a:off x="2369006" y="1892808"/>
            <a:ext cx="1600200" cy="1234440"/>
          </a:xfrm>
          <a:prstGeom prst="roundRect">
            <a:avLst>
              <a:gd name="adj" fmla="val 5185"/>
            </a:avLst>
          </a:prstGeom>
          <a:solidFill>
            <a:srgbClr val="13294B"/>
          </a:solidFill>
          <a:ln/>
        </p:spPr>
        <p:txBody>
          <a:bodyPr/>
          <a:lstStyle/>
          <a:p>
            <a:endParaRPr lang="en-US"/>
          </a:p>
        </p:txBody>
      </p:sp>
      <p:pic>
        <p:nvPicPr>
          <p:cNvPr id="11" name="Image 2" descr="preencoded.png"/>
          <p:cNvPicPr>
            <a:picLocks noChangeAspect="1"/>
          </p:cNvPicPr>
          <p:nvPr/>
        </p:nvPicPr>
        <p:blipFill>
          <a:blip r:embed="rId4"/>
          <a:stretch>
            <a:fillRect/>
          </a:stretch>
        </p:blipFill>
        <p:spPr>
          <a:xfrm>
            <a:off x="2913074" y="2075688"/>
            <a:ext cx="512064" cy="512064"/>
          </a:xfrm>
          <a:prstGeom prst="rect">
            <a:avLst/>
          </a:prstGeom>
        </p:spPr>
      </p:pic>
      <p:sp>
        <p:nvSpPr>
          <p:cNvPr id="12" name="Text 7"/>
          <p:cNvSpPr/>
          <p:nvPr/>
        </p:nvSpPr>
        <p:spPr>
          <a:xfrm>
            <a:off x="2414726" y="2761488"/>
            <a:ext cx="1508760" cy="320040"/>
          </a:xfrm>
          <a:prstGeom prst="rect">
            <a:avLst/>
          </a:prstGeom>
          <a:noFill/>
          <a:ln/>
        </p:spPr>
        <p:txBody>
          <a:bodyPr wrap="square" lIns="0" tIns="0" rIns="0" bIns="0" rtlCol="0" anchor="ctr"/>
          <a:lstStyle/>
          <a:p>
            <a:pPr marL="0" indent="0" algn="ctr">
              <a:buNone/>
            </a:pPr>
            <a:r>
              <a:rPr lang="en-US" sz="1000" dirty="0">
                <a:solidFill>
                  <a:srgbClr val="CFE3F2"/>
                </a:solidFill>
                <a:latin typeface="Calibri" pitchFamily="34" charset="0"/>
                <a:ea typeface="Calibri" pitchFamily="34" charset="-122"/>
                <a:cs typeface="Calibri" pitchFamily="34" charset="-120"/>
              </a:rPr>
              <a:t>Xception Grad-CAM</a:t>
            </a:r>
            <a:endParaRPr lang="en-US" sz="1000" dirty="0"/>
          </a:p>
        </p:txBody>
      </p:sp>
      <p:sp>
        <p:nvSpPr>
          <p:cNvPr id="13" name="Shape 8"/>
          <p:cNvSpPr/>
          <p:nvPr/>
        </p:nvSpPr>
        <p:spPr>
          <a:xfrm>
            <a:off x="4289246" y="1892808"/>
            <a:ext cx="1600200" cy="1234440"/>
          </a:xfrm>
          <a:prstGeom prst="roundRect">
            <a:avLst>
              <a:gd name="adj" fmla="val 5185"/>
            </a:avLst>
          </a:prstGeom>
          <a:solidFill>
            <a:srgbClr val="13294B"/>
          </a:solidFill>
          <a:ln/>
        </p:spPr>
        <p:txBody>
          <a:bodyPr/>
          <a:lstStyle/>
          <a:p>
            <a:endParaRPr lang="en-US"/>
          </a:p>
        </p:txBody>
      </p:sp>
      <p:pic>
        <p:nvPicPr>
          <p:cNvPr id="14" name="Image 3" descr="preencoded.png"/>
          <p:cNvPicPr>
            <a:picLocks noChangeAspect="1"/>
          </p:cNvPicPr>
          <p:nvPr/>
        </p:nvPicPr>
        <p:blipFill>
          <a:blip r:embed="rId4"/>
          <a:stretch>
            <a:fillRect/>
          </a:stretch>
        </p:blipFill>
        <p:spPr>
          <a:xfrm>
            <a:off x="4833314" y="2075688"/>
            <a:ext cx="512064" cy="512064"/>
          </a:xfrm>
          <a:prstGeom prst="rect">
            <a:avLst/>
          </a:prstGeom>
        </p:spPr>
      </p:pic>
      <p:sp>
        <p:nvSpPr>
          <p:cNvPr id="15" name="Text 9"/>
          <p:cNvSpPr/>
          <p:nvPr/>
        </p:nvSpPr>
        <p:spPr>
          <a:xfrm>
            <a:off x="4334966" y="2761488"/>
            <a:ext cx="1508760" cy="320040"/>
          </a:xfrm>
          <a:prstGeom prst="rect">
            <a:avLst/>
          </a:prstGeom>
          <a:noFill/>
          <a:ln/>
        </p:spPr>
        <p:txBody>
          <a:bodyPr wrap="square" lIns="0" tIns="0" rIns="0" bIns="0" rtlCol="0" anchor="ctr"/>
          <a:lstStyle/>
          <a:p>
            <a:pPr marL="0" indent="0" algn="ctr">
              <a:buNone/>
            </a:pPr>
            <a:r>
              <a:rPr lang="en-US" sz="1000" dirty="0">
                <a:solidFill>
                  <a:srgbClr val="CFE3F2"/>
                </a:solidFill>
                <a:latin typeface="Calibri" pitchFamily="34" charset="0"/>
                <a:ea typeface="Calibri" pitchFamily="34" charset="-122"/>
                <a:cs typeface="Calibri" pitchFamily="34" charset="-120"/>
              </a:rPr>
              <a:t>InceptionV3 Grad-CAM</a:t>
            </a:r>
            <a:endParaRPr lang="en-US" sz="1000" dirty="0"/>
          </a:p>
        </p:txBody>
      </p:sp>
      <p:pic>
        <p:nvPicPr>
          <p:cNvPr id="16" name="Image 4" descr="preencoded.png"/>
          <p:cNvPicPr>
            <a:picLocks noChangeAspect="1"/>
          </p:cNvPicPr>
          <p:nvPr/>
        </p:nvPicPr>
        <p:blipFill>
          <a:blip r:embed="rId5"/>
          <a:stretch>
            <a:fillRect/>
          </a:stretch>
        </p:blipFill>
        <p:spPr>
          <a:xfrm>
            <a:off x="5870626" y="2436876"/>
            <a:ext cx="274320" cy="237744"/>
          </a:xfrm>
          <a:prstGeom prst="rect">
            <a:avLst/>
          </a:prstGeom>
        </p:spPr>
      </p:pic>
      <p:grpSp>
        <p:nvGrpSpPr>
          <p:cNvPr id="34" name="Group 33">
            <a:extLst>
              <a:ext uri="{FF2B5EF4-FFF2-40B4-BE49-F238E27FC236}">
                <a16:creationId xmlns:a16="http://schemas.microsoft.com/office/drawing/2014/main" id="{001B3623-17BA-1FEB-BA68-CD893D1D1328}"/>
              </a:ext>
            </a:extLst>
          </p:cNvPr>
          <p:cNvGrpSpPr/>
          <p:nvPr/>
        </p:nvGrpSpPr>
        <p:grpSpPr>
          <a:xfrm>
            <a:off x="6163766" y="1892808"/>
            <a:ext cx="2606040" cy="1234440"/>
            <a:chOff x="5669280" y="1874520"/>
            <a:chExt cx="2606040" cy="1234440"/>
          </a:xfrm>
        </p:grpSpPr>
        <p:sp>
          <p:nvSpPr>
            <p:cNvPr id="17" name="Shape 10"/>
            <p:cNvSpPr/>
            <p:nvPr/>
          </p:nvSpPr>
          <p:spPr>
            <a:xfrm>
              <a:off x="5669280" y="1874520"/>
              <a:ext cx="2606040" cy="1234440"/>
            </a:xfrm>
            <a:prstGeom prst="roundRect">
              <a:avLst>
                <a:gd name="adj" fmla="val 5185"/>
              </a:avLst>
            </a:prstGeom>
            <a:solidFill>
              <a:srgbClr val="0E7C72"/>
            </a:solidFill>
            <a:ln/>
          </p:spPr>
          <p:txBody>
            <a:bodyPr/>
            <a:lstStyle/>
            <a:p>
              <a:endParaRPr lang="en-US"/>
            </a:p>
          </p:txBody>
        </p:sp>
        <p:sp>
          <p:nvSpPr>
            <p:cNvPr id="18" name="Text 11"/>
            <p:cNvSpPr/>
            <p:nvPr/>
          </p:nvSpPr>
          <p:spPr>
            <a:xfrm>
              <a:off x="5806440" y="2011680"/>
              <a:ext cx="2331720" cy="9601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Pairwise IoU</a:t>
              </a:r>
              <a:endParaRPr lang="en-US" sz="1250" dirty="0"/>
            </a:p>
            <a:p>
              <a:pPr marL="0" indent="0" algn="ctr">
                <a:buNone/>
              </a:pPr>
              <a:r>
                <a:rPr lang="en-US" sz="1250" b="1" dirty="0">
                  <a:solidFill>
                    <a:srgbClr val="FFFFFF"/>
                  </a:solidFill>
                  <a:latin typeface="Calibri" pitchFamily="34" charset="0"/>
                  <a:ea typeface="Calibri" pitchFamily="34" charset="-122"/>
                  <a:cs typeface="Calibri" pitchFamily="34" charset="-120"/>
                </a:rPr>
                <a:t>overlap ÷ union</a:t>
              </a:r>
              <a:endParaRPr lang="en-US" sz="1250" dirty="0"/>
            </a:p>
          </p:txBody>
        </p:sp>
      </p:grpSp>
      <p:pic>
        <p:nvPicPr>
          <p:cNvPr id="19" name="Image 5" descr="preencoded.png"/>
          <p:cNvPicPr>
            <a:picLocks noChangeAspect="1"/>
          </p:cNvPicPr>
          <p:nvPr/>
        </p:nvPicPr>
        <p:blipFill>
          <a:blip r:embed="rId5"/>
          <a:stretch>
            <a:fillRect/>
          </a:stretch>
        </p:blipFill>
        <p:spPr>
          <a:xfrm>
            <a:off x="8788094" y="2391156"/>
            <a:ext cx="274320" cy="237744"/>
          </a:xfrm>
          <a:prstGeom prst="rect">
            <a:avLst/>
          </a:prstGeom>
        </p:spPr>
      </p:pic>
      <p:grpSp>
        <p:nvGrpSpPr>
          <p:cNvPr id="33" name="Group 32">
            <a:extLst>
              <a:ext uri="{FF2B5EF4-FFF2-40B4-BE49-F238E27FC236}">
                <a16:creationId xmlns:a16="http://schemas.microsoft.com/office/drawing/2014/main" id="{96E72715-287A-E432-4E1D-68B0A6E6C8A1}"/>
              </a:ext>
            </a:extLst>
          </p:cNvPr>
          <p:cNvGrpSpPr/>
          <p:nvPr/>
        </p:nvGrpSpPr>
        <p:grpSpPr>
          <a:xfrm>
            <a:off x="9117278" y="1911096"/>
            <a:ext cx="2606040" cy="1234440"/>
            <a:chOff x="8823960" y="1874520"/>
            <a:chExt cx="2606040" cy="1234440"/>
          </a:xfrm>
        </p:grpSpPr>
        <p:sp>
          <p:nvSpPr>
            <p:cNvPr id="20" name="Shape 12"/>
            <p:cNvSpPr/>
            <p:nvPr/>
          </p:nvSpPr>
          <p:spPr>
            <a:xfrm>
              <a:off x="8823960" y="1874520"/>
              <a:ext cx="2606040" cy="1234440"/>
            </a:xfrm>
            <a:prstGeom prst="roundRect">
              <a:avLst>
                <a:gd name="adj" fmla="val 5185"/>
              </a:avLst>
            </a:prstGeom>
            <a:solidFill>
              <a:srgbClr val="1FBFAE"/>
            </a:solidFill>
            <a:ln/>
          </p:spPr>
          <p:txBody>
            <a:bodyPr/>
            <a:lstStyle/>
            <a:p>
              <a:endParaRPr lang="en-US"/>
            </a:p>
          </p:txBody>
        </p:sp>
        <p:sp>
          <p:nvSpPr>
            <p:cNvPr id="21" name="Text 13"/>
            <p:cNvSpPr/>
            <p:nvPr/>
          </p:nvSpPr>
          <p:spPr>
            <a:xfrm>
              <a:off x="8823960" y="2039112"/>
              <a:ext cx="2606040" cy="411480"/>
            </a:xfrm>
            <a:prstGeom prst="rect">
              <a:avLst/>
            </a:prstGeom>
            <a:noFill/>
            <a:ln/>
          </p:spPr>
          <p:txBody>
            <a:bodyPr wrap="square" lIns="0" tIns="0" rIns="0" bIns="0" rtlCol="0" anchor="ctr"/>
            <a:lstStyle/>
            <a:p>
              <a:pPr marL="0" indent="0" algn="ctr">
                <a:buNone/>
              </a:pPr>
              <a:r>
                <a:rPr lang="en-US" sz="1600" b="1" dirty="0">
                  <a:solidFill>
                    <a:srgbClr val="0A1A33"/>
                  </a:solidFill>
                  <a:latin typeface="Cambria" pitchFamily="34" charset="0"/>
                  <a:ea typeface="Cambria" pitchFamily="34" charset="-122"/>
                  <a:cs typeface="Cambria" pitchFamily="34" charset="-120"/>
                </a:rPr>
                <a:t>EAA-IoU</a:t>
              </a:r>
              <a:endParaRPr lang="en-US" sz="1600" dirty="0"/>
            </a:p>
          </p:txBody>
        </p:sp>
        <p:sp>
          <p:nvSpPr>
            <p:cNvPr id="22" name="Text 14"/>
            <p:cNvSpPr/>
            <p:nvPr/>
          </p:nvSpPr>
          <p:spPr>
            <a:xfrm>
              <a:off x="8961120" y="2450592"/>
              <a:ext cx="2331720" cy="594360"/>
            </a:xfrm>
            <a:prstGeom prst="rect">
              <a:avLst/>
            </a:prstGeom>
            <a:noFill/>
            <a:ln/>
          </p:spPr>
          <p:txBody>
            <a:bodyPr wrap="square" lIns="0" tIns="0" rIns="0" bIns="0" rtlCol="0" anchor="ctr"/>
            <a:lstStyle/>
            <a:p>
              <a:pPr marL="0" indent="0" algn="ctr">
                <a:buNone/>
              </a:pPr>
              <a:r>
                <a:rPr lang="en-US" sz="1100" dirty="0">
                  <a:solidFill>
                    <a:srgbClr val="0A1A33"/>
                  </a:solidFill>
                  <a:latin typeface="Calibri" pitchFamily="34" charset="0"/>
                  <a:ea typeface="Calibri" pitchFamily="34" charset="-122"/>
                  <a:cs typeface="Calibri" pitchFamily="34" charset="-120"/>
                </a:rPr>
                <a:t>Average of the 3</a:t>
              </a:r>
              <a:endParaRPr lang="en-US" sz="1100" dirty="0"/>
            </a:p>
            <a:p>
              <a:pPr marL="0" indent="0" algn="ctr">
                <a:buNone/>
              </a:pPr>
              <a:r>
                <a:rPr lang="en-US" sz="1100" dirty="0">
                  <a:solidFill>
                    <a:srgbClr val="0A1A33"/>
                  </a:solidFill>
                  <a:latin typeface="Calibri" pitchFamily="34" charset="0"/>
                  <a:ea typeface="Calibri" pitchFamily="34" charset="-122"/>
                  <a:cs typeface="Calibri" pitchFamily="34" charset="-120"/>
                </a:rPr>
                <a:t>pairwise scores</a:t>
              </a:r>
              <a:endParaRPr lang="en-US" sz="1100" dirty="0"/>
            </a:p>
          </p:txBody>
        </p:sp>
      </p:grpSp>
      <p:sp>
        <p:nvSpPr>
          <p:cNvPr id="23" name="Shape 15"/>
          <p:cNvSpPr/>
          <p:nvPr/>
        </p:nvSpPr>
        <p:spPr>
          <a:xfrm>
            <a:off x="640080" y="3429000"/>
            <a:ext cx="5257800" cy="1188720"/>
          </a:xfrm>
          <a:prstGeom prst="roundRect">
            <a:avLst>
              <a:gd name="adj" fmla="val 6154"/>
            </a:avLst>
          </a:prstGeom>
          <a:solidFill>
            <a:srgbClr val="13294B"/>
          </a:solidFill>
          <a:ln/>
        </p:spPr>
        <p:txBody>
          <a:bodyPr/>
          <a:lstStyle/>
          <a:p>
            <a:endParaRPr lang="en-US"/>
          </a:p>
        </p:txBody>
      </p:sp>
      <p:pic>
        <p:nvPicPr>
          <p:cNvPr id="24" name="Image 6" descr="preencoded.png"/>
          <p:cNvPicPr>
            <a:picLocks noChangeAspect="1"/>
          </p:cNvPicPr>
          <p:nvPr/>
        </p:nvPicPr>
        <p:blipFill>
          <a:blip r:embed="rId6"/>
          <a:stretch>
            <a:fillRect/>
          </a:stretch>
        </p:blipFill>
        <p:spPr>
          <a:xfrm>
            <a:off x="868680" y="3721608"/>
            <a:ext cx="502920" cy="502920"/>
          </a:xfrm>
          <a:prstGeom prst="rect">
            <a:avLst/>
          </a:prstGeom>
        </p:spPr>
      </p:pic>
      <p:sp>
        <p:nvSpPr>
          <p:cNvPr id="25" name="Text 16"/>
          <p:cNvSpPr/>
          <p:nvPr/>
        </p:nvSpPr>
        <p:spPr>
          <a:xfrm>
            <a:off x="1508760" y="3566160"/>
            <a:ext cx="4206240" cy="365760"/>
          </a:xfrm>
          <a:prstGeom prst="rect">
            <a:avLst/>
          </a:prstGeom>
          <a:noFill/>
          <a:ln/>
        </p:spPr>
        <p:txBody>
          <a:bodyPr wrap="square" lIns="0" tIns="0" rIns="0" bIns="0" rtlCol="0" anchor="ctr"/>
          <a:lstStyle/>
          <a:p>
            <a:pPr marL="0" indent="0">
              <a:buNone/>
            </a:pPr>
            <a:r>
              <a:rPr lang="en-US" sz="1400" b="1" dirty="0">
                <a:solidFill>
                  <a:srgbClr val="1FBFAE"/>
                </a:solidFill>
                <a:latin typeface="Calibri" pitchFamily="34" charset="0"/>
                <a:ea typeface="Calibri" pitchFamily="34" charset="-122"/>
                <a:cs typeface="Calibri" pitchFamily="34" charset="-120"/>
              </a:rPr>
              <a:t>High agreement</a:t>
            </a:r>
            <a:endParaRPr lang="en-US" sz="1400" dirty="0"/>
          </a:p>
        </p:txBody>
      </p:sp>
      <p:sp>
        <p:nvSpPr>
          <p:cNvPr id="26" name="Text 17"/>
          <p:cNvSpPr/>
          <p:nvPr/>
        </p:nvSpPr>
        <p:spPr>
          <a:xfrm>
            <a:off x="1508760" y="3959352"/>
            <a:ext cx="4206240" cy="548640"/>
          </a:xfrm>
          <a:prstGeom prst="rect">
            <a:avLst/>
          </a:prstGeom>
          <a:noFill/>
          <a:ln/>
        </p:spPr>
        <p:txBody>
          <a:bodyPr wrap="square" lIns="0" tIns="0" rIns="0" bIns="0" rtlCol="0" anchor="ctr"/>
          <a:lstStyle/>
          <a:p>
            <a:pPr marL="0" indent="0">
              <a:buNone/>
            </a:pPr>
            <a:r>
              <a:rPr lang="en-US" sz="1150" dirty="0">
                <a:solidFill>
                  <a:srgbClr val="CFE3F2"/>
                </a:solidFill>
                <a:latin typeface="Calibri" pitchFamily="34" charset="0"/>
                <a:ea typeface="Calibri" pitchFamily="34" charset="-122"/>
                <a:cs typeface="Calibri" pitchFamily="34" charset="-120"/>
              </a:rPr>
              <a:t>Models highlight the same region — confident and consistent.</a:t>
            </a:r>
            <a:endParaRPr lang="en-US" sz="1150" dirty="0"/>
          </a:p>
        </p:txBody>
      </p:sp>
      <p:sp>
        <p:nvSpPr>
          <p:cNvPr id="27" name="Shape 18"/>
          <p:cNvSpPr/>
          <p:nvPr/>
        </p:nvSpPr>
        <p:spPr>
          <a:xfrm>
            <a:off x="6263640" y="3429000"/>
            <a:ext cx="5257800" cy="1188720"/>
          </a:xfrm>
          <a:prstGeom prst="roundRect">
            <a:avLst>
              <a:gd name="adj" fmla="val 6154"/>
            </a:avLst>
          </a:prstGeom>
          <a:solidFill>
            <a:srgbClr val="3A1E1E"/>
          </a:solidFill>
          <a:ln/>
        </p:spPr>
        <p:txBody>
          <a:bodyPr/>
          <a:lstStyle/>
          <a:p>
            <a:endParaRPr lang="en-US"/>
          </a:p>
        </p:txBody>
      </p:sp>
      <p:pic>
        <p:nvPicPr>
          <p:cNvPr id="28" name="Image 7" descr="preencoded.png"/>
          <p:cNvPicPr>
            <a:picLocks noChangeAspect="1"/>
          </p:cNvPicPr>
          <p:nvPr/>
        </p:nvPicPr>
        <p:blipFill>
          <a:blip r:embed="rId7"/>
          <a:stretch>
            <a:fillRect/>
          </a:stretch>
        </p:blipFill>
        <p:spPr>
          <a:xfrm>
            <a:off x="6492240" y="3721608"/>
            <a:ext cx="502920" cy="502920"/>
          </a:xfrm>
          <a:prstGeom prst="rect">
            <a:avLst/>
          </a:prstGeom>
        </p:spPr>
      </p:pic>
      <p:sp>
        <p:nvSpPr>
          <p:cNvPr id="29" name="Text 19"/>
          <p:cNvSpPr/>
          <p:nvPr/>
        </p:nvSpPr>
        <p:spPr>
          <a:xfrm>
            <a:off x="7132320" y="3566160"/>
            <a:ext cx="4206240" cy="365760"/>
          </a:xfrm>
          <a:prstGeom prst="rect">
            <a:avLst/>
          </a:prstGeom>
          <a:noFill/>
          <a:ln/>
        </p:spPr>
        <p:txBody>
          <a:bodyPr wrap="square" lIns="0" tIns="0" rIns="0" bIns="0" rtlCol="0" anchor="ctr"/>
          <a:lstStyle/>
          <a:p>
            <a:pPr marL="0" indent="0">
              <a:buNone/>
            </a:pPr>
            <a:r>
              <a:rPr lang="en-US" sz="1400" b="1" dirty="0">
                <a:solidFill>
                  <a:srgbClr val="D9534F"/>
                </a:solidFill>
                <a:latin typeface="Calibri" pitchFamily="34" charset="0"/>
                <a:ea typeface="Calibri" pitchFamily="34" charset="-122"/>
                <a:cs typeface="Calibri" pitchFamily="34" charset="-120"/>
              </a:rPr>
              <a:t>Low agreement → escalate</a:t>
            </a:r>
            <a:endParaRPr lang="en-US" sz="1400" dirty="0"/>
          </a:p>
        </p:txBody>
      </p:sp>
      <p:sp>
        <p:nvSpPr>
          <p:cNvPr id="30" name="Text 20"/>
          <p:cNvSpPr/>
          <p:nvPr/>
        </p:nvSpPr>
        <p:spPr>
          <a:xfrm>
            <a:off x="7132320" y="3959352"/>
            <a:ext cx="4206240" cy="548640"/>
          </a:xfrm>
          <a:prstGeom prst="rect">
            <a:avLst/>
          </a:prstGeom>
          <a:noFill/>
          <a:ln/>
        </p:spPr>
        <p:txBody>
          <a:bodyPr wrap="square" lIns="0" tIns="0" rIns="0" bIns="0" rtlCol="0" anchor="ctr"/>
          <a:lstStyle/>
          <a:p>
            <a:pPr marL="0" indent="0">
              <a:buNone/>
            </a:pPr>
            <a:r>
              <a:rPr lang="en-US" sz="1150" dirty="0">
                <a:solidFill>
                  <a:srgbClr val="CFE3F2"/>
                </a:solidFill>
                <a:latin typeface="Calibri" pitchFamily="34" charset="0"/>
                <a:ea typeface="Calibri" pitchFamily="34" charset="-122"/>
                <a:cs typeface="Calibri" pitchFamily="34" charset="-120"/>
              </a:rPr>
              <a:t>Models disagree on where the tumour is — clinical escalation alert raised.</a:t>
            </a:r>
            <a:endParaRPr lang="en-US" sz="1150" dirty="0"/>
          </a:p>
        </p:txBody>
      </p:sp>
      <p:sp>
        <p:nvSpPr>
          <p:cNvPr id="31" name="Shape 21"/>
          <p:cNvSpPr/>
          <p:nvPr/>
        </p:nvSpPr>
        <p:spPr>
          <a:xfrm>
            <a:off x="640080" y="4846320"/>
            <a:ext cx="10881360" cy="1417320"/>
          </a:xfrm>
          <a:prstGeom prst="roundRect">
            <a:avLst>
              <a:gd name="adj" fmla="val 5161"/>
            </a:avLst>
          </a:prstGeom>
          <a:solidFill>
            <a:srgbClr val="13294B"/>
          </a:solidFill>
          <a:ln/>
        </p:spPr>
        <p:txBody>
          <a:bodyPr/>
          <a:lstStyle/>
          <a:p>
            <a:endParaRPr lang="en-US"/>
          </a:p>
        </p:txBody>
      </p:sp>
      <p:sp>
        <p:nvSpPr>
          <p:cNvPr id="32" name="Text 22"/>
          <p:cNvSpPr/>
          <p:nvPr/>
        </p:nvSpPr>
        <p:spPr>
          <a:xfrm>
            <a:off x="914400" y="4956048"/>
            <a:ext cx="10332720" cy="1234440"/>
          </a:xfrm>
          <a:prstGeom prst="rect">
            <a:avLst/>
          </a:prstGeom>
          <a:noFill/>
          <a:ln/>
        </p:spPr>
        <p:txBody>
          <a:bodyPr wrap="square" lIns="0" tIns="0" rIns="0" bIns="0" rtlCol="0" anchor="ctr"/>
          <a:lstStyle/>
          <a:p>
            <a:pPr marL="0" indent="0">
              <a:lnSpc>
                <a:spcPct val="120000"/>
              </a:lnSpc>
              <a:buNone/>
            </a:pPr>
            <a:r>
              <a:rPr lang="en-US" sz="1250" b="1" dirty="0">
                <a:solidFill>
                  <a:srgbClr val="1FBFAE"/>
                </a:solidFill>
                <a:latin typeface="Calibri" pitchFamily="34" charset="0"/>
                <a:ea typeface="Calibri" pitchFamily="34" charset="-122"/>
                <a:cs typeface="Calibri" pitchFamily="34" charset="-120"/>
              </a:rPr>
              <a:t>Why this is genuinely new:  </a:t>
            </a:r>
            <a:r>
              <a:rPr lang="en-US" sz="1250" dirty="0">
                <a:solidFill>
                  <a:srgbClr val="CFE3F2"/>
                </a:solidFill>
                <a:latin typeface="Calibri" pitchFamily="34" charset="0"/>
                <a:ea typeface="Calibri" pitchFamily="34" charset="-122"/>
                <a:cs typeface="Calibri" pitchFamily="34" charset="-120"/>
              </a:rPr>
              <a:t>existing explainable-ensemble work compares a model's heatmap against a doctor's hand-drawn tumour box — needing expensive expert annotations. EAA-IoU needs no ground truth at all: it measures whether the models agree with each other, making it a self-supervised uncertainty signal that works on any dataset out of the box.</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9FC"/>
        </a:solidFill>
        <a:effectLst/>
      </p:bgPr>
    </p:bg>
    <p:spTree>
      <p:nvGrpSpPr>
        <p:cNvPr id="1" name=""/>
        <p:cNvGrpSpPr/>
        <p:nvPr/>
      </p:nvGrpSpPr>
      <p:grpSpPr>
        <a:xfrm>
          <a:off x="0" y="0"/>
          <a:ext cx="0" cy="0"/>
          <a:chOff x="0" y="0"/>
          <a:chExt cx="0" cy="0"/>
        </a:xfrm>
      </p:grpSpPr>
      <p:sp>
        <p:nvSpPr>
          <p:cNvPr id="2" name="Text 0"/>
          <p:cNvSpPr/>
          <p:nvPr/>
        </p:nvSpPr>
        <p:spPr>
          <a:xfrm>
            <a:off x="640080" y="457200"/>
            <a:ext cx="8229600" cy="640080"/>
          </a:xfrm>
          <a:prstGeom prst="rect">
            <a:avLst/>
          </a:prstGeom>
          <a:noFill/>
          <a:ln/>
        </p:spPr>
        <p:txBody>
          <a:bodyPr wrap="square" lIns="0" tIns="0" rIns="0" bIns="0" rtlCol="0" anchor="ctr"/>
          <a:lstStyle/>
          <a:p>
            <a:pPr marL="0" indent="0">
              <a:buNone/>
            </a:pPr>
            <a:r>
              <a:rPr lang="en-US" sz="3000" b="1" dirty="0">
                <a:solidFill>
                  <a:srgbClr val="16233B"/>
                </a:solidFill>
                <a:latin typeface="Cambria" pitchFamily="34" charset="0"/>
                <a:ea typeface="Cambria" pitchFamily="34" charset="-122"/>
                <a:cs typeface="Cambria" pitchFamily="34" charset="-120"/>
              </a:rPr>
              <a:t>From Research to Product</a:t>
            </a:r>
            <a:endParaRPr lang="en-US" sz="3000" dirty="0"/>
          </a:p>
        </p:txBody>
      </p:sp>
      <p:sp>
        <p:nvSpPr>
          <p:cNvPr id="3" name="Text 1"/>
          <p:cNvSpPr/>
          <p:nvPr/>
        </p:nvSpPr>
        <p:spPr>
          <a:xfrm>
            <a:off x="640080" y="1005840"/>
            <a:ext cx="10058400" cy="365760"/>
          </a:xfrm>
          <a:prstGeom prst="rect">
            <a:avLst/>
          </a:prstGeom>
          <a:noFill/>
          <a:ln/>
        </p:spPr>
        <p:txBody>
          <a:bodyPr wrap="square" lIns="0" tIns="0" rIns="0" bIns="0" rtlCol="0" anchor="ctr"/>
          <a:lstStyle/>
          <a:p>
            <a:pPr marL="0" indent="0">
              <a:buNone/>
            </a:pPr>
            <a:r>
              <a:rPr lang="en-US" sz="1400" dirty="0">
                <a:solidFill>
                  <a:srgbClr val="5B6B82"/>
                </a:solidFill>
                <a:latin typeface="Calibri" pitchFamily="34" charset="0"/>
                <a:ea typeface="Calibri" pitchFamily="34" charset="-122"/>
                <a:cs typeface="Calibri" pitchFamily="34" charset="-120"/>
              </a:rPr>
              <a:t>A working web application — React front-end, Python backend, containerised</a:t>
            </a:r>
            <a:endParaRPr lang="en-US" sz="1400" dirty="0"/>
          </a:p>
        </p:txBody>
      </p:sp>
      <p:sp>
        <p:nvSpPr>
          <p:cNvPr id="4" name="Shape 2"/>
          <p:cNvSpPr/>
          <p:nvPr/>
        </p:nvSpPr>
        <p:spPr>
          <a:xfrm>
            <a:off x="640080" y="1691640"/>
            <a:ext cx="5257800" cy="4206240"/>
          </a:xfrm>
          <a:prstGeom prst="roundRect">
            <a:avLst>
              <a:gd name="adj" fmla="val 1739"/>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5" name="Shape 3"/>
          <p:cNvSpPr/>
          <p:nvPr/>
        </p:nvSpPr>
        <p:spPr>
          <a:xfrm>
            <a:off x="914400" y="1920240"/>
            <a:ext cx="640080" cy="640080"/>
          </a:xfrm>
          <a:prstGeom prst="ellipse">
            <a:avLst/>
          </a:prstGeom>
          <a:solidFill>
            <a:srgbClr val="CFE3F2"/>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080821" y="2086661"/>
            <a:ext cx="307238" cy="307238"/>
          </a:xfrm>
          <a:prstGeom prst="rect">
            <a:avLst/>
          </a:prstGeom>
        </p:spPr>
      </p:pic>
      <p:sp>
        <p:nvSpPr>
          <p:cNvPr id="7" name="Text 4"/>
          <p:cNvSpPr/>
          <p:nvPr/>
        </p:nvSpPr>
        <p:spPr>
          <a:xfrm>
            <a:off x="1691640" y="1965960"/>
            <a:ext cx="4023360" cy="502920"/>
          </a:xfrm>
          <a:prstGeom prst="rect">
            <a:avLst/>
          </a:prstGeom>
          <a:noFill/>
          <a:ln/>
        </p:spPr>
        <p:txBody>
          <a:bodyPr wrap="square" lIns="0" tIns="0" rIns="0" bIns="0" rtlCol="0" anchor="ctr"/>
          <a:lstStyle/>
          <a:p>
            <a:pPr marL="0" indent="0">
              <a:buNone/>
            </a:pPr>
            <a:r>
              <a:rPr lang="en-US" sz="1800" b="1" dirty="0">
                <a:solidFill>
                  <a:srgbClr val="16233B"/>
                </a:solidFill>
                <a:latin typeface="Calibri" pitchFamily="34" charset="0"/>
                <a:ea typeface="Calibri" pitchFamily="34" charset="-122"/>
                <a:cs typeface="Calibri" pitchFamily="34" charset="-120"/>
              </a:rPr>
              <a:t>Live Diagnosis</a:t>
            </a:r>
            <a:endParaRPr lang="en-US" sz="1800" dirty="0"/>
          </a:p>
        </p:txBody>
      </p:sp>
      <p:sp>
        <p:nvSpPr>
          <p:cNvPr id="8" name="Text 5"/>
          <p:cNvSpPr/>
          <p:nvPr/>
        </p:nvSpPr>
        <p:spPr>
          <a:xfrm>
            <a:off x="914400" y="2743200"/>
            <a:ext cx="4709160" cy="3017520"/>
          </a:xfrm>
          <a:prstGeom prst="rect">
            <a:avLst/>
          </a:prstGeom>
          <a:noFill/>
          <a:ln/>
        </p:spPr>
        <p:txBody>
          <a:bodyPr wrap="square" lIns="0" tIns="0" rIns="0" bIns="0" rtlCol="0" anchor="t"/>
          <a:lstStyle/>
          <a:p>
            <a:pPr marL="342900" indent="-342900">
              <a:lnSpc>
                <a:spcPct val="135000"/>
              </a:lnSpc>
              <a:buSzPct val="100000"/>
              <a:buChar char="•"/>
            </a:pPr>
            <a:r>
              <a:rPr lang="en-US" sz="1300" dirty="0">
                <a:solidFill>
                  <a:srgbClr val="5B6B82"/>
                </a:solidFill>
                <a:latin typeface="Calibri" pitchFamily="34" charset="0"/>
                <a:ea typeface="Calibri" pitchFamily="34" charset="-122"/>
                <a:cs typeface="Calibri" pitchFamily="34" charset="-120"/>
              </a:rPr>
              <a:t>Predicted tumour type + confidence bar</a:t>
            </a:r>
            <a:endParaRPr lang="en-US" sz="1300" dirty="0"/>
          </a:p>
          <a:p>
            <a:pPr marL="342900" indent="-342900">
              <a:lnSpc>
                <a:spcPct val="135000"/>
              </a:lnSpc>
              <a:buSzPct val="100000"/>
              <a:buChar char="•"/>
            </a:pPr>
            <a:r>
              <a:rPr lang="en-US" sz="1300" dirty="0">
                <a:solidFill>
                  <a:srgbClr val="5B6B82"/>
                </a:solidFill>
                <a:latin typeface="Calibri" pitchFamily="34" charset="0"/>
                <a:ea typeface="Calibri" pitchFamily="34" charset="-122"/>
                <a:cs typeface="Calibri" pitchFamily="34" charset="-120"/>
              </a:rPr>
              <a:t>Grad-CAM heatmaps from all three models + consensus map</a:t>
            </a:r>
            <a:endParaRPr lang="en-US" sz="1300" dirty="0"/>
          </a:p>
          <a:p>
            <a:pPr marL="342900" indent="-342900">
              <a:lnSpc>
                <a:spcPct val="135000"/>
              </a:lnSpc>
              <a:buSzPct val="100000"/>
              <a:buChar char="•"/>
            </a:pPr>
            <a:r>
              <a:rPr lang="en-US" sz="1300" dirty="0">
                <a:solidFill>
                  <a:srgbClr val="5B6B82"/>
                </a:solidFill>
                <a:latin typeface="Calibri" pitchFamily="34" charset="0"/>
                <a:ea typeface="Calibri" pitchFamily="34" charset="-122"/>
                <a:cs typeface="Calibri" pitchFamily="34" charset="-120"/>
              </a:rPr>
              <a:t>Per-model vote breakdown — nothing hidden</a:t>
            </a:r>
            <a:endParaRPr lang="en-US" sz="1300" dirty="0"/>
          </a:p>
          <a:p>
            <a:pPr marL="342900" indent="-342900">
              <a:lnSpc>
                <a:spcPct val="135000"/>
              </a:lnSpc>
              <a:buSzPct val="100000"/>
              <a:buChar char="•"/>
            </a:pPr>
            <a:r>
              <a:rPr lang="en-US" sz="1300" dirty="0">
                <a:solidFill>
                  <a:srgbClr val="5B6B82"/>
                </a:solidFill>
                <a:latin typeface="Calibri" pitchFamily="34" charset="0"/>
                <a:ea typeface="Calibri" pitchFamily="34" charset="-122"/>
                <a:cs typeface="Calibri" pitchFamily="34" charset="-120"/>
              </a:rPr>
              <a:t>Clinical escalation alert when models disagree</a:t>
            </a:r>
            <a:endParaRPr lang="en-US" sz="1300" dirty="0"/>
          </a:p>
        </p:txBody>
      </p:sp>
      <p:sp>
        <p:nvSpPr>
          <p:cNvPr id="9" name="Shape 6"/>
          <p:cNvSpPr/>
          <p:nvPr/>
        </p:nvSpPr>
        <p:spPr>
          <a:xfrm>
            <a:off x="6263640" y="1691640"/>
            <a:ext cx="5257800" cy="4206240"/>
          </a:xfrm>
          <a:prstGeom prst="roundRect">
            <a:avLst>
              <a:gd name="adj" fmla="val 1739"/>
            </a:avLst>
          </a:prstGeom>
          <a:solidFill>
            <a:srgbClr val="FFFFFF"/>
          </a:solidFill>
          <a:ln/>
          <a:effectLst>
            <a:outerShdw blurRad="101600" dist="38100" dir="5400000" algn="bl" rotWithShape="0">
              <a:srgbClr val="0A1A33">
                <a:alpha val="12000"/>
              </a:srgbClr>
            </a:outerShdw>
          </a:effectLst>
        </p:spPr>
        <p:txBody>
          <a:bodyPr/>
          <a:lstStyle/>
          <a:p>
            <a:endParaRPr lang="en-US"/>
          </a:p>
        </p:txBody>
      </p:sp>
      <p:sp>
        <p:nvSpPr>
          <p:cNvPr id="10" name="Shape 7"/>
          <p:cNvSpPr/>
          <p:nvPr/>
        </p:nvSpPr>
        <p:spPr>
          <a:xfrm>
            <a:off x="6537960" y="1920240"/>
            <a:ext cx="640080" cy="640080"/>
          </a:xfrm>
          <a:prstGeom prst="ellipse">
            <a:avLst/>
          </a:prstGeom>
          <a:solidFill>
            <a:srgbClr val="CFE3F2"/>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6704381" y="2086661"/>
            <a:ext cx="307238" cy="307238"/>
          </a:xfrm>
          <a:prstGeom prst="rect">
            <a:avLst/>
          </a:prstGeom>
        </p:spPr>
      </p:pic>
      <p:sp>
        <p:nvSpPr>
          <p:cNvPr id="12" name="Text 8"/>
          <p:cNvSpPr/>
          <p:nvPr/>
        </p:nvSpPr>
        <p:spPr>
          <a:xfrm>
            <a:off x="7315200" y="1965960"/>
            <a:ext cx="4023360" cy="502920"/>
          </a:xfrm>
          <a:prstGeom prst="rect">
            <a:avLst/>
          </a:prstGeom>
          <a:noFill/>
          <a:ln/>
        </p:spPr>
        <p:txBody>
          <a:bodyPr wrap="square" lIns="0" tIns="0" rIns="0" bIns="0" rtlCol="0" anchor="ctr"/>
          <a:lstStyle/>
          <a:p>
            <a:pPr marL="0" indent="0">
              <a:buNone/>
            </a:pPr>
            <a:r>
              <a:rPr lang="en-US" sz="1800" b="1" dirty="0">
                <a:solidFill>
                  <a:srgbClr val="16233B"/>
                </a:solidFill>
                <a:latin typeface="Calibri" pitchFamily="34" charset="0"/>
                <a:ea typeface="Calibri" pitchFamily="34" charset="-122"/>
                <a:cs typeface="Calibri" pitchFamily="34" charset="-120"/>
              </a:rPr>
              <a:t>Results Gallery</a:t>
            </a:r>
            <a:endParaRPr lang="en-US" sz="1800" dirty="0"/>
          </a:p>
        </p:txBody>
      </p:sp>
      <p:sp>
        <p:nvSpPr>
          <p:cNvPr id="13" name="Text 9"/>
          <p:cNvSpPr/>
          <p:nvPr/>
        </p:nvSpPr>
        <p:spPr>
          <a:xfrm>
            <a:off x="6537960" y="2743200"/>
            <a:ext cx="4709160" cy="3017520"/>
          </a:xfrm>
          <a:prstGeom prst="rect">
            <a:avLst/>
          </a:prstGeom>
          <a:noFill/>
          <a:ln/>
        </p:spPr>
        <p:txBody>
          <a:bodyPr wrap="square" lIns="0" tIns="0" rIns="0" bIns="0" rtlCol="0" anchor="t"/>
          <a:lstStyle/>
          <a:p>
            <a:pPr marL="342900" indent="-342900">
              <a:lnSpc>
                <a:spcPct val="135000"/>
              </a:lnSpc>
              <a:buSzPct val="100000"/>
              <a:buChar char="•"/>
            </a:pPr>
            <a:r>
              <a:rPr lang="en-US" sz="1300" dirty="0">
                <a:solidFill>
                  <a:srgbClr val="5B6B82"/>
                </a:solidFill>
                <a:latin typeface="Calibri" pitchFamily="34" charset="0"/>
                <a:ea typeface="Calibri" pitchFamily="34" charset="-122"/>
                <a:cs typeface="Calibri" pitchFamily="34" charset="-120"/>
              </a:rPr>
              <a:t>Accuracy charts across all six models</a:t>
            </a:r>
            <a:endParaRPr lang="en-US" sz="1300" dirty="0"/>
          </a:p>
          <a:p>
            <a:pPr marL="342900" indent="-342900">
              <a:lnSpc>
                <a:spcPct val="135000"/>
              </a:lnSpc>
              <a:buSzPct val="100000"/>
              <a:buChar char="•"/>
            </a:pPr>
            <a:r>
              <a:rPr lang="en-US" sz="1300" dirty="0">
                <a:solidFill>
                  <a:srgbClr val="5B6B82"/>
                </a:solidFill>
                <a:latin typeface="Calibri" pitchFamily="34" charset="0"/>
                <a:ea typeface="Calibri" pitchFamily="34" charset="-122"/>
                <a:cs typeface="Calibri" pitchFamily="34" charset="-120"/>
              </a:rPr>
              <a:t>Confusion matrices</a:t>
            </a:r>
            <a:endParaRPr lang="en-US" sz="1300" dirty="0"/>
          </a:p>
          <a:p>
            <a:pPr marL="342900" indent="-342900">
              <a:lnSpc>
                <a:spcPct val="135000"/>
              </a:lnSpc>
              <a:buSzPct val="100000"/>
              <a:buChar char="•"/>
            </a:pPr>
            <a:r>
              <a:rPr lang="en-US" sz="1300" dirty="0">
                <a:solidFill>
                  <a:srgbClr val="5B6B82"/>
                </a:solidFill>
                <a:latin typeface="Calibri" pitchFamily="34" charset="0"/>
                <a:ea typeface="Calibri" pitchFamily="34" charset="-122"/>
                <a:cs typeface="Calibri" pitchFamily="34" charset="-120"/>
              </a:rPr>
              <a:t>EAA-IoU analysis and agreement trends</a:t>
            </a:r>
            <a:endParaRPr lang="en-US" sz="1300" dirty="0"/>
          </a:p>
          <a:p>
            <a:pPr marL="342900" indent="-342900">
              <a:lnSpc>
                <a:spcPct val="135000"/>
              </a:lnSpc>
              <a:buSzPct val="100000"/>
              <a:buChar char="•"/>
            </a:pPr>
            <a:r>
              <a:rPr lang="en-US" sz="1300" dirty="0">
                <a:solidFill>
                  <a:srgbClr val="5B6B82"/>
                </a:solidFill>
                <a:latin typeface="Calibri" pitchFamily="34" charset="0"/>
                <a:ea typeface="Calibri" pitchFamily="34" charset="-122"/>
                <a:cs typeface="Calibri" pitchFamily="34" charset="-120"/>
              </a:rPr>
              <a:t>Full evidence trail behind the system, kept transparent</a:t>
            </a:r>
            <a:endParaRPr lang="en-US" sz="1300" dirty="0"/>
          </a:p>
        </p:txBody>
      </p:sp>
      <p:sp>
        <p:nvSpPr>
          <p:cNvPr id="14" name="Text 10"/>
          <p:cNvSpPr/>
          <p:nvPr/>
        </p:nvSpPr>
        <p:spPr>
          <a:xfrm>
            <a:off x="640080" y="6035040"/>
            <a:ext cx="10881360" cy="365760"/>
          </a:xfrm>
          <a:prstGeom prst="rect">
            <a:avLst/>
          </a:prstGeom>
          <a:noFill/>
          <a:ln/>
        </p:spPr>
        <p:txBody>
          <a:bodyPr wrap="square" lIns="0" tIns="0" rIns="0" bIns="0" rtlCol="0" anchor="ctr"/>
          <a:lstStyle/>
          <a:p>
            <a:pPr marL="0" indent="0" algn="ctr">
              <a:buNone/>
            </a:pPr>
            <a:r>
              <a:rPr lang="en-US" sz="1250" i="1" dirty="0">
                <a:solidFill>
                  <a:srgbClr val="5B6B82"/>
                </a:solidFill>
                <a:latin typeface="Calibri" pitchFamily="34" charset="0"/>
                <a:ea typeface="Calibri" pitchFamily="34" charset="-122"/>
                <a:cs typeface="Calibri" pitchFamily="34" charset="-120"/>
              </a:rPr>
              <a:t>Every screen carries a disclaimer: a research tool, not a replacement for a radiologist.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9FC"/>
        </a:solidFill>
        <a:effectLst/>
      </p:bgPr>
    </p:bg>
    <p:spTree>
      <p:nvGrpSpPr>
        <p:cNvPr id="1" name=""/>
        <p:cNvGrpSpPr/>
        <p:nvPr/>
      </p:nvGrpSpPr>
      <p:grpSpPr>
        <a:xfrm>
          <a:off x="0" y="0"/>
          <a:ext cx="0" cy="0"/>
          <a:chOff x="0" y="0"/>
          <a:chExt cx="0" cy="0"/>
        </a:xfrm>
      </p:grpSpPr>
      <p:sp>
        <p:nvSpPr>
          <p:cNvPr id="2" name="Text 0"/>
          <p:cNvSpPr/>
          <p:nvPr/>
        </p:nvSpPr>
        <p:spPr>
          <a:xfrm>
            <a:off x="640080" y="457200"/>
            <a:ext cx="8229600" cy="640080"/>
          </a:xfrm>
          <a:prstGeom prst="rect">
            <a:avLst/>
          </a:prstGeom>
          <a:noFill/>
          <a:ln/>
        </p:spPr>
        <p:txBody>
          <a:bodyPr wrap="square" lIns="0" tIns="0" rIns="0" bIns="0" rtlCol="0" anchor="ctr"/>
          <a:lstStyle/>
          <a:p>
            <a:pPr marL="0" indent="0">
              <a:buNone/>
            </a:pPr>
            <a:r>
              <a:rPr lang="en-US" sz="3000" b="1" dirty="0">
                <a:solidFill>
                  <a:srgbClr val="16233B"/>
                </a:solidFill>
                <a:latin typeface="Cambria" pitchFamily="34" charset="0"/>
                <a:ea typeface="Cambria" pitchFamily="34" charset="-122"/>
                <a:cs typeface="Cambria" pitchFamily="34" charset="-120"/>
              </a:rPr>
              <a:t>Results &amp; Contribution</a:t>
            </a:r>
            <a:endParaRPr lang="en-US" sz="3000" dirty="0"/>
          </a:p>
        </p:txBody>
      </p:sp>
      <p:sp>
        <p:nvSpPr>
          <p:cNvPr id="3" name="Text 1"/>
          <p:cNvSpPr/>
          <p:nvPr/>
        </p:nvSpPr>
        <p:spPr>
          <a:xfrm>
            <a:off x="640080" y="1005840"/>
            <a:ext cx="8229600" cy="365760"/>
          </a:xfrm>
          <a:prstGeom prst="rect">
            <a:avLst/>
          </a:prstGeom>
          <a:noFill/>
          <a:ln/>
        </p:spPr>
        <p:txBody>
          <a:bodyPr wrap="square" lIns="0" tIns="0" rIns="0" bIns="0" rtlCol="0" anchor="ctr"/>
          <a:lstStyle/>
          <a:p>
            <a:pPr marL="0" indent="0">
              <a:buNone/>
            </a:pPr>
            <a:r>
              <a:rPr lang="en-US" sz="1400" dirty="0">
                <a:solidFill>
                  <a:srgbClr val="5B6B82"/>
                </a:solidFill>
                <a:latin typeface="Calibri" pitchFamily="34" charset="0"/>
                <a:ea typeface="Calibri" pitchFamily="34" charset="-122"/>
                <a:cs typeface="Calibri" pitchFamily="34" charset="-120"/>
              </a:rPr>
              <a:t>Accuracy is only half the story</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5257800" cy="2377440"/>
        </p:xfrm>
        <a:graphic>
          <a:graphicData uri="http://schemas.openxmlformats.org/drawingml/2006/table">
            <a:tbl>
              <a:tblPr/>
              <a:tblGrid>
                <a:gridCol w="35661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tblGrid>
              <a:tr h="47548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Model</a:t>
                      </a:r>
                      <a:endParaRPr lang="en-US" sz="135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A33"/>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Accuracy</a:t>
                      </a:r>
                      <a:endParaRPr lang="en-US" sz="135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A33"/>
                    </a:solidFill>
                  </a:tcPr>
                </a:tc>
                <a:extLst>
                  <a:ext uri="{0D108BD9-81ED-4DB2-BD59-A6C34878D82A}">
                    <a16:rowId xmlns:a16="http://schemas.microsoft.com/office/drawing/2014/main" val="10000"/>
                  </a:ext>
                </a:extLst>
              </a:tr>
              <a:tr h="475488">
                <a:tc>
                  <a:txBody>
                    <a:bodyPr/>
                    <a:lstStyle/>
                    <a:p>
                      <a:pPr marL="0" indent="0">
                        <a:buNone/>
                      </a:pPr>
                      <a:r>
                        <a:rPr lang="en-US" sz="1350" dirty="0">
                          <a:solidFill>
                            <a:srgbClr val="16233B"/>
                          </a:solidFill>
                          <a:latin typeface="Calibri" pitchFamily="34" charset="0"/>
                          <a:ea typeface="Calibri" pitchFamily="34" charset="-122"/>
                          <a:cs typeface="Calibri" pitchFamily="34" charset="-120"/>
                        </a:rPr>
                        <a:t>InceptionV3 (standalone)</a:t>
                      </a:r>
                      <a:endParaRPr lang="en-US" sz="135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350" dirty="0">
                          <a:solidFill>
                            <a:srgbClr val="16233B"/>
                          </a:solidFill>
                          <a:latin typeface="Calibri" pitchFamily="34" charset="0"/>
                          <a:ea typeface="Calibri" pitchFamily="34" charset="-122"/>
                          <a:cs typeface="Calibri" pitchFamily="34" charset="-120"/>
                        </a:rPr>
                        <a:t>84.6%</a:t>
                      </a:r>
                      <a:endParaRPr lang="en-US" sz="135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350" dirty="0">
                          <a:solidFill>
                            <a:srgbClr val="16233B"/>
                          </a:solidFill>
                          <a:latin typeface="Calibri" pitchFamily="34" charset="0"/>
                          <a:ea typeface="Calibri" pitchFamily="34" charset="-122"/>
                          <a:cs typeface="Calibri" pitchFamily="34" charset="-120"/>
                        </a:rPr>
                        <a:t>Xception (standalone)</a:t>
                      </a:r>
                      <a:endParaRPr lang="en-US" sz="135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350" dirty="0">
                          <a:solidFill>
                            <a:srgbClr val="16233B"/>
                          </a:solidFill>
                          <a:latin typeface="Calibri" pitchFamily="34" charset="0"/>
                          <a:ea typeface="Calibri" pitchFamily="34" charset="-122"/>
                          <a:cs typeface="Calibri" pitchFamily="34" charset="-120"/>
                        </a:rPr>
                        <a:t>86.9%</a:t>
                      </a:r>
                      <a:endParaRPr lang="en-US" sz="135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350" dirty="0">
                          <a:solidFill>
                            <a:srgbClr val="16233B"/>
                          </a:solidFill>
                          <a:latin typeface="Calibri" pitchFamily="34" charset="0"/>
                          <a:ea typeface="Calibri" pitchFamily="34" charset="-122"/>
                          <a:cs typeface="Calibri" pitchFamily="34" charset="-120"/>
                        </a:rPr>
                        <a:t>Custom CNN (best single)</a:t>
                      </a:r>
                      <a:endParaRPr lang="en-US" sz="135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lgn="ctr">
                        <a:buNone/>
                      </a:pPr>
                      <a:r>
                        <a:rPr lang="en-US" sz="1350" dirty="0">
                          <a:solidFill>
                            <a:srgbClr val="16233B"/>
                          </a:solidFill>
                          <a:latin typeface="Calibri" pitchFamily="34" charset="0"/>
                          <a:ea typeface="Calibri" pitchFamily="34" charset="-122"/>
                          <a:cs typeface="Calibri" pitchFamily="34" charset="-120"/>
                        </a:rPr>
                        <a:t>~94%</a:t>
                      </a:r>
                      <a:endParaRPr lang="en-US" sz="135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350" b="1" dirty="0">
                          <a:solidFill>
                            <a:srgbClr val="16233B"/>
                          </a:solidFill>
                          <a:latin typeface="Calibri" pitchFamily="34" charset="0"/>
                          <a:ea typeface="Calibri" pitchFamily="34" charset="-122"/>
                          <a:cs typeface="Calibri" pitchFamily="34" charset="-120"/>
                        </a:rPr>
                        <a:t>6-model ensemble (final)</a:t>
                      </a:r>
                      <a:endParaRPr lang="en-US" sz="135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CFE3F2"/>
                    </a:solidFill>
                  </a:tcPr>
                </a:tc>
                <a:tc>
                  <a:txBody>
                    <a:bodyPr/>
                    <a:lstStyle/>
                    <a:p>
                      <a:pPr marL="0" indent="0" algn="ctr">
                        <a:buNone/>
                      </a:pPr>
                      <a:r>
                        <a:rPr lang="en-US" sz="1350" b="1" dirty="0">
                          <a:solidFill>
                            <a:srgbClr val="0E7C72"/>
                          </a:solidFill>
                          <a:latin typeface="Calibri" pitchFamily="34" charset="0"/>
                          <a:ea typeface="Calibri" pitchFamily="34" charset="-122"/>
                          <a:cs typeface="Calibri" pitchFamily="34" charset="-120"/>
                        </a:rPr>
                        <a:t>98.2%</a:t>
                      </a:r>
                      <a:endParaRPr lang="en-US" sz="1350" dirty="0">
                        <a:latin typeface="Calibri" charset="0"/>
                        <a:ea typeface="Calibri" charset="0"/>
                        <a:cs typeface="Calibr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CFE3F2"/>
                    </a:solidFill>
                  </a:tcPr>
                </a:tc>
                <a:extLst>
                  <a:ext uri="{0D108BD9-81ED-4DB2-BD59-A6C34878D82A}">
                    <a16:rowId xmlns:a16="http://schemas.microsoft.com/office/drawing/2014/main" val="10004"/>
                  </a:ext>
                </a:extLst>
              </a:tr>
            </a:tbl>
          </a:graphicData>
        </a:graphic>
      </p:graphicFrame>
      <p:graphicFrame>
        <p:nvGraphicFramePr>
          <p:cNvPr id="5" name="Chart 0"/>
          <p:cNvGraphicFramePr/>
          <p:nvPr/>
        </p:nvGraphicFramePr>
        <p:xfrm>
          <a:off x="640080" y="4206240"/>
          <a:ext cx="5257800" cy="192024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2"/>
          <p:cNvSpPr/>
          <p:nvPr/>
        </p:nvSpPr>
        <p:spPr>
          <a:xfrm>
            <a:off x="6263640" y="1691640"/>
            <a:ext cx="5257800" cy="4434840"/>
          </a:xfrm>
          <a:prstGeom prst="roundRect">
            <a:avLst>
              <a:gd name="adj" fmla="val 1649"/>
            </a:avLst>
          </a:prstGeom>
          <a:solidFill>
            <a:srgbClr val="0A1A33"/>
          </a:solidFill>
          <a:ln/>
          <a:effectLst>
            <a:outerShdw blurRad="101600" dist="38100" dir="5400000" algn="bl" rotWithShape="0">
              <a:srgbClr val="0A1A33">
                <a:alpha val="12000"/>
              </a:srgbClr>
            </a:outerShdw>
          </a:effectLst>
        </p:spPr>
        <p:txBody>
          <a:bodyPr/>
          <a:lstStyle/>
          <a:p>
            <a:endParaRPr lang="en-US"/>
          </a:p>
        </p:txBody>
      </p:sp>
      <p:sp>
        <p:nvSpPr>
          <p:cNvPr id="7" name="Shape 3"/>
          <p:cNvSpPr/>
          <p:nvPr/>
        </p:nvSpPr>
        <p:spPr>
          <a:xfrm>
            <a:off x="6537960" y="1920240"/>
            <a:ext cx="594360" cy="594360"/>
          </a:xfrm>
          <a:prstGeom prst="ellipse">
            <a:avLst/>
          </a:prstGeom>
          <a:solidFill>
            <a:srgbClr val="0E7C72"/>
          </a:solidFill>
          <a:ln/>
        </p:spPr>
        <p:txBody>
          <a:bodyPr/>
          <a:lstStyle/>
          <a:p>
            <a:endParaRPr lang="en-US"/>
          </a:p>
        </p:txBody>
      </p:sp>
      <p:pic>
        <p:nvPicPr>
          <p:cNvPr id="8" name="Image 0" descr="preencoded.png"/>
          <p:cNvPicPr>
            <a:picLocks noChangeAspect="1"/>
          </p:cNvPicPr>
          <p:nvPr/>
        </p:nvPicPr>
        <p:blipFill>
          <a:blip r:embed="rId4"/>
          <a:stretch>
            <a:fillRect/>
          </a:stretch>
        </p:blipFill>
        <p:spPr>
          <a:xfrm>
            <a:off x="6692494" y="2074774"/>
            <a:ext cx="285293" cy="285293"/>
          </a:xfrm>
          <a:prstGeom prst="rect">
            <a:avLst/>
          </a:prstGeom>
        </p:spPr>
      </p:pic>
      <p:sp>
        <p:nvSpPr>
          <p:cNvPr id="9" name="Text 4"/>
          <p:cNvSpPr/>
          <p:nvPr/>
        </p:nvSpPr>
        <p:spPr>
          <a:xfrm>
            <a:off x="7315200" y="1965960"/>
            <a:ext cx="4023360" cy="5029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real contribution</a:t>
            </a:r>
            <a:endParaRPr lang="en-US" sz="1600" dirty="0"/>
          </a:p>
        </p:txBody>
      </p:sp>
      <p:sp>
        <p:nvSpPr>
          <p:cNvPr id="10" name="Text 5"/>
          <p:cNvSpPr/>
          <p:nvPr/>
        </p:nvSpPr>
        <p:spPr>
          <a:xfrm>
            <a:off x="6537960" y="2606040"/>
            <a:ext cx="4709160" cy="1554480"/>
          </a:xfrm>
          <a:prstGeom prst="rect">
            <a:avLst/>
          </a:prstGeom>
          <a:noFill/>
          <a:ln/>
        </p:spPr>
        <p:txBody>
          <a:bodyPr wrap="square" lIns="0" tIns="0" rIns="0" bIns="0" rtlCol="0" anchor="ctr"/>
          <a:lstStyle/>
          <a:p>
            <a:pPr marL="0" indent="0">
              <a:lnSpc>
                <a:spcPct val="125000"/>
              </a:lnSpc>
              <a:buNone/>
            </a:pPr>
            <a:r>
              <a:rPr lang="en-US" sz="1350" dirty="0">
                <a:solidFill>
                  <a:srgbClr val="CFE3F2"/>
                </a:solidFill>
                <a:latin typeface="Calibri" pitchFamily="34" charset="0"/>
                <a:ea typeface="Calibri" pitchFamily="34" charset="-122"/>
                <a:cs typeface="Calibri" pitchFamily="34" charset="-120"/>
              </a:rPr>
              <a:t>Voting across six diverse models pushed accuracy from ~94% to 98.2%. But the honesty layer — EAA-IoU — is what turns the ensemble from a black box that's confidently wrong into a system that can raise its hand and say "this one is ambiguous, get a human."</a:t>
            </a:r>
            <a:endParaRPr lang="en-US" sz="1350" dirty="0"/>
          </a:p>
        </p:txBody>
      </p:sp>
      <p:sp>
        <p:nvSpPr>
          <p:cNvPr id="11" name="Shape 6"/>
          <p:cNvSpPr/>
          <p:nvPr/>
        </p:nvSpPr>
        <p:spPr>
          <a:xfrm>
            <a:off x="6537960" y="4343400"/>
            <a:ext cx="4709160" cy="0"/>
          </a:xfrm>
          <a:prstGeom prst="line">
            <a:avLst/>
          </a:prstGeom>
          <a:noFill/>
          <a:ln w="12700">
            <a:solidFill>
              <a:srgbClr val="0E7C72"/>
            </a:solidFill>
            <a:prstDash val="solid"/>
          </a:ln>
        </p:spPr>
        <p:txBody>
          <a:bodyPr/>
          <a:lstStyle/>
          <a:p>
            <a:endParaRPr lang="en-US"/>
          </a:p>
        </p:txBody>
      </p:sp>
      <p:sp>
        <p:nvSpPr>
          <p:cNvPr id="4" name="Text 7"/>
          <p:cNvSpPr/>
          <p:nvPr/>
        </p:nvSpPr>
        <p:spPr>
          <a:xfrm>
            <a:off x="6537960" y="4526280"/>
            <a:ext cx="4709160" cy="1463040"/>
          </a:xfrm>
          <a:prstGeom prst="rect">
            <a:avLst/>
          </a:prstGeom>
          <a:noFill/>
          <a:ln/>
        </p:spPr>
        <p:txBody>
          <a:bodyPr wrap="square" lIns="0" tIns="0" rIns="0" bIns="0" rtlCol="0" anchor="ctr"/>
          <a:lstStyle/>
          <a:p>
            <a:pPr marL="0" indent="0">
              <a:lnSpc>
                <a:spcPct val="125000"/>
              </a:lnSpc>
              <a:buNone/>
            </a:pPr>
            <a:r>
              <a:rPr lang="en-US" sz="1300" b="1" i="1" dirty="0">
                <a:solidFill>
                  <a:srgbClr val="1FBFAE"/>
                </a:solidFill>
                <a:latin typeface="Calibri" pitchFamily="34" charset="0"/>
                <a:ea typeface="Calibri" pitchFamily="34" charset="-122"/>
                <a:cs typeface="Calibri" pitchFamily="34" charset="-120"/>
              </a:rPr>
              <a:t>A confidence-weighted ensemble plus an annotation-free inter-model agreement signal — a combination not present in any published brain-tumour paper reviewed.</a:t>
            </a:r>
            <a:endParaRPr lang="en-US" sz="1300" dirty="0"/>
          </a:p>
        </p:txBody>
      </p:sp>
      <p:sp>
        <p:nvSpPr>
          <p:cNvPr id="13" name="Rounded Rectangle 12"/>
          <p:cNvSpPr/>
          <p:nvPr/>
        </p:nvSpPr>
        <p:spPr>
          <a:xfrm>
            <a:off x="9281160" y="457200"/>
            <a:ext cx="2148840" cy="384048"/>
          </a:xfrm>
          <a:prstGeom prst="round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457200"/>
            <a:ext cx="2148840" cy="384048"/>
          </a:xfrm>
          <a:prstGeom prst="rect">
            <a:avLst/>
          </a:prstGeom>
          <a:noFill/>
        </p:spPr>
        <p:txBody>
          <a:bodyPr wrap="square" anchor="ctr" lIns="27432" rIns="27432" tIns="27432" bIns="27432">
            <a:spAutoFit/>
          </a:bodyPr>
          <a:lstStyle/>
          <a:p>
            <a:pPr algn="ctr"/>
            <a:r>
              <a:rPr sz="1100" b="1" i="0">
                <a:solidFill>
                  <a:srgbClr val="FFFFFF"/>
                </a:solidFill>
                <a:latin typeface="Calibri"/>
              </a:rPr>
              <a:t>PRELIMINARY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A33"/>
        </a:solidFill>
        <a:effectLst/>
      </p:bgPr>
    </p:bg>
    <p:spTree>
      <p:nvGrpSpPr>
        <p:cNvPr id="1" name=""/>
        <p:cNvGrpSpPr/>
        <p:nvPr/>
      </p:nvGrpSpPr>
      <p:grpSpPr>
        <a:xfrm>
          <a:off x="0" y="0"/>
          <a:ext cx="0" cy="0"/>
          <a:chOff x="0" y="0"/>
          <a:chExt cx="0" cy="0"/>
        </a:xfrm>
      </p:grpSpPr>
      <p:sp>
        <p:nvSpPr>
          <p:cNvPr id="2" name="Shape 0"/>
          <p:cNvSpPr/>
          <p:nvPr/>
        </p:nvSpPr>
        <p:spPr>
          <a:xfrm>
            <a:off x="-2743200" y="-2743200"/>
            <a:ext cx="5486400" cy="5486400"/>
          </a:xfrm>
          <a:prstGeom prst="ellipse">
            <a:avLst/>
          </a:prstGeom>
          <a:solidFill>
            <a:srgbClr val="13294B"/>
          </a:solidFill>
          <a:ln/>
        </p:spPr>
        <p:txBody>
          <a:bodyPr/>
          <a:lstStyle/>
          <a:p>
            <a:endParaRPr lang="en-US"/>
          </a:p>
        </p:txBody>
      </p:sp>
      <p:sp>
        <p:nvSpPr>
          <p:cNvPr id="3" name="Shape 1"/>
          <p:cNvSpPr/>
          <p:nvPr/>
        </p:nvSpPr>
        <p:spPr>
          <a:xfrm>
            <a:off x="9601200" y="4114800"/>
            <a:ext cx="5486400" cy="5486400"/>
          </a:xfrm>
          <a:prstGeom prst="ellipse">
            <a:avLst/>
          </a:prstGeom>
          <a:solidFill>
            <a:srgbClr val="13294B"/>
          </a:solidFill>
          <a:ln/>
        </p:spPr>
        <p:txBody>
          <a:bodyPr/>
          <a:lstStyle/>
          <a:p>
            <a:endParaRPr lang="en-US"/>
          </a:p>
        </p:txBody>
      </p:sp>
      <p:sp>
        <p:nvSpPr>
          <p:cNvPr id="4" name="Shape 2"/>
          <p:cNvSpPr/>
          <p:nvPr/>
        </p:nvSpPr>
        <p:spPr>
          <a:xfrm>
            <a:off x="5184648" y="1188720"/>
            <a:ext cx="914400" cy="914400"/>
          </a:xfrm>
          <a:prstGeom prst="ellipse">
            <a:avLst/>
          </a:prstGeom>
          <a:solidFill>
            <a:srgbClr val="0E7C72"/>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5422392" y="1426464"/>
            <a:ext cx="438912" cy="438912"/>
          </a:xfrm>
          <a:prstGeom prst="rect">
            <a:avLst/>
          </a:prstGeom>
        </p:spPr>
      </p:pic>
      <p:sp>
        <p:nvSpPr>
          <p:cNvPr id="6" name="Text 3"/>
          <p:cNvSpPr/>
          <p:nvPr/>
        </p:nvSpPr>
        <p:spPr>
          <a:xfrm>
            <a:off x="1097280" y="2331720"/>
            <a:ext cx="9994392" cy="548640"/>
          </a:xfrm>
          <a:prstGeom prst="rect">
            <a:avLst/>
          </a:prstGeom>
          <a:noFill/>
          <a:ln/>
        </p:spPr>
        <p:txBody>
          <a:bodyPr wrap="square" lIns="0" tIns="0" rIns="0" bIns="0"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One model can be confidently wrong.</a:t>
            </a:r>
            <a:endParaRPr lang="en-US" sz="2400" dirty="0"/>
          </a:p>
        </p:txBody>
      </p:sp>
      <p:sp>
        <p:nvSpPr>
          <p:cNvPr id="7" name="Text 4"/>
          <p:cNvSpPr/>
          <p:nvPr/>
        </p:nvSpPr>
        <p:spPr>
          <a:xfrm>
            <a:off x="1554480" y="2971800"/>
            <a:ext cx="9079992" cy="822960"/>
          </a:xfrm>
          <a:prstGeom prst="rect">
            <a:avLst/>
          </a:prstGeom>
          <a:noFill/>
          <a:ln/>
        </p:spPr>
        <p:txBody>
          <a:bodyPr wrap="square" lIns="0" tIns="0" rIns="0" bIns="0" rtlCol="0" anchor="ctr"/>
          <a:lstStyle/>
          <a:p>
            <a:pPr marL="0" indent="0" algn="ctr">
              <a:lnSpc>
                <a:spcPct val="125000"/>
              </a:lnSpc>
              <a:buNone/>
            </a:pPr>
            <a:r>
              <a:rPr lang="en-US" sz="1500" i="1" dirty="0">
                <a:solidFill>
                  <a:srgbClr val="CFE3F2"/>
                </a:solidFill>
                <a:latin typeface="Calibri" pitchFamily="34" charset="0"/>
                <a:ea typeface="Calibri" pitchFamily="34" charset="-122"/>
                <a:cs typeface="Calibri" pitchFamily="34" charset="-120"/>
              </a:rPr>
              <a:t>Six diverse models, voting together, checking whether they agree not just on the answer — but on the reasoning.</a:t>
            </a:r>
            <a:endParaRPr lang="en-US" sz="1500" dirty="0"/>
          </a:p>
        </p:txBody>
      </p:sp>
      <p:sp>
        <p:nvSpPr>
          <p:cNvPr id="8" name="Text 5"/>
          <p:cNvSpPr/>
          <p:nvPr/>
        </p:nvSpPr>
        <p:spPr>
          <a:xfrm>
            <a:off x="1554480" y="3794760"/>
            <a:ext cx="9079992" cy="457200"/>
          </a:xfrm>
          <a:prstGeom prst="rect">
            <a:avLst/>
          </a:prstGeom>
          <a:noFill/>
          <a:ln/>
        </p:spPr>
        <p:txBody>
          <a:bodyPr wrap="square" lIns="0" tIns="0" rIns="0" bIns="0" rtlCol="0" anchor="ctr"/>
          <a:lstStyle/>
          <a:p>
            <a:pPr marL="0" indent="0" algn="ctr">
              <a:buNone/>
            </a:pPr>
            <a:r>
              <a:rPr lang="en-US" sz="1500" b="1" dirty="0">
                <a:solidFill>
                  <a:srgbClr val="1FBFAE"/>
                </a:solidFill>
                <a:latin typeface="Calibri" pitchFamily="34" charset="0"/>
                <a:ea typeface="Calibri" pitchFamily="34" charset="-122"/>
                <a:cs typeface="Calibri" pitchFamily="34" charset="-120"/>
              </a:rPr>
              <a:t>That's how you get accuracy and safety in a clinical tool.</a:t>
            </a:r>
            <a:endParaRPr lang="en-US" sz="1500" dirty="0"/>
          </a:p>
        </p:txBody>
      </p:sp>
      <p:sp>
        <p:nvSpPr>
          <p:cNvPr id="9" name="Shape 6"/>
          <p:cNvSpPr/>
          <p:nvPr/>
        </p:nvSpPr>
        <p:spPr>
          <a:xfrm>
            <a:off x="5184648" y="4572000"/>
            <a:ext cx="1828800" cy="0"/>
          </a:xfrm>
          <a:prstGeom prst="line">
            <a:avLst/>
          </a:prstGeom>
          <a:noFill/>
          <a:ln w="15240">
            <a:solidFill>
              <a:srgbClr val="0E7C72"/>
            </a:solidFill>
            <a:prstDash val="solid"/>
          </a:ln>
        </p:spPr>
        <p:txBody>
          <a:bodyPr/>
          <a:lstStyle/>
          <a:p>
            <a:endParaRPr lang="en-US"/>
          </a:p>
        </p:txBody>
      </p:sp>
      <p:sp>
        <p:nvSpPr>
          <p:cNvPr id="10" name="Text 7"/>
          <p:cNvSpPr/>
          <p:nvPr/>
        </p:nvSpPr>
        <p:spPr>
          <a:xfrm>
            <a:off x="1097280" y="4846320"/>
            <a:ext cx="9994392" cy="548640"/>
          </a:xfrm>
          <a:prstGeom prst="rect">
            <a:avLst/>
          </a:prstGeom>
          <a:noFill/>
          <a:ln/>
        </p:spPr>
        <p:txBody>
          <a:bodyPr wrap="square" lIns="0" tIns="0" rIns="0" bIns="0" rtlCol="0" anchor="ctr"/>
          <a:lstStyle/>
          <a:p>
            <a:pPr marL="0" indent="0" algn="ctr">
              <a:buNone/>
            </a:pPr>
            <a:r>
              <a:rPr lang="en-US" sz="1700" dirty="0">
                <a:solidFill>
                  <a:srgbClr val="FFFFFF"/>
                </a:solidFill>
                <a:latin typeface="Calibri" pitchFamily="34" charset="0"/>
                <a:ea typeface="Calibri" pitchFamily="34" charset="-122"/>
                <a:cs typeface="Calibri" pitchFamily="34" charset="-120"/>
              </a:rPr>
              <a:t>Thank you. I'm happy to take questions.</a:t>
            </a:r>
            <a:endParaRPr lang="en-US" sz="17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9FC"/>
        </a:solidFill>
        <a:effectLst/>
      </p:bgPr>
    </p:bg>
    <p:spTree>
      <p:nvGrpSpPr>
        <p:cNvPr id="1" name=""/>
        <p:cNvGrpSpPr/>
        <p:nvPr/>
      </p:nvGrpSpPr>
      <p:grpSpPr/>
      <p:sp>
        <p:nvSpPr>
          <p:cNvPr id="2" name="Rectangle 1"/>
          <p:cNvSpPr/>
          <p:nvPr/>
        </p:nvSpPr>
        <p:spPr>
          <a:xfrm>
            <a:off x="502920" y="502920"/>
            <a:ext cx="128016" cy="566928"/>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38912"/>
            <a:ext cx="10789920" cy="640080"/>
          </a:xfrm>
          <a:prstGeom prst="rect">
            <a:avLst/>
          </a:prstGeom>
          <a:noFill/>
        </p:spPr>
        <p:txBody>
          <a:bodyPr wrap="square" anchor="t" lIns="45720" rIns="45720" tIns="18288" bIns="18288">
            <a:spAutoFit/>
          </a:bodyPr>
          <a:lstStyle/>
          <a:p>
            <a:pPr algn="l"/>
            <a:r>
              <a:rPr sz="3000" b="1" i="0">
                <a:solidFill>
                  <a:srgbClr val="0A1A33"/>
                </a:solidFill>
                <a:latin typeface="Cambria"/>
              </a:rPr>
              <a:t>Objectives &amp; Research Questions</a:t>
            </a:r>
          </a:p>
        </p:txBody>
      </p:sp>
      <p:sp>
        <p:nvSpPr>
          <p:cNvPr id="4" name="TextBox 3"/>
          <p:cNvSpPr txBox="1"/>
          <p:nvPr/>
        </p:nvSpPr>
        <p:spPr>
          <a:xfrm>
            <a:off x="768096" y="1024128"/>
            <a:ext cx="10789920" cy="365760"/>
          </a:xfrm>
          <a:prstGeom prst="rect">
            <a:avLst/>
          </a:prstGeom>
          <a:noFill/>
        </p:spPr>
        <p:txBody>
          <a:bodyPr wrap="square" anchor="t" lIns="45720" rIns="45720" tIns="18288" bIns="18288">
            <a:spAutoFit/>
          </a:bodyPr>
          <a:lstStyle/>
          <a:p>
            <a:pPr algn="l"/>
            <a:r>
              <a:rPr sz="1500" b="0" i="1">
                <a:solidFill>
                  <a:srgbClr val="5B6B82"/>
                </a:solidFill>
                <a:latin typeface="Calibri"/>
              </a:rPr>
              <a:t>What this project sets out to answer and deliver</a:t>
            </a:r>
          </a:p>
        </p:txBody>
      </p:sp>
      <p:sp>
        <p:nvSpPr>
          <p:cNvPr id="5" name="Rounded Rectangle 4"/>
          <p:cNvSpPr/>
          <p:nvPr/>
        </p:nvSpPr>
        <p:spPr>
          <a:xfrm>
            <a:off x="749808" y="1554480"/>
            <a:ext cx="5257800" cy="1417320"/>
          </a:xfrm>
          <a:prstGeom prst="roundRect">
            <a:avLst/>
          </a:prstGeom>
          <a:solidFill>
            <a:srgbClr val="F0FB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64208"/>
            <a:ext cx="4846320" cy="1234440"/>
          </a:xfrm>
          <a:prstGeom prst="rect">
            <a:avLst/>
          </a:prstGeom>
          <a:noFill/>
        </p:spPr>
        <p:txBody>
          <a:bodyPr wrap="square" anchor="ctr" lIns="45720" rIns="45720" tIns="18288" bIns="18288">
            <a:spAutoFit/>
          </a:bodyPr>
          <a:lstStyle/>
          <a:p>
            <a:pPr algn="l">
              <a:spcAft>
                <a:spcPts val="300"/>
              </a:spcAft>
            </a:pPr>
            <a:r>
              <a:rPr sz="1100" b="1" i="0">
                <a:solidFill>
                  <a:srgbClr val="0E7C72"/>
                </a:solidFill>
                <a:latin typeface="Calibri"/>
              </a:rPr>
              <a:t>PRIMARY RESEARCH QUESTION</a:t>
            </a:r>
          </a:p>
          <a:p>
            <a:pPr algn="l"/>
            <a:r>
              <a:rPr sz="1200" b="0" i="0">
                <a:solidFill>
                  <a:srgbClr val="16233B"/>
                </a:solidFill>
                <a:latin typeface="Calibri"/>
              </a:rPr>
              <a:t>How well do fine-tuned models perform for feature extraction versus standard CNNs, and how does combining them in an ensemble affect the accuracy and reliability of brain-tumour identification from MRI?</a:t>
            </a:r>
          </a:p>
        </p:txBody>
      </p:sp>
      <p:sp>
        <p:nvSpPr>
          <p:cNvPr id="7" name="Rounded Rectangle 6"/>
          <p:cNvSpPr/>
          <p:nvPr/>
        </p:nvSpPr>
        <p:spPr>
          <a:xfrm>
            <a:off x="6172200" y="1554480"/>
            <a:ext cx="5257800" cy="1417320"/>
          </a:xfrm>
          <a:prstGeom prst="roundRect">
            <a:avLst/>
          </a:prstGeom>
          <a:solidFill>
            <a:srgbClr val="FBECE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82512" y="1664208"/>
            <a:ext cx="4846320" cy="1234440"/>
          </a:xfrm>
          <a:prstGeom prst="rect">
            <a:avLst/>
          </a:prstGeom>
          <a:noFill/>
        </p:spPr>
        <p:txBody>
          <a:bodyPr wrap="square" anchor="ctr" lIns="45720" rIns="45720" tIns="18288" bIns="18288">
            <a:spAutoFit/>
          </a:bodyPr>
          <a:lstStyle/>
          <a:p>
            <a:pPr algn="l">
              <a:spcAft>
                <a:spcPts val="300"/>
              </a:spcAft>
            </a:pPr>
            <a:r>
              <a:rPr sz="1100" b="1" i="0">
                <a:solidFill>
                  <a:srgbClr val="D9534F"/>
                </a:solidFill>
                <a:latin typeface="Calibri"/>
              </a:rPr>
              <a:t>NOVEL (XAI) RESEARCH QUESTION</a:t>
            </a:r>
          </a:p>
          <a:p>
            <a:pPr algn="l"/>
            <a:r>
              <a:rPr sz="1200" b="0" i="0">
                <a:solidFill>
                  <a:srgbClr val="16233B"/>
                </a:solidFill>
                <a:latin typeface="Calibri"/>
              </a:rPr>
              <a:t>Does inter-model Grad-CAM agreement (EAA-IoU) correlate with misclassification, and can it act as a per-sample clinical uncertainty trigger?</a:t>
            </a:r>
          </a:p>
        </p:txBody>
      </p:sp>
      <p:sp>
        <p:nvSpPr>
          <p:cNvPr id="9" name="TextBox 8"/>
          <p:cNvSpPr txBox="1"/>
          <p:nvPr/>
        </p:nvSpPr>
        <p:spPr>
          <a:xfrm>
            <a:off x="749808" y="3154680"/>
            <a:ext cx="10698480" cy="365760"/>
          </a:xfrm>
          <a:prstGeom prst="rect">
            <a:avLst/>
          </a:prstGeom>
          <a:noFill/>
        </p:spPr>
        <p:txBody>
          <a:bodyPr wrap="square" anchor="t" lIns="45720" rIns="45720" tIns="18288" bIns="18288">
            <a:spAutoFit/>
          </a:bodyPr>
          <a:lstStyle/>
          <a:p>
            <a:pPr algn="l"/>
            <a:r>
              <a:rPr sz="1600" b="1" i="0">
                <a:solidFill>
                  <a:srgbClr val="0A1A33"/>
                </a:solidFill>
                <a:latin typeface="Cambria"/>
              </a:rPr>
              <a:t>Six Objectives</a:t>
            </a:r>
          </a:p>
        </p:txBody>
      </p:sp>
      <p:sp>
        <p:nvSpPr>
          <p:cNvPr id="10" name="Rounded Rectangle 9"/>
          <p:cNvSpPr/>
          <p:nvPr/>
        </p:nvSpPr>
        <p:spPr>
          <a:xfrm>
            <a:off x="749808" y="3611880"/>
            <a:ext cx="5257800" cy="74980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41247" y="3758184"/>
            <a:ext cx="457200" cy="457200"/>
          </a:xfrm>
          <a:prstGeom prst="ellipse">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3749040"/>
            <a:ext cx="457200" cy="457200"/>
          </a:xfrm>
          <a:prstGeom prst="rect">
            <a:avLst/>
          </a:prstGeom>
          <a:noFill/>
        </p:spPr>
        <p:txBody>
          <a:bodyPr wrap="square" anchor="ctr" lIns="45720" rIns="45720" tIns="18288" bIns="18288">
            <a:spAutoFit/>
          </a:bodyPr>
          <a:lstStyle/>
          <a:p>
            <a:pPr algn="ctr"/>
            <a:r>
              <a:rPr sz="1600" b="1" i="0">
                <a:solidFill>
                  <a:srgbClr val="FFFFFF"/>
                </a:solidFill>
                <a:latin typeface="Calibri"/>
              </a:rPr>
              <a:t>1</a:t>
            </a:r>
          </a:p>
        </p:txBody>
      </p:sp>
      <p:sp>
        <p:nvSpPr>
          <p:cNvPr id="13" name="TextBox 12"/>
          <p:cNvSpPr txBox="1"/>
          <p:nvPr/>
        </p:nvSpPr>
        <p:spPr>
          <a:xfrm>
            <a:off x="1408176" y="3657600"/>
            <a:ext cx="4480560" cy="658368"/>
          </a:xfrm>
          <a:prstGeom prst="rect">
            <a:avLst/>
          </a:prstGeom>
          <a:noFill/>
        </p:spPr>
        <p:txBody>
          <a:bodyPr wrap="square" anchor="ctr" lIns="45720" rIns="45720" tIns="18288" bIns="18288">
            <a:spAutoFit/>
          </a:bodyPr>
          <a:lstStyle/>
          <a:p>
            <a:pPr algn="l"/>
            <a:r>
              <a:rPr sz="1200" b="0" i="0">
                <a:solidFill>
                  <a:srgbClr val="16233B"/>
                </a:solidFill>
                <a:latin typeface="Calibri"/>
              </a:rPr>
              <a:t>Critically evaluate CNN feature extraction for tumour identification</a:t>
            </a:r>
          </a:p>
        </p:txBody>
      </p:sp>
      <p:sp>
        <p:nvSpPr>
          <p:cNvPr id="14" name="Rounded Rectangle 13"/>
          <p:cNvSpPr/>
          <p:nvPr/>
        </p:nvSpPr>
        <p:spPr>
          <a:xfrm>
            <a:off x="6172200" y="3611880"/>
            <a:ext cx="5257800" cy="74980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263640" y="3758184"/>
            <a:ext cx="457200" cy="457200"/>
          </a:xfrm>
          <a:prstGeom prst="ellipse">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3749040"/>
            <a:ext cx="457200" cy="457200"/>
          </a:xfrm>
          <a:prstGeom prst="rect">
            <a:avLst/>
          </a:prstGeom>
          <a:noFill/>
        </p:spPr>
        <p:txBody>
          <a:bodyPr wrap="square" anchor="ctr" lIns="45720" rIns="45720" tIns="18288" bIns="18288">
            <a:spAutoFit/>
          </a:bodyPr>
          <a:lstStyle/>
          <a:p>
            <a:pPr algn="ctr"/>
            <a:r>
              <a:rPr sz="1600" b="1" i="0">
                <a:solidFill>
                  <a:srgbClr val="FFFFFF"/>
                </a:solidFill>
                <a:latin typeface="Calibri"/>
              </a:rPr>
              <a:t>2</a:t>
            </a:r>
          </a:p>
        </p:txBody>
      </p:sp>
      <p:sp>
        <p:nvSpPr>
          <p:cNvPr id="17" name="TextBox 16"/>
          <p:cNvSpPr txBox="1"/>
          <p:nvPr/>
        </p:nvSpPr>
        <p:spPr>
          <a:xfrm>
            <a:off x="6830568" y="3657600"/>
            <a:ext cx="4480560" cy="658368"/>
          </a:xfrm>
          <a:prstGeom prst="rect">
            <a:avLst/>
          </a:prstGeom>
          <a:noFill/>
        </p:spPr>
        <p:txBody>
          <a:bodyPr wrap="square" anchor="ctr" lIns="45720" rIns="45720" tIns="18288" bIns="18288">
            <a:spAutoFit/>
          </a:bodyPr>
          <a:lstStyle/>
          <a:p>
            <a:pPr algn="l"/>
            <a:r>
              <a:rPr sz="1200" b="0" i="0">
                <a:solidFill>
                  <a:srgbClr val="16233B"/>
                </a:solidFill>
                <a:latin typeface="Calibri"/>
              </a:rPr>
              <a:t>Assess RF / DT / SVM performance on CNN-extracted features</a:t>
            </a:r>
          </a:p>
        </p:txBody>
      </p:sp>
      <p:sp>
        <p:nvSpPr>
          <p:cNvPr id="18" name="Rounded Rectangle 17"/>
          <p:cNvSpPr/>
          <p:nvPr/>
        </p:nvSpPr>
        <p:spPr>
          <a:xfrm>
            <a:off x="749808" y="4507992"/>
            <a:ext cx="5257800" cy="74980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1247" y="4654296"/>
            <a:ext cx="457200" cy="457200"/>
          </a:xfrm>
          <a:prstGeom prst="ellipse">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4645152"/>
            <a:ext cx="457200" cy="457200"/>
          </a:xfrm>
          <a:prstGeom prst="rect">
            <a:avLst/>
          </a:prstGeom>
          <a:noFill/>
        </p:spPr>
        <p:txBody>
          <a:bodyPr wrap="square" anchor="ctr" lIns="45720" rIns="45720" tIns="18288" bIns="18288">
            <a:spAutoFit/>
          </a:bodyPr>
          <a:lstStyle/>
          <a:p>
            <a:pPr algn="ctr"/>
            <a:r>
              <a:rPr sz="1600" b="1" i="0">
                <a:solidFill>
                  <a:srgbClr val="FFFFFF"/>
                </a:solidFill>
                <a:latin typeface="Calibri"/>
              </a:rPr>
              <a:t>3</a:t>
            </a:r>
          </a:p>
        </p:txBody>
      </p:sp>
      <p:sp>
        <p:nvSpPr>
          <p:cNvPr id="21" name="TextBox 20"/>
          <p:cNvSpPr txBox="1"/>
          <p:nvPr/>
        </p:nvSpPr>
        <p:spPr>
          <a:xfrm>
            <a:off x="1408176" y="4553712"/>
            <a:ext cx="4480560" cy="658368"/>
          </a:xfrm>
          <a:prstGeom prst="rect">
            <a:avLst/>
          </a:prstGeom>
          <a:noFill/>
        </p:spPr>
        <p:txBody>
          <a:bodyPr wrap="square" anchor="ctr" lIns="45720" rIns="45720" tIns="18288" bIns="18288">
            <a:spAutoFit/>
          </a:bodyPr>
          <a:lstStyle/>
          <a:p>
            <a:pPr algn="l"/>
            <a:r>
              <a:rPr sz="1200" b="0" i="0">
                <a:solidFill>
                  <a:srgbClr val="16233B"/>
                </a:solidFill>
                <a:latin typeface="Calibri"/>
              </a:rPr>
              <a:t>Investigate Xception &amp; InceptionV3 as feature extractors</a:t>
            </a:r>
          </a:p>
        </p:txBody>
      </p:sp>
      <p:sp>
        <p:nvSpPr>
          <p:cNvPr id="22" name="Rounded Rectangle 21"/>
          <p:cNvSpPr/>
          <p:nvPr/>
        </p:nvSpPr>
        <p:spPr>
          <a:xfrm>
            <a:off x="6172200" y="4507992"/>
            <a:ext cx="5257800" cy="74980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263640" y="4654296"/>
            <a:ext cx="457200" cy="457200"/>
          </a:xfrm>
          <a:prstGeom prst="ellipse">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4645152"/>
            <a:ext cx="457200" cy="457200"/>
          </a:xfrm>
          <a:prstGeom prst="rect">
            <a:avLst/>
          </a:prstGeom>
          <a:noFill/>
        </p:spPr>
        <p:txBody>
          <a:bodyPr wrap="square" anchor="ctr" lIns="45720" rIns="45720" tIns="18288" bIns="18288">
            <a:spAutoFit/>
          </a:bodyPr>
          <a:lstStyle/>
          <a:p>
            <a:pPr algn="ctr"/>
            <a:r>
              <a:rPr sz="1600" b="1" i="0">
                <a:solidFill>
                  <a:srgbClr val="FFFFFF"/>
                </a:solidFill>
                <a:latin typeface="Calibri"/>
              </a:rPr>
              <a:t>4</a:t>
            </a:r>
          </a:p>
        </p:txBody>
      </p:sp>
      <p:sp>
        <p:nvSpPr>
          <p:cNvPr id="25" name="TextBox 24"/>
          <p:cNvSpPr txBox="1"/>
          <p:nvPr/>
        </p:nvSpPr>
        <p:spPr>
          <a:xfrm>
            <a:off x="6830568" y="4553712"/>
            <a:ext cx="4480560" cy="658368"/>
          </a:xfrm>
          <a:prstGeom prst="rect">
            <a:avLst/>
          </a:prstGeom>
          <a:noFill/>
        </p:spPr>
        <p:txBody>
          <a:bodyPr wrap="square" anchor="ctr" lIns="45720" rIns="45720" tIns="18288" bIns="18288">
            <a:spAutoFit/>
          </a:bodyPr>
          <a:lstStyle/>
          <a:p>
            <a:pPr algn="l"/>
            <a:r>
              <a:rPr sz="1200" b="0" i="0">
                <a:solidFill>
                  <a:srgbClr val="16233B"/>
                </a:solidFill>
                <a:latin typeface="Calibri"/>
              </a:rPr>
              <a:t>Evaluate ML classifiers on pre-trained-model features</a:t>
            </a:r>
          </a:p>
        </p:txBody>
      </p:sp>
      <p:sp>
        <p:nvSpPr>
          <p:cNvPr id="26" name="Rounded Rectangle 25"/>
          <p:cNvSpPr/>
          <p:nvPr/>
        </p:nvSpPr>
        <p:spPr>
          <a:xfrm>
            <a:off x="749808" y="5404104"/>
            <a:ext cx="5257800" cy="74980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41247" y="5550408"/>
            <a:ext cx="457200" cy="457200"/>
          </a:xfrm>
          <a:prstGeom prst="ellipse">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7" y="5541264"/>
            <a:ext cx="457200" cy="457200"/>
          </a:xfrm>
          <a:prstGeom prst="rect">
            <a:avLst/>
          </a:prstGeom>
          <a:noFill/>
        </p:spPr>
        <p:txBody>
          <a:bodyPr wrap="square" anchor="ctr" lIns="45720" rIns="45720" tIns="18288" bIns="18288">
            <a:spAutoFit/>
          </a:bodyPr>
          <a:lstStyle/>
          <a:p>
            <a:pPr algn="ctr"/>
            <a:r>
              <a:rPr sz="1600" b="1" i="0">
                <a:solidFill>
                  <a:srgbClr val="FFFFFF"/>
                </a:solidFill>
                <a:latin typeface="Calibri"/>
              </a:rPr>
              <a:t>5</a:t>
            </a:r>
          </a:p>
        </p:txBody>
      </p:sp>
      <p:sp>
        <p:nvSpPr>
          <p:cNvPr id="29" name="TextBox 28"/>
          <p:cNvSpPr txBox="1"/>
          <p:nvPr/>
        </p:nvSpPr>
        <p:spPr>
          <a:xfrm>
            <a:off x="1408176" y="5449824"/>
            <a:ext cx="4480560" cy="658368"/>
          </a:xfrm>
          <a:prstGeom prst="rect">
            <a:avLst/>
          </a:prstGeom>
          <a:noFill/>
        </p:spPr>
        <p:txBody>
          <a:bodyPr wrap="square" anchor="ctr" lIns="45720" rIns="45720" tIns="18288" bIns="18288">
            <a:spAutoFit/>
          </a:bodyPr>
          <a:lstStyle/>
          <a:p>
            <a:pPr algn="l"/>
            <a:r>
              <a:rPr sz="1200" b="0" i="0">
                <a:solidFill>
                  <a:srgbClr val="16233B"/>
                </a:solidFill>
                <a:latin typeface="Calibri"/>
              </a:rPr>
              <a:t>Measure the accuracy gain from ensemble combination</a:t>
            </a:r>
          </a:p>
        </p:txBody>
      </p:sp>
      <p:sp>
        <p:nvSpPr>
          <p:cNvPr id="30" name="Rounded Rectangle 29"/>
          <p:cNvSpPr/>
          <p:nvPr/>
        </p:nvSpPr>
        <p:spPr>
          <a:xfrm>
            <a:off x="6172200" y="5404104"/>
            <a:ext cx="5257800" cy="749808"/>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263640" y="5550408"/>
            <a:ext cx="457200" cy="457200"/>
          </a:xfrm>
          <a:prstGeom prst="ellipse">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5541264"/>
            <a:ext cx="457200" cy="457200"/>
          </a:xfrm>
          <a:prstGeom prst="rect">
            <a:avLst/>
          </a:prstGeom>
          <a:noFill/>
        </p:spPr>
        <p:txBody>
          <a:bodyPr wrap="square" anchor="ctr" lIns="45720" rIns="45720" tIns="18288" bIns="18288">
            <a:spAutoFit/>
          </a:bodyPr>
          <a:lstStyle/>
          <a:p>
            <a:pPr algn="ctr"/>
            <a:r>
              <a:rPr sz="1600" b="1" i="0">
                <a:solidFill>
                  <a:srgbClr val="FFFFFF"/>
                </a:solidFill>
                <a:latin typeface="Calibri"/>
              </a:rPr>
              <a:t>6</a:t>
            </a:r>
          </a:p>
        </p:txBody>
      </p:sp>
      <p:sp>
        <p:nvSpPr>
          <p:cNvPr id="33" name="TextBox 32"/>
          <p:cNvSpPr txBox="1"/>
          <p:nvPr/>
        </p:nvSpPr>
        <p:spPr>
          <a:xfrm>
            <a:off x="6830568" y="5449824"/>
            <a:ext cx="4480560" cy="658368"/>
          </a:xfrm>
          <a:prstGeom prst="rect">
            <a:avLst/>
          </a:prstGeom>
          <a:noFill/>
        </p:spPr>
        <p:txBody>
          <a:bodyPr wrap="square" anchor="ctr" lIns="45720" rIns="45720" tIns="18288" bIns="18288">
            <a:spAutoFit/>
          </a:bodyPr>
          <a:lstStyle/>
          <a:p>
            <a:pPr algn="l"/>
            <a:r>
              <a:rPr sz="1200" b="0" i="0">
                <a:solidFill>
                  <a:srgbClr val="16233B"/>
                </a:solidFill>
                <a:latin typeface="Calibri"/>
              </a:rPr>
              <a:t>Develop &amp; validate the EAA-IoU uncertainty mechanism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9FC"/>
        </a:solidFill>
        <a:effectLst/>
      </p:bgPr>
    </p:bg>
    <p:spTree>
      <p:nvGrpSpPr>
        <p:cNvPr id="1" name=""/>
        <p:cNvGrpSpPr/>
        <p:nvPr/>
      </p:nvGrpSpPr>
      <p:grpSpPr/>
      <p:sp>
        <p:nvSpPr>
          <p:cNvPr id="2" name="Rectangle 1"/>
          <p:cNvSpPr/>
          <p:nvPr/>
        </p:nvSpPr>
        <p:spPr>
          <a:xfrm>
            <a:off x="502920" y="502920"/>
            <a:ext cx="128016" cy="566928"/>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38912"/>
            <a:ext cx="10789920" cy="640080"/>
          </a:xfrm>
          <a:prstGeom prst="rect">
            <a:avLst/>
          </a:prstGeom>
          <a:noFill/>
        </p:spPr>
        <p:txBody>
          <a:bodyPr wrap="square" anchor="t" lIns="45720" rIns="45720" tIns="18288" bIns="18288">
            <a:spAutoFit/>
          </a:bodyPr>
          <a:lstStyle/>
          <a:p>
            <a:pPr algn="l"/>
            <a:r>
              <a:rPr sz="3000" b="1" i="0">
                <a:solidFill>
                  <a:srgbClr val="0A1A33"/>
                </a:solidFill>
                <a:latin typeface="Cambria"/>
              </a:rPr>
              <a:t>Evaluation, Limitations &amp; Honest Disclosures</a:t>
            </a:r>
          </a:p>
        </p:txBody>
      </p:sp>
      <p:sp>
        <p:nvSpPr>
          <p:cNvPr id="4" name="TextBox 3"/>
          <p:cNvSpPr txBox="1"/>
          <p:nvPr/>
        </p:nvSpPr>
        <p:spPr>
          <a:xfrm>
            <a:off x="768096" y="1024128"/>
            <a:ext cx="10789920" cy="365760"/>
          </a:xfrm>
          <a:prstGeom prst="rect">
            <a:avLst/>
          </a:prstGeom>
          <a:noFill/>
        </p:spPr>
        <p:txBody>
          <a:bodyPr wrap="square" anchor="t" lIns="45720" rIns="45720" tIns="18288" bIns="18288">
            <a:spAutoFit/>
          </a:bodyPr>
          <a:lstStyle/>
          <a:p>
            <a:pPr algn="l"/>
            <a:r>
              <a:rPr sz="1500" b="0" i="1">
                <a:solidFill>
                  <a:srgbClr val="5B6B82"/>
                </a:solidFill>
                <a:latin typeface="Calibri"/>
              </a:rPr>
              <a:t>How performance is judged — and what I openly acknowledge</a:t>
            </a:r>
          </a:p>
        </p:txBody>
      </p:sp>
      <p:sp>
        <p:nvSpPr>
          <p:cNvPr id="5" name="Rounded Rectangle 4"/>
          <p:cNvSpPr/>
          <p:nvPr/>
        </p:nvSpPr>
        <p:spPr>
          <a:xfrm>
            <a:off x="749808" y="1600200"/>
            <a:ext cx="3429000" cy="2788920"/>
          </a:xfrm>
          <a:prstGeom prst="roundRect">
            <a:avLst/>
          </a:prstGeom>
          <a:solidFill>
            <a:srgbClr val="F0FB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746504"/>
            <a:ext cx="3063240" cy="365760"/>
          </a:xfrm>
          <a:prstGeom prst="rect">
            <a:avLst/>
          </a:prstGeom>
          <a:noFill/>
        </p:spPr>
        <p:txBody>
          <a:bodyPr wrap="square" anchor="t" lIns="45720" rIns="45720" tIns="18288" bIns="18288">
            <a:spAutoFit/>
          </a:bodyPr>
          <a:lstStyle/>
          <a:p>
            <a:pPr algn="l"/>
            <a:r>
              <a:rPr sz="1250" b="1" i="0">
                <a:solidFill>
                  <a:srgbClr val="0E7C72"/>
                </a:solidFill>
                <a:latin typeface="Calibri"/>
              </a:rPr>
              <a:t>HOW IT IS MEASURED</a:t>
            </a:r>
          </a:p>
        </p:txBody>
      </p:sp>
      <p:sp>
        <p:nvSpPr>
          <p:cNvPr id="7" name="TextBox 6"/>
          <p:cNvSpPr txBox="1"/>
          <p:nvPr/>
        </p:nvSpPr>
        <p:spPr>
          <a:xfrm>
            <a:off x="950976" y="2167128"/>
            <a:ext cx="3063240" cy="2148839"/>
          </a:xfrm>
          <a:prstGeom prst="rect">
            <a:avLst/>
          </a:prstGeom>
          <a:noFill/>
        </p:spPr>
        <p:txBody>
          <a:bodyPr wrap="square" anchor="t" lIns="45720" rIns="45720" tIns="18288" bIns="18288">
            <a:spAutoFit/>
          </a:bodyPr>
          <a:lstStyle/>
          <a:p>
            <a:pPr algn="l">
              <a:spcAft>
                <a:spcPts val="700"/>
              </a:spcAft>
            </a:pPr>
            <a:r>
              <a:rPr sz="1100" b="1" i="0">
                <a:solidFill>
                  <a:srgbClr val="0E7C72"/>
                </a:solidFill>
                <a:latin typeface="Calibri"/>
              </a:rPr>
              <a:t>•  </a:t>
            </a:r>
            <a:r>
              <a:rPr sz="1150" b="0" i="0">
                <a:solidFill>
                  <a:srgbClr val="16233B"/>
                </a:solidFill>
                <a:latin typeface="Calibri"/>
              </a:rPr>
              <a:t>Accuracy, Precision, Recall, F1 — per class and weighted</a:t>
            </a:r>
          </a:p>
          <a:p>
            <a:pPr algn="l">
              <a:spcAft>
                <a:spcPts val="700"/>
              </a:spcAft>
            </a:pPr>
            <a:r>
              <a:rPr sz="1100" b="1" i="0">
                <a:solidFill>
                  <a:srgbClr val="0E7C72"/>
                </a:solidFill>
                <a:latin typeface="Calibri"/>
              </a:rPr>
              <a:t>•  </a:t>
            </a:r>
            <a:r>
              <a:rPr sz="1150" b="0" i="0">
                <a:solidFill>
                  <a:srgbClr val="16233B"/>
                </a:solidFill>
                <a:latin typeface="Calibri"/>
              </a:rPr>
              <a:t>Confusion matrices for every model</a:t>
            </a:r>
          </a:p>
          <a:p>
            <a:pPr algn="l">
              <a:spcAft>
                <a:spcPts val="700"/>
              </a:spcAft>
            </a:pPr>
            <a:r>
              <a:rPr sz="1100" b="1" i="0">
                <a:solidFill>
                  <a:srgbClr val="0E7C72"/>
                </a:solidFill>
                <a:latin typeface="Calibri"/>
              </a:rPr>
              <a:t>•  </a:t>
            </a:r>
            <a:r>
              <a:rPr sz="1150" b="0" i="0">
                <a:solidFill>
                  <a:srgbClr val="16233B"/>
                </a:solidFill>
                <a:latin typeface="Calibri"/>
              </a:rPr>
              <a:t>ROC / PR curves for EAA-IoU as a misclassification detector</a:t>
            </a:r>
          </a:p>
          <a:p>
            <a:pPr algn="l">
              <a:spcAft>
                <a:spcPts val="700"/>
              </a:spcAft>
            </a:pPr>
            <a:r>
              <a:rPr sz="1100" b="1" i="0">
                <a:solidFill>
                  <a:srgbClr val="0E7C72"/>
                </a:solidFill>
                <a:latin typeface="Calibri"/>
              </a:rPr>
              <a:t>•  </a:t>
            </a:r>
            <a:r>
              <a:rPr sz="1150" b="0" i="0">
                <a:solidFill>
                  <a:srgbClr val="16233B"/>
                </a:solidFill>
                <a:latin typeface="Calibri"/>
              </a:rPr>
              <a:t>Official held-out test set (2,063 images), never seen in training</a:t>
            </a:r>
          </a:p>
        </p:txBody>
      </p:sp>
      <p:sp>
        <p:nvSpPr>
          <p:cNvPr id="8" name="Rounded Rectangle 7"/>
          <p:cNvSpPr/>
          <p:nvPr/>
        </p:nvSpPr>
        <p:spPr>
          <a:xfrm>
            <a:off x="4361688" y="1600200"/>
            <a:ext cx="3429000" cy="2788920"/>
          </a:xfrm>
          <a:prstGeom prst="roundRect">
            <a:avLst/>
          </a:prstGeom>
          <a:solidFill>
            <a:srgbClr val="EEF3F9"/>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62856" y="1746504"/>
            <a:ext cx="3063240" cy="365760"/>
          </a:xfrm>
          <a:prstGeom prst="rect">
            <a:avLst/>
          </a:prstGeom>
          <a:noFill/>
        </p:spPr>
        <p:txBody>
          <a:bodyPr wrap="square" anchor="t" lIns="45720" rIns="45720" tIns="18288" bIns="18288">
            <a:spAutoFit/>
          </a:bodyPr>
          <a:lstStyle/>
          <a:p>
            <a:pPr algn="l"/>
            <a:r>
              <a:rPr sz="1250" b="1" i="0">
                <a:solidFill>
                  <a:srgbClr val="0A1A33"/>
                </a:solidFill>
                <a:latin typeface="Calibri"/>
              </a:rPr>
              <a:t>KNOWN CODE ISSUES (FIXED)</a:t>
            </a:r>
          </a:p>
        </p:txBody>
      </p:sp>
      <p:sp>
        <p:nvSpPr>
          <p:cNvPr id="10" name="TextBox 9"/>
          <p:cNvSpPr txBox="1"/>
          <p:nvPr/>
        </p:nvSpPr>
        <p:spPr>
          <a:xfrm>
            <a:off x="4562856" y="2167128"/>
            <a:ext cx="3063240" cy="2148839"/>
          </a:xfrm>
          <a:prstGeom prst="rect">
            <a:avLst/>
          </a:prstGeom>
          <a:noFill/>
        </p:spPr>
        <p:txBody>
          <a:bodyPr wrap="square" anchor="t" lIns="45720" rIns="45720" tIns="18288" bIns="18288">
            <a:spAutoFit/>
          </a:bodyPr>
          <a:lstStyle/>
          <a:p>
            <a:pPr algn="l">
              <a:spcAft>
                <a:spcPts val="700"/>
              </a:spcAft>
            </a:pPr>
            <a:r>
              <a:rPr sz="1100" b="1" i="0">
                <a:solidFill>
                  <a:srgbClr val="0A1A33"/>
                </a:solidFill>
                <a:latin typeface="Calibri"/>
              </a:rPr>
              <a:t>•  </a:t>
            </a:r>
            <a:r>
              <a:rPr sz="1150" b="0" i="0">
                <a:solidFill>
                  <a:srgbClr val="16233B"/>
                </a:solidFill>
                <a:latin typeface="Calibri"/>
              </a:rPr>
              <a:t>Normalisation differed across notebooks (/255 vs /255-0.5) — standardised to /255 in the deployed app</a:t>
            </a:r>
          </a:p>
          <a:p>
            <a:pPr algn="l">
              <a:spcAft>
                <a:spcPts val="700"/>
              </a:spcAft>
            </a:pPr>
            <a:r>
              <a:rPr sz="1100" b="1" i="0">
                <a:solidFill>
                  <a:srgbClr val="0A1A33"/>
                </a:solidFill>
                <a:latin typeface="Calibri"/>
              </a:rPr>
              <a:t>•  </a:t>
            </a:r>
            <a:r>
              <a:rPr sz="1150" b="0" i="0">
                <a:solidFill>
                  <a:srgbClr val="16233B"/>
                </a:solidFill>
                <a:latin typeface="Calibri"/>
              </a:rPr>
              <a:t>A legacy 'Random Forest' cell instantiated a Decision Tree — corrected</a:t>
            </a:r>
          </a:p>
          <a:p>
            <a:pPr algn="l">
              <a:spcAft>
                <a:spcPts val="700"/>
              </a:spcAft>
            </a:pPr>
            <a:r>
              <a:rPr sz="1100" b="1" i="0">
                <a:solidFill>
                  <a:srgbClr val="0A1A33"/>
                </a:solidFill>
                <a:latin typeface="Calibri"/>
              </a:rPr>
              <a:t>•  </a:t>
            </a:r>
            <a:r>
              <a:rPr sz="1150" b="0" i="0">
                <a:solidFill>
                  <a:srgbClr val="16233B"/>
                </a:solidFill>
                <a:latin typeface="Calibri"/>
              </a:rPr>
              <a:t>Label-encoding differences (integer vs one-hot) documented and reconciled</a:t>
            </a:r>
          </a:p>
        </p:txBody>
      </p:sp>
      <p:sp>
        <p:nvSpPr>
          <p:cNvPr id="11" name="Rounded Rectangle 10"/>
          <p:cNvSpPr/>
          <p:nvPr/>
        </p:nvSpPr>
        <p:spPr>
          <a:xfrm>
            <a:off x="7973568" y="1600200"/>
            <a:ext cx="3429000" cy="2788920"/>
          </a:xfrm>
          <a:prstGeom prst="roundRect">
            <a:avLst/>
          </a:prstGeom>
          <a:solidFill>
            <a:srgbClr val="FBECE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4736" y="1746504"/>
            <a:ext cx="3063240" cy="365760"/>
          </a:xfrm>
          <a:prstGeom prst="rect">
            <a:avLst/>
          </a:prstGeom>
          <a:noFill/>
        </p:spPr>
        <p:txBody>
          <a:bodyPr wrap="square" anchor="t" lIns="45720" rIns="45720" tIns="18288" bIns="18288">
            <a:spAutoFit/>
          </a:bodyPr>
          <a:lstStyle/>
          <a:p>
            <a:pPr algn="l"/>
            <a:r>
              <a:rPr sz="1250" b="1" i="0">
                <a:solidFill>
                  <a:srgbClr val="D9534F"/>
                </a:solidFill>
                <a:latin typeface="Calibri"/>
              </a:rPr>
              <a:t>LIMITATIONS</a:t>
            </a:r>
          </a:p>
        </p:txBody>
      </p:sp>
      <p:sp>
        <p:nvSpPr>
          <p:cNvPr id="13" name="TextBox 12"/>
          <p:cNvSpPr txBox="1"/>
          <p:nvPr/>
        </p:nvSpPr>
        <p:spPr>
          <a:xfrm>
            <a:off x="8174736" y="2167128"/>
            <a:ext cx="3063240" cy="2148839"/>
          </a:xfrm>
          <a:prstGeom prst="rect">
            <a:avLst/>
          </a:prstGeom>
          <a:noFill/>
        </p:spPr>
        <p:txBody>
          <a:bodyPr wrap="square" anchor="t" lIns="45720" rIns="45720" tIns="18288" bIns="18288">
            <a:spAutoFit/>
          </a:bodyPr>
          <a:lstStyle/>
          <a:p>
            <a:pPr algn="l">
              <a:spcAft>
                <a:spcPts val="700"/>
              </a:spcAft>
            </a:pPr>
            <a:r>
              <a:rPr sz="1100" b="1" i="0">
                <a:solidFill>
                  <a:srgbClr val="D9534F"/>
                </a:solidFill>
                <a:latin typeface="Calibri"/>
              </a:rPr>
              <a:t>•  </a:t>
            </a:r>
            <a:r>
              <a:rPr sz="1150" b="0" i="0">
                <a:solidFill>
                  <a:srgbClr val="16233B"/>
                </a:solidFill>
                <a:latin typeface="Calibri"/>
              </a:rPr>
              <a:t>Single dataset — limited scanner &amp; demographic diversity</a:t>
            </a:r>
          </a:p>
          <a:p>
            <a:pPr algn="l">
              <a:spcAft>
                <a:spcPts val="700"/>
              </a:spcAft>
            </a:pPr>
            <a:r>
              <a:rPr sz="1100" b="1" i="0">
                <a:solidFill>
                  <a:srgbClr val="D9534F"/>
                </a:solidFill>
                <a:latin typeface="Calibri"/>
              </a:rPr>
              <a:t>•  </a:t>
            </a:r>
            <a:r>
              <a:rPr sz="1150" b="0" i="0">
                <a:solidFill>
                  <a:srgbClr val="16233B"/>
                </a:solidFill>
                <a:latin typeface="Calibri"/>
              </a:rPr>
              <a:t>Six-model ensemble is compute-heavy for some clinics</a:t>
            </a:r>
          </a:p>
          <a:p>
            <a:pPr algn="l">
              <a:spcAft>
                <a:spcPts val="700"/>
              </a:spcAft>
            </a:pPr>
            <a:r>
              <a:rPr sz="1100" b="1" i="0">
                <a:solidFill>
                  <a:srgbClr val="D9534F"/>
                </a:solidFill>
                <a:latin typeface="Calibri"/>
              </a:rPr>
              <a:t>•  </a:t>
            </a:r>
            <a:r>
              <a:rPr sz="1150" b="0" i="0">
                <a:solidFill>
                  <a:srgbClr val="16233B"/>
                </a:solidFill>
                <a:latin typeface="Calibri"/>
              </a:rPr>
              <a:t>Grad-CAM approximates attention, not ground truth</a:t>
            </a:r>
          </a:p>
          <a:p>
            <a:pPr algn="l">
              <a:spcAft>
                <a:spcPts val="700"/>
              </a:spcAft>
            </a:pPr>
            <a:r>
              <a:rPr sz="1100" b="1" i="0">
                <a:solidFill>
                  <a:srgbClr val="D9534F"/>
                </a:solidFill>
                <a:latin typeface="Calibri"/>
              </a:rPr>
              <a:t>•  </a:t>
            </a:r>
            <a:r>
              <a:rPr sz="1150" b="0" i="0">
                <a:solidFill>
                  <a:srgbClr val="16233B"/>
                </a:solidFill>
                <a:latin typeface="Calibri"/>
              </a:rPr>
              <a:t>EAA-IoU validated as a correlation, not yet in a clinical trial</a:t>
            </a:r>
          </a:p>
        </p:txBody>
      </p:sp>
      <p:sp>
        <p:nvSpPr>
          <p:cNvPr id="14" name="TextBox 13"/>
          <p:cNvSpPr txBox="1"/>
          <p:nvPr/>
        </p:nvSpPr>
        <p:spPr>
          <a:xfrm>
            <a:off x="749808" y="4572000"/>
            <a:ext cx="10698480" cy="457200"/>
          </a:xfrm>
          <a:prstGeom prst="rect">
            <a:avLst/>
          </a:prstGeom>
          <a:noFill/>
        </p:spPr>
        <p:txBody>
          <a:bodyPr wrap="square" anchor="t" lIns="45720" rIns="45720" tIns="18288" bIns="18288">
            <a:spAutoFit/>
          </a:bodyPr>
          <a:lstStyle/>
          <a:p>
            <a:pPr algn="l"/>
            <a:r>
              <a:rPr sz="1250" b="1" i="0">
                <a:solidFill>
                  <a:srgbClr val="0E7C72"/>
                </a:solidFill>
                <a:latin typeface="Calibri"/>
              </a:rPr>
              <a:t>Framing:  </a:t>
            </a:r>
            <a:r>
              <a:rPr sz="1250" b="0" i="1">
                <a:solidFill>
                  <a:srgbClr val="16233B"/>
                </a:solidFill>
                <a:latin typeface="Calibri"/>
              </a:rPr>
              <a:t>owning these openly is deliberate — a viva rewards self-aware rigour far more than a flawless-looking story.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A33"/>
        </a:solidFill>
        <a:effectLst/>
      </p:bgPr>
    </p:bg>
    <p:spTree>
      <p:nvGrpSpPr>
        <p:cNvPr id="1" name=""/>
        <p:cNvGrpSpPr/>
        <p:nvPr/>
      </p:nvGrpSpPr>
      <p:grpSpPr/>
      <p:sp>
        <p:nvSpPr>
          <p:cNvPr id="2" name="Rectangle 1"/>
          <p:cNvSpPr/>
          <p:nvPr/>
        </p:nvSpPr>
        <p:spPr>
          <a:xfrm>
            <a:off x="0" y="0"/>
            <a:ext cx="12192000" cy="6858000"/>
          </a:xfrm>
          <a:prstGeom prst="rect">
            <a:avLst/>
          </a:prstGeom>
          <a:solidFill>
            <a:srgbClr val="0A1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43200"/>
            <a:ext cx="822960" cy="12801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971800"/>
            <a:ext cx="10515600" cy="1097280"/>
          </a:xfrm>
          <a:prstGeom prst="rect">
            <a:avLst/>
          </a:prstGeom>
          <a:noFill/>
        </p:spPr>
        <p:txBody>
          <a:bodyPr wrap="square" anchor="t" lIns="45720" rIns="45720" tIns="18288" bIns="18288">
            <a:spAutoFit/>
          </a:bodyPr>
          <a:lstStyle/>
          <a:p>
            <a:pPr algn="l">
              <a:spcAft>
                <a:spcPts val="600"/>
              </a:spcAft>
            </a:pPr>
            <a:r>
              <a:rPr sz="3400" b="1" i="0">
                <a:solidFill>
                  <a:srgbClr val="FFFFFF"/>
                </a:solidFill>
                <a:latin typeface="Cambria"/>
              </a:rPr>
              <a:t>Appendix — Anticipated Viva Questions</a:t>
            </a:r>
          </a:p>
          <a:p>
            <a:pPr algn="l"/>
            <a:r>
              <a:rPr sz="1600" b="0" i="1">
                <a:solidFill>
                  <a:srgbClr val="A9C6E0"/>
                </a:solidFill>
                <a:latin typeface="Calibri"/>
              </a:rPr>
              <a:t>Prepared answers to the questions the panel is most likely to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9FC"/>
        </a:solidFill>
        <a:effectLst/>
      </p:bgPr>
    </p:bg>
    <p:spTree>
      <p:nvGrpSpPr>
        <p:cNvPr id="1" name=""/>
        <p:cNvGrpSpPr/>
        <p:nvPr/>
      </p:nvGrpSpPr>
      <p:grpSpPr/>
      <p:sp>
        <p:nvSpPr>
          <p:cNvPr id="2" name="Rectangle 1"/>
          <p:cNvSpPr/>
          <p:nvPr/>
        </p:nvSpPr>
        <p:spPr>
          <a:xfrm>
            <a:off x="502920" y="502920"/>
            <a:ext cx="128016" cy="566928"/>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38912"/>
            <a:ext cx="10789920" cy="640080"/>
          </a:xfrm>
          <a:prstGeom prst="rect">
            <a:avLst/>
          </a:prstGeom>
          <a:noFill/>
        </p:spPr>
        <p:txBody>
          <a:bodyPr wrap="square" anchor="t" lIns="45720" rIns="45720" tIns="18288" bIns="18288">
            <a:spAutoFit/>
          </a:bodyPr>
          <a:lstStyle/>
          <a:p>
            <a:pPr algn="l"/>
            <a:r>
              <a:rPr sz="3000" b="1" i="0">
                <a:solidFill>
                  <a:srgbClr val="0A1A33"/>
                </a:solidFill>
                <a:latin typeface="Cambria"/>
              </a:rPr>
              <a:t>Anticipated Questions — Method &amp; Design</a:t>
            </a:r>
          </a:p>
        </p:txBody>
      </p:sp>
      <p:sp>
        <p:nvSpPr>
          <p:cNvPr id="4" name="TextBox 3"/>
          <p:cNvSpPr txBox="1"/>
          <p:nvPr/>
        </p:nvSpPr>
        <p:spPr>
          <a:xfrm>
            <a:off x="768096" y="1024128"/>
            <a:ext cx="10789920" cy="365760"/>
          </a:xfrm>
          <a:prstGeom prst="rect">
            <a:avLst/>
          </a:prstGeom>
          <a:noFill/>
        </p:spPr>
        <p:txBody>
          <a:bodyPr wrap="square" anchor="t" lIns="45720" rIns="45720" tIns="18288" bIns="18288">
            <a:spAutoFit/>
          </a:bodyPr>
          <a:lstStyle/>
          <a:p>
            <a:pPr algn="l"/>
            <a:r>
              <a:rPr sz="1500" b="0" i="1">
                <a:solidFill>
                  <a:srgbClr val="5B6B82"/>
                </a:solidFill>
                <a:latin typeface="Calibri"/>
              </a:rPr>
              <a:t>Why the framework is built the way it is</a:t>
            </a:r>
          </a:p>
        </p:txBody>
      </p:sp>
      <p:sp>
        <p:nvSpPr>
          <p:cNvPr id="5" name="Rounded Rectangle 4"/>
          <p:cNvSpPr/>
          <p:nvPr/>
        </p:nvSpPr>
        <p:spPr>
          <a:xfrm>
            <a:off x="749808" y="1572768"/>
            <a:ext cx="10698480" cy="76581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1645920"/>
            <a:ext cx="82296" cy="61950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91640"/>
            <a:ext cx="10287000" cy="564642"/>
          </a:xfrm>
          <a:prstGeom prst="rect">
            <a:avLst/>
          </a:prstGeom>
          <a:noFill/>
        </p:spPr>
        <p:txBody>
          <a:bodyPr wrap="square" anchor="ctr" lIns="45720" rIns="45720" tIns="18288" bIns="18288">
            <a:spAutoFit/>
          </a:bodyPr>
          <a:lstStyle/>
          <a:p>
            <a:pPr algn="l">
              <a:spcAft>
                <a:spcPts val="400"/>
              </a:spcAft>
            </a:pPr>
            <a:r>
              <a:rPr sz="1300" b="1" i="0">
                <a:solidFill>
                  <a:srgbClr val="1FBFAE"/>
                </a:solidFill>
                <a:latin typeface="Calibri"/>
              </a:rPr>
              <a:t>Q  </a:t>
            </a:r>
            <a:r>
              <a:rPr sz="1350" b="1" i="0">
                <a:solidFill>
                  <a:srgbClr val="0A1A33"/>
                </a:solidFill>
                <a:latin typeface="Calibri"/>
              </a:rPr>
              <a:t>Why an ensemble instead of just improving one model?</a:t>
            </a:r>
          </a:p>
          <a:p>
            <a:pPr algn="l"/>
            <a:r>
              <a:rPr sz="1200" b="1" i="0">
                <a:solidFill>
                  <a:srgbClr val="0E7C72"/>
                </a:solidFill>
                <a:latin typeface="Calibri"/>
              </a:rPr>
              <a:t>A   </a:t>
            </a:r>
            <a:r>
              <a:rPr sz="1200" b="0" i="0">
                <a:solidFill>
                  <a:srgbClr val="16233B"/>
                </a:solidFill>
                <a:latin typeface="Calibri"/>
              </a:rPr>
              <a:t>Different architectures fail on different images; for the ensemble to be wrong, a majority of six diverse models must fail the same way on the same scan — rare. The 94% → 98.2% jump is the proof.</a:t>
            </a:r>
          </a:p>
        </p:txBody>
      </p:sp>
      <p:sp>
        <p:nvSpPr>
          <p:cNvPr id="8" name="Rounded Rectangle 7"/>
          <p:cNvSpPr/>
          <p:nvPr/>
        </p:nvSpPr>
        <p:spPr>
          <a:xfrm>
            <a:off x="749808" y="2484882"/>
            <a:ext cx="10698480" cy="76581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2558034"/>
            <a:ext cx="82296" cy="61950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03754"/>
            <a:ext cx="10287000" cy="564642"/>
          </a:xfrm>
          <a:prstGeom prst="rect">
            <a:avLst/>
          </a:prstGeom>
          <a:noFill/>
        </p:spPr>
        <p:txBody>
          <a:bodyPr wrap="square" anchor="ctr" lIns="45720" rIns="45720" tIns="18288" bIns="18288">
            <a:spAutoFit/>
          </a:bodyPr>
          <a:lstStyle/>
          <a:p>
            <a:pPr algn="l">
              <a:spcAft>
                <a:spcPts val="400"/>
              </a:spcAft>
            </a:pPr>
            <a:r>
              <a:rPr sz="1300" b="1" i="0">
                <a:solidFill>
                  <a:srgbClr val="1FBFAE"/>
                </a:solidFill>
                <a:latin typeface="Calibri"/>
              </a:rPr>
              <a:t>Q  </a:t>
            </a:r>
            <a:r>
              <a:rPr sz="1350" b="1" i="0">
                <a:solidFill>
                  <a:srgbClr val="0A1A33"/>
                </a:solidFill>
                <a:latin typeface="Calibri"/>
              </a:rPr>
              <a:t>Why Xception and InceptionV3 specifically?</a:t>
            </a:r>
          </a:p>
          <a:p>
            <a:pPr algn="l"/>
            <a:r>
              <a:rPr sz="1200" b="1" i="0">
                <a:solidFill>
                  <a:srgbClr val="0E7C72"/>
                </a:solidFill>
                <a:latin typeface="Calibri"/>
              </a:rPr>
              <a:t>A   </a:t>
            </a:r>
            <a:r>
              <a:rPr sz="1200" b="0" i="0">
                <a:solidFill>
                  <a:srgbClr val="16233B"/>
                </a:solidFill>
                <a:latin typeface="Calibri"/>
              </a:rPr>
              <a:t>Both bring ImageNet transfer learning, and they reason differently — Inception uses parallel multi-scale filters, Xception uses depthwise-separable convolutions — so their mistakes differ, which is exactly what an ensemble needs.</a:t>
            </a:r>
          </a:p>
        </p:txBody>
      </p:sp>
      <p:sp>
        <p:nvSpPr>
          <p:cNvPr id="11" name="Rounded Rectangle 10"/>
          <p:cNvSpPr/>
          <p:nvPr/>
        </p:nvSpPr>
        <p:spPr>
          <a:xfrm>
            <a:off x="749808" y="3396996"/>
            <a:ext cx="10698480" cy="76581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470148"/>
            <a:ext cx="82296" cy="61950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15868"/>
            <a:ext cx="10287000" cy="564642"/>
          </a:xfrm>
          <a:prstGeom prst="rect">
            <a:avLst/>
          </a:prstGeom>
          <a:noFill/>
        </p:spPr>
        <p:txBody>
          <a:bodyPr wrap="square" anchor="ctr" lIns="45720" rIns="45720" tIns="18288" bIns="18288">
            <a:spAutoFit/>
          </a:bodyPr>
          <a:lstStyle/>
          <a:p>
            <a:pPr algn="l">
              <a:spcAft>
                <a:spcPts val="400"/>
              </a:spcAft>
            </a:pPr>
            <a:r>
              <a:rPr sz="1300" b="1" i="0">
                <a:solidFill>
                  <a:srgbClr val="1FBFAE"/>
                </a:solidFill>
                <a:latin typeface="Calibri"/>
              </a:rPr>
              <a:t>Q  </a:t>
            </a:r>
            <a:r>
              <a:rPr sz="1350" b="1" i="0">
                <a:solidFill>
                  <a:srgbClr val="0A1A33"/>
                </a:solidFill>
                <a:latin typeface="Calibri"/>
              </a:rPr>
              <a:t>What does 'cutting the dense layer' actually mean?</a:t>
            </a:r>
          </a:p>
          <a:p>
            <a:pPr algn="l"/>
            <a:r>
              <a:rPr sz="1200" b="1" i="0">
                <a:solidFill>
                  <a:srgbClr val="0E7C72"/>
                </a:solidFill>
                <a:latin typeface="Calibri"/>
              </a:rPr>
              <a:t>A   </a:t>
            </a:r>
            <a:r>
              <a:rPr sz="1200" b="0" i="0">
                <a:solidFill>
                  <a:srgbClr val="16233B"/>
                </a:solidFill>
                <a:latin typeface="Calibri"/>
              </a:rPr>
              <a:t>After training, I build a second model with the same weights whose output is the 256-unit dense layer instead of the softmax — giving a 256-number feature vector per image that classical models then classify.</a:t>
            </a:r>
          </a:p>
        </p:txBody>
      </p:sp>
      <p:sp>
        <p:nvSpPr>
          <p:cNvPr id="14" name="Rounded Rectangle 13"/>
          <p:cNvSpPr/>
          <p:nvPr/>
        </p:nvSpPr>
        <p:spPr>
          <a:xfrm>
            <a:off x="749808" y="4309110"/>
            <a:ext cx="10698480" cy="76581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 y="4382262"/>
            <a:ext cx="82296" cy="61950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427982"/>
            <a:ext cx="10287000" cy="564642"/>
          </a:xfrm>
          <a:prstGeom prst="rect">
            <a:avLst/>
          </a:prstGeom>
          <a:noFill/>
        </p:spPr>
        <p:txBody>
          <a:bodyPr wrap="square" anchor="ctr" lIns="45720" rIns="45720" tIns="18288" bIns="18288">
            <a:spAutoFit/>
          </a:bodyPr>
          <a:lstStyle/>
          <a:p>
            <a:pPr algn="l">
              <a:spcAft>
                <a:spcPts val="400"/>
              </a:spcAft>
            </a:pPr>
            <a:r>
              <a:rPr sz="1300" b="1" i="0">
                <a:solidFill>
                  <a:srgbClr val="1FBFAE"/>
                </a:solidFill>
                <a:latin typeface="Calibri"/>
              </a:rPr>
              <a:t>Q  </a:t>
            </a:r>
            <a:r>
              <a:rPr sz="1350" b="1" i="0">
                <a:solidFill>
                  <a:srgbClr val="0A1A33"/>
                </a:solidFill>
                <a:latin typeface="Calibri"/>
              </a:rPr>
              <a:t>Why use classical ML (RF / DT / SVM) at all?</a:t>
            </a:r>
          </a:p>
          <a:p>
            <a:pPr algn="l"/>
            <a:r>
              <a:rPr sz="1200" b="1" i="0">
                <a:solidFill>
                  <a:srgbClr val="0E7C72"/>
                </a:solidFill>
                <a:latin typeface="Calibri"/>
              </a:rPr>
              <a:t>A   </a:t>
            </a:r>
            <a:r>
              <a:rPr sz="1200" b="0" i="0">
                <a:solidFill>
                  <a:srgbClr val="16233B"/>
                </a:solidFill>
                <a:latin typeface="Calibri"/>
              </a:rPr>
              <a:t>On a small medical dataset they are robust and interpretable, and they add three more independent voters that share deep features but use different decision logic.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9FC"/>
        </a:solidFill>
        <a:effectLst/>
      </p:bgPr>
    </p:bg>
    <p:spTree>
      <p:nvGrpSpPr>
        <p:cNvPr id="1" name=""/>
        <p:cNvGrpSpPr/>
        <p:nvPr/>
      </p:nvGrpSpPr>
      <p:grpSpPr/>
      <p:sp>
        <p:nvSpPr>
          <p:cNvPr id="2" name="Rectangle 1"/>
          <p:cNvSpPr/>
          <p:nvPr/>
        </p:nvSpPr>
        <p:spPr>
          <a:xfrm>
            <a:off x="502920" y="502920"/>
            <a:ext cx="128016" cy="566928"/>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38912"/>
            <a:ext cx="10789920" cy="640080"/>
          </a:xfrm>
          <a:prstGeom prst="rect">
            <a:avLst/>
          </a:prstGeom>
          <a:noFill/>
        </p:spPr>
        <p:txBody>
          <a:bodyPr wrap="square" anchor="t" lIns="45720" rIns="45720" tIns="18288" bIns="18288">
            <a:spAutoFit/>
          </a:bodyPr>
          <a:lstStyle/>
          <a:p>
            <a:pPr algn="l"/>
            <a:r>
              <a:rPr sz="3000" b="1" i="0">
                <a:solidFill>
                  <a:srgbClr val="0A1A33"/>
                </a:solidFill>
                <a:latin typeface="Cambria"/>
              </a:rPr>
              <a:t>Anticipated Questions — Technical Detail</a:t>
            </a:r>
          </a:p>
        </p:txBody>
      </p:sp>
      <p:sp>
        <p:nvSpPr>
          <p:cNvPr id="4" name="TextBox 3"/>
          <p:cNvSpPr txBox="1"/>
          <p:nvPr/>
        </p:nvSpPr>
        <p:spPr>
          <a:xfrm>
            <a:off x="768096" y="1024128"/>
            <a:ext cx="10789920" cy="365760"/>
          </a:xfrm>
          <a:prstGeom prst="rect">
            <a:avLst/>
          </a:prstGeom>
          <a:noFill/>
        </p:spPr>
        <p:txBody>
          <a:bodyPr wrap="square" anchor="t" lIns="45720" rIns="45720" tIns="18288" bIns="18288">
            <a:spAutoFit/>
          </a:bodyPr>
          <a:lstStyle/>
          <a:p>
            <a:pPr algn="l"/>
            <a:r>
              <a:rPr sz="1500" b="0" i="1">
                <a:solidFill>
                  <a:srgbClr val="5B6B82"/>
                </a:solidFill>
                <a:latin typeface="Calibri"/>
              </a:rPr>
              <a:t>The specifics a technical panellist will probe</a:t>
            </a:r>
          </a:p>
        </p:txBody>
      </p:sp>
      <p:sp>
        <p:nvSpPr>
          <p:cNvPr id="5" name="Rounded Rectangle 4"/>
          <p:cNvSpPr/>
          <p:nvPr/>
        </p:nvSpPr>
        <p:spPr>
          <a:xfrm>
            <a:off x="749808" y="1572768"/>
            <a:ext cx="10698480" cy="76581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1645920"/>
            <a:ext cx="82296" cy="61950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91640"/>
            <a:ext cx="10287000" cy="564642"/>
          </a:xfrm>
          <a:prstGeom prst="rect">
            <a:avLst/>
          </a:prstGeom>
          <a:noFill/>
        </p:spPr>
        <p:txBody>
          <a:bodyPr wrap="square" anchor="ctr" lIns="45720" rIns="45720" tIns="18288" bIns="18288">
            <a:spAutoFit/>
          </a:bodyPr>
          <a:lstStyle/>
          <a:p>
            <a:pPr algn="l">
              <a:spcAft>
                <a:spcPts val="400"/>
              </a:spcAft>
            </a:pPr>
            <a:r>
              <a:rPr sz="1300" b="1" i="0">
                <a:solidFill>
                  <a:srgbClr val="1FBFAE"/>
                </a:solidFill>
                <a:latin typeface="Calibri"/>
              </a:rPr>
              <a:t>Q  </a:t>
            </a:r>
            <a:r>
              <a:rPr sz="1350" b="1" i="0">
                <a:solidFill>
                  <a:srgbClr val="0A1A33"/>
                </a:solidFill>
                <a:latin typeface="Calibri"/>
              </a:rPr>
              <a:t>Why 256 features, and 128×128 vs 256×256 inputs?</a:t>
            </a:r>
          </a:p>
          <a:p>
            <a:pPr algn="l"/>
            <a:r>
              <a:rPr sz="1200" b="1" i="0">
                <a:solidFill>
                  <a:srgbClr val="0E7C72"/>
                </a:solidFill>
                <a:latin typeface="Calibri"/>
              </a:rPr>
              <a:t>A   </a:t>
            </a:r>
            <a:r>
              <a:rPr sz="1200" b="0" i="0">
                <a:solidFill>
                  <a:srgbClr val="16233B"/>
                </a:solidFill>
                <a:latin typeface="Calibri"/>
              </a:rPr>
              <a:t>256 is the dense-layer width — compact yet expressive; 128×128 keeps feature extraction fast across thousands of images, while 256×256 gives the standalone models maximum detail.</a:t>
            </a:r>
          </a:p>
        </p:txBody>
      </p:sp>
      <p:sp>
        <p:nvSpPr>
          <p:cNvPr id="8" name="Rounded Rectangle 7"/>
          <p:cNvSpPr/>
          <p:nvPr/>
        </p:nvSpPr>
        <p:spPr>
          <a:xfrm>
            <a:off x="749808" y="2484882"/>
            <a:ext cx="10698480" cy="76581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2558034"/>
            <a:ext cx="82296" cy="61950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03754"/>
            <a:ext cx="10287000" cy="564642"/>
          </a:xfrm>
          <a:prstGeom prst="rect">
            <a:avLst/>
          </a:prstGeom>
          <a:noFill/>
        </p:spPr>
        <p:txBody>
          <a:bodyPr wrap="square" anchor="ctr" lIns="45720" rIns="45720" tIns="18288" bIns="18288">
            <a:spAutoFit/>
          </a:bodyPr>
          <a:lstStyle/>
          <a:p>
            <a:pPr algn="l">
              <a:spcAft>
                <a:spcPts val="400"/>
              </a:spcAft>
            </a:pPr>
            <a:r>
              <a:rPr sz="1300" b="1" i="0">
                <a:solidFill>
                  <a:srgbClr val="1FBFAE"/>
                </a:solidFill>
                <a:latin typeface="Calibri"/>
              </a:rPr>
              <a:t>Q  </a:t>
            </a:r>
            <a:r>
              <a:rPr sz="1350" b="1" i="0">
                <a:solidFill>
                  <a:srgbClr val="0A1A33"/>
                </a:solidFill>
                <a:latin typeface="Calibri"/>
              </a:rPr>
              <a:t>How do you avoid data leakage and overfitting?</a:t>
            </a:r>
          </a:p>
          <a:p>
            <a:pPr algn="l"/>
            <a:r>
              <a:rPr sz="1200" b="1" i="0">
                <a:solidFill>
                  <a:srgbClr val="0E7C72"/>
                </a:solidFill>
                <a:latin typeface="Calibri"/>
              </a:rPr>
              <a:t>A   </a:t>
            </a:r>
            <a:r>
              <a:rPr sz="1200" b="0" i="0">
                <a:solidFill>
                  <a:srgbClr val="16233B"/>
                </a:solidFill>
                <a:latin typeface="Calibri"/>
              </a:rPr>
              <a:t>The Testing folder is never touched during training, feature extraction or model selection; dropout, frozen pretrained layers and an ensemble all reduce overfitting.</a:t>
            </a:r>
          </a:p>
        </p:txBody>
      </p:sp>
      <p:sp>
        <p:nvSpPr>
          <p:cNvPr id="11" name="Rounded Rectangle 10"/>
          <p:cNvSpPr/>
          <p:nvPr/>
        </p:nvSpPr>
        <p:spPr>
          <a:xfrm>
            <a:off x="749808" y="3396996"/>
            <a:ext cx="10698480" cy="76581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470148"/>
            <a:ext cx="82296" cy="61950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15868"/>
            <a:ext cx="10287000" cy="564642"/>
          </a:xfrm>
          <a:prstGeom prst="rect">
            <a:avLst/>
          </a:prstGeom>
          <a:noFill/>
        </p:spPr>
        <p:txBody>
          <a:bodyPr wrap="square" anchor="ctr" lIns="45720" rIns="45720" tIns="18288" bIns="18288">
            <a:spAutoFit/>
          </a:bodyPr>
          <a:lstStyle/>
          <a:p>
            <a:pPr algn="l">
              <a:spcAft>
                <a:spcPts val="400"/>
              </a:spcAft>
            </a:pPr>
            <a:r>
              <a:rPr sz="1300" b="1" i="0">
                <a:solidFill>
                  <a:srgbClr val="1FBFAE"/>
                </a:solidFill>
                <a:latin typeface="Calibri"/>
              </a:rPr>
              <a:t>Q  </a:t>
            </a:r>
            <a:r>
              <a:rPr sz="1350" b="1" i="0">
                <a:solidFill>
                  <a:srgbClr val="0A1A33"/>
                </a:solidFill>
                <a:latin typeface="Calibri"/>
              </a:rPr>
              <a:t>Isn't confidence-weighted voting already published?</a:t>
            </a:r>
          </a:p>
          <a:p>
            <a:pPr algn="l"/>
            <a:r>
              <a:rPr sz="1200" b="1" i="0">
                <a:solidFill>
                  <a:srgbClr val="0E7C72"/>
                </a:solidFill>
                <a:latin typeface="Calibri"/>
              </a:rPr>
              <a:t>A   </a:t>
            </a:r>
            <a:r>
              <a:rPr sz="1200" b="0" i="0">
                <a:solidFill>
                  <a:srgbClr val="16233B"/>
                </a:solidFill>
                <a:latin typeface="Calibri"/>
              </a:rPr>
              <a:t>Yes — I cite it as a known method and treat it as my baseline. The novelty is EAA-IoU; the new system is the two combined.</a:t>
            </a:r>
          </a:p>
        </p:txBody>
      </p:sp>
      <p:sp>
        <p:nvSpPr>
          <p:cNvPr id="14" name="Rounded Rectangle 13"/>
          <p:cNvSpPr/>
          <p:nvPr/>
        </p:nvSpPr>
        <p:spPr>
          <a:xfrm>
            <a:off x="749808" y="4309110"/>
            <a:ext cx="10698480" cy="76581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 y="4382262"/>
            <a:ext cx="82296" cy="61950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427982"/>
            <a:ext cx="10287000" cy="564642"/>
          </a:xfrm>
          <a:prstGeom prst="rect">
            <a:avLst/>
          </a:prstGeom>
          <a:noFill/>
        </p:spPr>
        <p:txBody>
          <a:bodyPr wrap="square" anchor="ctr" lIns="45720" rIns="45720" tIns="18288" bIns="18288">
            <a:spAutoFit/>
          </a:bodyPr>
          <a:lstStyle/>
          <a:p>
            <a:pPr algn="l">
              <a:spcAft>
                <a:spcPts val="400"/>
              </a:spcAft>
            </a:pPr>
            <a:r>
              <a:rPr sz="1300" b="1" i="0">
                <a:solidFill>
                  <a:srgbClr val="1FBFAE"/>
                </a:solidFill>
                <a:latin typeface="Calibri"/>
              </a:rPr>
              <a:t>Q  </a:t>
            </a:r>
            <a:r>
              <a:rPr sz="1350" b="1" i="0">
                <a:solidFill>
                  <a:srgbClr val="0A1A33"/>
                </a:solidFill>
                <a:latin typeface="Calibri"/>
              </a:rPr>
              <a:t>How is EAA-IoU different from existing explainable ensembles?</a:t>
            </a:r>
          </a:p>
          <a:p>
            <a:pPr algn="l"/>
            <a:r>
              <a:rPr sz="1200" b="1" i="0">
                <a:solidFill>
                  <a:srgbClr val="0E7C72"/>
                </a:solidFill>
                <a:latin typeface="Calibri"/>
              </a:rPr>
              <a:t>A   </a:t>
            </a:r>
            <a:r>
              <a:rPr sz="1200" b="0" i="0">
                <a:solidFill>
                  <a:srgbClr val="16233B"/>
                </a:solidFill>
                <a:latin typeface="Calibri"/>
              </a:rPr>
              <a:t>Existing work compares a heatmap to a radiologist's hand-drawn box (needs annotations); EAA-IoU measures whether the models agree with each other — no ground truth required.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9FC"/>
        </a:solidFill>
        <a:effectLst/>
      </p:bgPr>
    </p:bg>
    <p:spTree>
      <p:nvGrpSpPr>
        <p:cNvPr id="1" name=""/>
        <p:cNvGrpSpPr/>
        <p:nvPr/>
      </p:nvGrpSpPr>
      <p:grpSpPr/>
      <p:sp>
        <p:nvSpPr>
          <p:cNvPr id="2" name="Rectangle 1"/>
          <p:cNvSpPr/>
          <p:nvPr/>
        </p:nvSpPr>
        <p:spPr>
          <a:xfrm>
            <a:off x="502920" y="502920"/>
            <a:ext cx="128016" cy="566928"/>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38912"/>
            <a:ext cx="10789920" cy="640080"/>
          </a:xfrm>
          <a:prstGeom prst="rect">
            <a:avLst/>
          </a:prstGeom>
          <a:noFill/>
        </p:spPr>
        <p:txBody>
          <a:bodyPr wrap="square" anchor="t" lIns="45720" rIns="45720" tIns="18288" bIns="18288">
            <a:spAutoFit/>
          </a:bodyPr>
          <a:lstStyle/>
          <a:p>
            <a:pPr algn="l"/>
            <a:r>
              <a:rPr sz="3000" b="1" i="0">
                <a:solidFill>
                  <a:srgbClr val="0A1A33"/>
                </a:solidFill>
                <a:latin typeface="Cambria"/>
              </a:rPr>
              <a:t>Anticipated Questions — Rigour &amp; Scope</a:t>
            </a:r>
          </a:p>
        </p:txBody>
      </p:sp>
      <p:sp>
        <p:nvSpPr>
          <p:cNvPr id="4" name="TextBox 3"/>
          <p:cNvSpPr txBox="1"/>
          <p:nvPr/>
        </p:nvSpPr>
        <p:spPr>
          <a:xfrm>
            <a:off x="768096" y="1024128"/>
            <a:ext cx="10789920" cy="365760"/>
          </a:xfrm>
          <a:prstGeom prst="rect">
            <a:avLst/>
          </a:prstGeom>
          <a:noFill/>
        </p:spPr>
        <p:txBody>
          <a:bodyPr wrap="square" anchor="t" lIns="45720" rIns="45720" tIns="18288" bIns="18288">
            <a:spAutoFit/>
          </a:bodyPr>
          <a:lstStyle/>
          <a:p>
            <a:pPr algn="l"/>
            <a:r>
              <a:rPr sz="1500" b="0" i="1">
                <a:solidFill>
                  <a:srgbClr val="5B6B82"/>
                </a:solidFill>
                <a:latin typeface="Calibri"/>
              </a:rPr>
              <a:t>Validity, honesty and where the work goes next</a:t>
            </a:r>
          </a:p>
        </p:txBody>
      </p:sp>
      <p:sp>
        <p:nvSpPr>
          <p:cNvPr id="5" name="Rounded Rectangle 4"/>
          <p:cNvSpPr/>
          <p:nvPr/>
        </p:nvSpPr>
        <p:spPr>
          <a:xfrm>
            <a:off x="749808" y="1572768"/>
            <a:ext cx="10698480" cy="76581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1645920"/>
            <a:ext cx="82296" cy="61950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91640"/>
            <a:ext cx="10287000" cy="564642"/>
          </a:xfrm>
          <a:prstGeom prst="rect">
            <a:avLst/>
          </a:prstGeom>
          <a:noFill/>
        </p:spPr>
        <p:txBody>
          <a:bodyPr wrap="square" anchor="ctr" lIns="45720" rIns="45720" tIns="18288" bIns="18288">
            <a:spAutoFit/>
          </a:bodyPr>
          <a:lstStyle/>
          <a:p>
            <a:pPr algn="l">
              <a:spcAft>
                <a:spcPts val="400"/>
              </a:spcAft>
            </a:pPr>
            <a:r>
              <a:rPr sz="1300" b="1" i="0">
                <a:solidFill>
                  <a:srgbClr val="1FBFAE"/>
                </a:solidFill>
                <a:latin typeface="Calibri"/>
              </a:rPr>
              <a:t>Q  </a:t>
            </a:r>
            <a:r>
              <a:rPr sz="1350" b="1" i="0">
                <a:solidFill>
                  <a:srgbClr val="0A1A33"/>
                </a:solidFill>
                <a:latin typeface="Calibri"/>
              </a:rPr>
              <a:t>How do you know the models aren't all wrong together?</a:t>
            </a:r>
          </a:p>
          <a:p>
            <a:pPr algn="l"/>
            <a:r>
              <a:rPr sz="1200" b="1" i="0">
                <a:solidFill>
                  <a:srgbClr val="0E7C72"/>
                </a:solidFill>
                <a:latin typeface="Calibri"/>
              </a:rPr>
              <a:t>A   </a:t>
            </a:r>
            <a:r>
              <a:rPr sz="1200" b="0" i="0">
                <a:solidFill>
                  <a:srgbClr val="16233B"/>
                </a:solidFill>
                <a:latin typeface="Calibri"/>
              </a:rPr>
              <a:t>Diversity is designed in via three distinct architectures plus classical decision layers; EAA-IoU is a second check that flags cases where their reasoning diverges regardless of the class.</a:t>
            </a:r>
          </a:p>
        </p:txBody>
      </p:sp>
      <p:sp>
        <p:nvSpPr>
          <p:cNvPr id="8" name="Rounded Rectangle 7"/>
          <p:cNvSpPr/>
          <p:nvPr/>
        </p:nvSpPr>
        <p:spPr>
          <a:xfrm>
            <a:off x="749808" y="2484882"/>
            <a:ext cx="10698480" cy="76581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9808" y="2558034"/>
            <a:ext cx="82296" cy="61950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603754"/>
            <a:ext cx="10287000" cy="564642"/>
          </a:xfrm>
          <a:prstGeom prst="rect">
            <a:avLst/>
          </a:prstGeom>
          <a:noFill/>
        </p:spPr>
        <p:txBody>
          <a:bodyPr wrap="square" anchor="ctr" lIns="45720" rIns="45720" tIns="18288" bIns="18288">
            <a:spAutoFit/>
          </a:bodyPr>
          <a:lstStyle/>
          <a:p>
            <a:pPr algn="l">
              <a:spcAft>
                <a:spcPts val="400"/>
              </a:spcAft>
            </a:pPr>
            <a:r>
              <a:rPr sz="1300" b="1" i="0">
                <a:solidFill>
                  <a:srgbClr val="1FBFAE"/>
                </a:solidFill>
                <a:latin typeface="Calibri"/>
              </a:rPr>
              <a:t>Q  </a:t>
            </a:r>
            <a:r>
              <a:rPr sz="1350" b="1" i="0">
                <a:solidFill>
                  <a:srgbClr val="0A1A33"/>
                </a:solidFill>
                <a:latin typeface="Calibri"/>
              </a:rPr>
              <a:t>The notebooks have a normalisation inconsistency — explain.</a:t>
            </a:r>
          </a:p>
          <a:p>
            <a:pPr algn="l"/>
            <a:r>
              <a:rPr sz="1200" b="1" i="0">
                <a:solidFill>
                  <a:srgbClr val="0E7C72"/>
                </a:solidFill>
                <a:latin typeface="Calibri"/>
              </a:rPr>
              <a:t>A   </a:t>
            </a:r>
            <a:r>
              <a:rPr sz="1200" b="0" i="0">
                <a:solidFill>
                  <a:srgbClr val="16233B"/>
                </a:solidFill>
                <a:latin typeface="Calibri"/>
              </a:rPr>
              <a:t>Correct and documented: standalone models use /255, backbones used /255-0.5; the deployed app standardises everything to /255 so the live system is fully consistent.</a:t>
            </a:r>
          </a:p>
        </p:txBody>
      </p:sp>
      <p:sp>
        <p:nvSpPr>
          <p:cNvPr id="11" name="Rounded Rectangle 10"/>
          <p:cNvSpPr/>
          <p:nvPr/>
        </p:nvSpPr>
        <p:spPr>
          <a:xfrm>
            <a:off x="749808" y="3396996"/>
            <a:ext cx="10698480" cy="76581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470148"/>
            <a:ext cx="82296" cy="61950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515868"/>
            <a:ext cx="10287000" cy="564642"/>
          </a:xfrm>
          <a:prstGeom prst="rect">
            <a:avLst/>
          </a:prstGeom>
          <a:noFill/>
        </p:spPr>
        <p:txBody>
          <a:bodyPr wrap="square" anchor="ctr" lIns="45720" rIns="45720" tIns="18288" bIns="18288">
            <a:spAutoFit/>
          </a:bodyPr>
          <a:lstStyle/>
          <a:p>
            <a:pPr algn="l">
              <a:spcAft>
                <a:spcPts val="400"/>
              </a:spcAft>
            </a:pPr>
            <a:r>
              <a:rPr sz="1300" b="1" i="0">
                <a:solidFill>
                  <a:srgbClr val="1FBFAE"/>
                </a:solidFill>
                <a:latin typeface="Calibri"/>
              </a:rPr>
              <a:t>Q  </a:t>
            </a:r>
            <a:r>
              <a:rPr sz="1350" b="1" i="0">
                <a:solidFill>
                  <a:srgbClr val="0A1A33"/>
                </a:solidFill>
                <a:latin typeface="Calibri"/>
              </a:rPr>
              <a:t>What is the single biggest limitation?</a:t>
            </a:r>
          </a:p>
          <a:p>
            <a:pPr algn="l"/>
            <a:r>
              <a:rPr sz="1200" b="1" i="0">
                <a:solidFill>
                  <a:srgbClr val="0E7C72"/>
                </a:solidFill>
                <a:latin typeface="Calibri"/>
              </a:rPr>
              <a:t>A   </a:t>
            </a:r>
            <a:r>
              <a:rPr sz="1200" b="0" i="0">
                <a:solidFill>
                  <a:srgbClr val="16233B"/>
                </a:solidFill>
                <a:latin typeface="Calibri"/>
              </a:rPr>
              <a:t>One dataset — so scanner and demographic diversity is limited; broader multi-centre data is the priority for external validity.</a:t>
            </a:r>
          </a:p>
        </p:txBody>
      </p:sp>
      <p:sp>
        <p:nvSpPr>
          <p:cNvPr id="14" name="Rounded Rectangle 13"/>
          <p:cNvSpPr/>
          <p:nvPr/>
        </p:nvSpPr>
        <p:spPr>
          <a:xfrm>
            <a:off x="749808" y="4309110"/>
            <a:ext cx="10698480" cy="76581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8" y="4382262"/>
            <a:ext cx="82296" cy="619506"/>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427982"/>
            <a:ext cx="10287000" cy="564642"/>
          </a:xfrm>
          <a:prstGeom prst="rect">
            <a:avLst/>
          </a:prstGeom>
          <a:noFill/>
        </p:spPr>
        <p:txBody>
          <a:bodyPr wrap="square" anchor="ctr" lIns="45720" rIns="45720" tIns="18288" bIns="18288">
            <a:spAutoFit/>
          </a:bodyPr>
          <a:lstStyle/>
          <a:p>
            <a:pPr algn="l">
              <a:spcAft>
                <a:spcPts val="400"/>
              </a:spcAft>
            </a:pPr>
            <a:r>
              <a:rPr sz="1300" b="1" i="0">
                <a:solidFill>
                  <a:srgbClr val="1FBFAE"/>
                </a:solidFill>
                <a:latin typeface="Calibri"/>
              </a:rPr>
              <a:t>Q  </a:t>
            </a:r>
            <a:r>
              <a:rPr sz="1350" b="1" i="0">
                <a:solidFill>
                  <a:srgbClr val="0A1A33"/>
                </a:solidFill>
                <a:latin typeface="Calibri"/>
              </a:rPr>
              <a:t>What is the future work beyond this proposal?</a:t>
            </a:r>
          </a:p>
          <a:p>
            <a:pPr algn="l"/>
            <a:r>
              <a:rPr sz="1200" b="1" i="0">
                <a:solidFill>
                  <a:srgbClr val="0E7C72"/>
                </a:solidFill>
                <a:latin typeface="Calibri"/>
              </a:rPr>
              <a:t>A   </a:t>
            </a:r>
            <a:r>
              <a:rPr sz="1200" b="0" i="0">
                <a:solidFill>
                  <a:srgbClr val="16233B"/>
                </a:solidFill>
                <a:latin typeface="Calibri"/>
              </a:rPr>
              <a:t>Validate EAA-IoU as a prospective safety trigger, add stacking/boosting ensembles, data augmentation, and multi-centre datasets for clinical generalisation.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9FC"/>
        </a:solidFill>
        <a:effectLst/>
      </p:bgPr>
    </p:bg>
    <p:spTree>
      <p:nvGrpSpPr>
        <p:cNvPr id="1" name=""/>
        <p:cNvGrpSpPr/>
        <p:nvPr/>
      </p:nvGrpSpPr>
      <p:grpSpPr/>
      <p:sp>
        <p:nvSpPr>
          <p:cNvPr id="2" name="Rectangle 1"/>
          <p:cNvSpPr/>
          <p:nvPr/>
        </p:nvSpPr>
        <p:spPr>
          <a:xfrm>
            <a:off x="502920" y="502920"/>
            <a:ext cx="128016" cy="566928"/>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38912"/>
            <a:ext cx="10881360" cy="640080"/>
          </a:xfrm>
          <a:prstGeom prst="rect">
            <a:avLst/>
          </a:prstGeom>
          <a:noFill/>
        </p:spPr>
        <p:txBody>
          <a:bodyPr wrap="square" anchor="t" lIns="27432" rIns="27432" tIns="27432" bIns="27432">
            <a:spAutoFit/>
          </a:bodyPr>
          <a:lstStyle/>
          <a:p>
            <a:pPr algn="l"/>
            <a:r>
              <a:rPr sz="3000" b="1" i="0">
                <a:solidFill>
                  <a:srgbClr val="0A1A33"/>
                </a:solidFill>
                <a:latin typeface="Cambria"/>
              </a:rPr>
              <a:t>Where This Fits - and the Gap It Fills</a:t>
            </a:r>
          </a:p>
        </p:txBody>
      </p:sp>
      <p:sp>
        <p:nvSpPr>
          <p:cNvPr id="4" name="TextBox 3"/>
          <p:cNvSpPr txBox="1"/>
          <p:nvPr/>
        </p:nvSpPr>
        <p:spPr>
          <a:xfrm>
            <a:off x="768096" y="1024128"/>
            <a:ext cx="10881360" cy="365760"/>
          </a:xfrm>
          <a:prstGeom prst="rect">
            <a:avLst/>
          </a:prstGeom>
          <a:noFill/>
        </p:spPr>
        <p:txBody>
          <a:bodyPr wrap="square" anchor="t" lIns="27432" rIns="27432" tIns="27432" bIns="27432">
            <a:spAutoFit/>
          </a:bodyPr>
          <a:lstStyle/>
          <a:p>
            <a:pPr algn="l"/>
            <a:r>
              <a:rPr sz="1500" b="0" i="1">
                <a:solidFill>
                  <a:srgbClr val="5B6B82"/>
                </a:solidFill>
                <a:latin typeface="Calibri"/>
              </a:rPr>
              <a:t>Positioning against the closest published ensemble + explainability work</a:t>
            </a:r>
          </a:p>
        </p:txBody>
      </p:sp>
      <p:graphicFrame>
        <p:nvGraphicFramePr>
          <p:cNvPr id="5" name="Table 4"/>
          <p:cNvGraphicFramePr>
            <a:graphicFrameLocks noGrp="1"/>
          </p:cNvGraphicFramePr>
          <p:nvPr/>
        </p:nvGraphicFramePr>
        <p:xfrm>
          <a:off x="749808" y="1627632"/>
          <a:ext cx="10698480" cy="2697480"/>
        </p:xfrm>
        <a:graphic>
          <a:graphicData uri="http://schemas.openxmlformats.org/drawingml/2006/table">
            <a:tbl>
              <a:tblPr>
                <a:tableStyleId>{5C22544A-7EE6-4342-B048-85BDC9FD1C3A}</a:tableStyleId>
              </a:tblPr>
              <a:tblGrid>
                <a:gridCol w="3657600"/>
                <a:gridCol w="1965960"/>
                <a:gridCol w="2148840"/>
                <a:gridCol w="1554480"/>
                <a:gridCol w="1371600"/>
              </a:tblGrid>
              <a:tr h="449580">
                <a:tc>
                  <a:txBody>
                    <a:bodyPr wrap="square"/>
                    <a:lstStyle/>
                    <a:p>
                      <a:pPr algn="l"/>
                      <a:r>
                        <a:rPr sz="1150" b="1" i="0">
                          <a:solidFill>
                            <a:srgbClr val="FFFFFF"/>
                          </a:solidFill>
                          <a:latin typeface="Calibri"/>
                        </a:rPr>
                        <a:t>Study</a:t>
                      </a:r>
                    </a:p>
                  </a:txBody>
                  <a:tcPr anchor="ctr" marL="45720" marR="45720" marT="45720" marB="45720">
                    <a:solidFill>
                      <a:srgbClr val="0A1A33"/>
                    </a:solidFill>
                  </a:tcPr>
                </a:tc>
                <a:tc>
                  <a:txBody>
                    <a:bodyPr wrap="square"/>
                    <a:lstStyle/>
                    <a:p>
                      <a:pPr algn="ctr"/>
                      <a:r>
                        <a:rPr sz="1150" b="1" i="0">
                          <a:solidFill>
                            <a:srgbClr val="FFFFFF"/>
                          </a:solidFill>
                          <a:latin typeface="Calibri"/>
                        </a:rPr>
                        <a:t>Voting</a:t>
                      </a:r>
                    </a:p>
                  </a:txBody>
                  <a:tcPr anchor="ctr" marL="45720" marR="45720" marT="45720" marB="45720">
                    <a:solidFill>
                      <a:srgbClr val="0A1A33"/>
                    </a:solidFill>
                  </a:tcPr>
                </a:tc>
                <a:tc>
                  <a:txBody>
                    <a:bodyPr wrap="square"/>
                    <a:lstStyle/>
                    <a:p>
                      <a:pPr algn="ctr"/>
                      <a:r>
                        <a:rPr sz="1150" b="1" i="0">
                          <a:solidFill>
                            <a:srgbClr val="FFFFFF"/>
                          </a:solidFill>
                          <a:latin typeface="Calibri"/>
                        </a:rPr>
                        <a:t>Per-model Grad-CAM</a:t>
                      </a:r>
                    </a:p>
                  </a:txBody>
                  <a:tcPr anchor="ctr" marL="45720" marR="45720" marT="45720" marB="45720">
                    <a:solidFill>
                      <a:srgbClr val="0A1A33"/>
                    </a:solidFill>
                  </a:tcPr>
                </a:tc>
                <a:tc>
                  <a:txBody>
                    <a:bodyPr wrap="square"/>
                    <a:lstStyle/>
                    <a:p>
                      <a:pPr algn="ctr"/>
                      <a:r>
                        <a:rPr sz="1150" b="1" i="0">
                          <a:solidFill>
                            <a:srgbClr val="FFFFFF"/>
                          </a:solidFill>
                          <a:latin typeface="Calibri"/>
                        </a:rPr>
                        <a:t>Heatmap Fusion</a:t>
                      </a:r>
                    </a:p>
                  </a:txBody>
                  <a:tcPr anchor="ctr" marL="45720" marR="45720" marT="45720" marB="45720">
                    <a:solidFill>
                      <a:srgbClr val="0A1A33"/>
                    </a:solidFill>
                  </a:tcPr>
                </a:tc>
                <a:tc>
                  <a:txBody>
                    <a:bodyPr wrap="square"/>
                    <a:lstStyle/>
                    <a:p>
                      <a:pPr algn="ctr"/>
                      <a:r>
                        <a:rPr sz="1150" b="1" i="0">
                          <a:solidFill>
                            <a:srgbClr val="FFFFFF"/>
                          </a:solidFill>
                          <a:latin typeface="Calibri"/>
                        </a:rPr>
                        <a:t>Inter-model IoU</a:t>
                      </a:r>
                    </a:p>
                  </a:txBody>
                  <a:tcPr anchor="ctr" marL="45720" marR="45720" marT="45720" marB="45720">
                    <a:solidFill>
                      <a:srgbClr val="0A1A33"/>
                    </a:solidFill>
                  </a:tcPr>
                </a:tc>
              </a:tr>
              <a:tr h="449580">
                <a:tc>
                  <a:txBody>
                    <a:bodyPr wrap="square"/>
                    <a:lstStyle/>
                    <a:p>
                      <a:pPr algn="l"/>
                      <a:r>
                        <a:rPr sz="1050" b="0" i="0">
                          <a:solidFill>
                            <a:srgbClr val="16233B"/>
                          </a:solidFill>
                          <a:latin typeface="Calibri"/>
                        </a:rPr>
                        <a:t>Kakon et al., Cancers 2025</a:t>
                      </a:r>
                    </a:p>
                  </a:txBody>
                  <a:tcPr anchor="ctr" marL="45720" marR="45720" marT="45720" marB="45720">
                    <a:solidFill>
                      <a:srgbClr val="FFFFFF"/>
                    </a:solidFill>
                  </a:tcPr>
                </a:tc>
                <a:tc>
                  <a:txBody>
                    <a:bodyPr wrap="square"/>
                    <a:lstStyle/>
                    <a:p>
                      <a:pPr algn="ctr"/>
                      <a:r>
                        <a:rPr sz="1050" b="0" i="0">
                          <a:solidFill>
                            <a:srgbClr val="16233B"/>
                          </a:solidFill>
                          <a:latin typeface="Calibri"/>
                        </a:rPr>
                        <a:t>Soft + LightGBM</a:t>
                      </a:r>
                    </a:p>
                  </a:txBody>
                  <a:tcPr anchor="ctr" marL="45720" marR="45720" marT="45720" marB="45720">
                    <a:solidFill>
                      <a:srgbClr val="FFFFFF"/>
                    </a:solidFill>
                  </a:tcPr>
                </a:tc>
                <a:tc>
                  <a:txBody>
                    <a:bodyPr wrap="square"/>
                    <a:lstStyle/>
                    <a:p>
                      <a:pPr algn="ctr"/>
                      <a:r>
                        <a:rPr sz="1050" b="1" i="0">
                          <a:solidFill>
                            <a:srgbClr val="0E7C72"/>
                          </a:solidFill>
                          <a:latin typeface="Calibri"/>
                        </a:rPr>
                        <a:t>✓ </a:t>
                      </a:r>
                      <a:r>
                        <a:rPr sz="1050" b="0" i="0">
                          <a:solidFill>
                            <a:srgbClr val="16233B"/>
                          </a:solidFill>
                          <a:latin typeface="Calibri"/>
                        </a:rPr>
                        <a:t>Grad-CAM++</a:t>
                      </a:r>
                    </a:p>
                  </a:txBody>
                  <a:tcPr anchor="ctr" marL="45720" marR="45720" marT="45720" marB="45720">
                    <a:solidFill>
                      <a:srgbClr val="FFFFFF"/>
                    </a:solidFill>
                  </a:tcPr>
                </a:tc>
                <a:tc>
                  <a:txBody>
                    <a:bodyPr wrap="square"/>
                    <a:lstStyle/>
                    <a:p>
                      <a:pPr algn="ctr"/>
                      <a:r>
                        <a:rPr sz="1050" b="1" i="0">
                          <a:solidFill>
                            <a:srgbClr val="9AA7B5"/>
                          </a:solidFill>
                          <a:latin typeface="Calibri"/>
                        </a:rPr>
                        <a:t>✗</a:t>
                      </a:r>
                      <a:r>
                        <a:rPr sz="1050" b="0" i="0">
                          <a:solidFill>
                            <a:srgbClr val="16233B"/>
                          </a:solidFill>
                          <a:latin typeface="Calibri"/>
                        </a:rPr>
                        <a:t/>
                      </a:r>
                    </a:p>
                  </a:txBody>
                  <a:tcPr anchor="ctr" marL="45720" marR="45720" marT="45720" marB="45720">
                    <a:solidFill>
                      <a:srgbClr val="FFFFFF"/>
                    </a:solidFill>
                  </a:tcPr>
                </a:tc>
                <a:tc>
                  <a:txBody>
                    <a:bodyPr wrap="square"/>
                    <a:lstStyle/>
                    <a:p>
                      <a:pPr algn="ctr"/>
                      <a:r>
                        <a:rPr sz="1050" b="1" i="0">
                          <a:solidFill>
                            <a:srgbClr val="9AA7B5"/>
                          </a:solidFill>
                          <a:latin typeface="Calibri"/>
                        </a:rPr>
                        <a:t>✗</a:t>
                      </a:r>
                      <a:r>
                        <a:rPr sz="1050" b="0" i="0">
                          <a:solidFill>
                            <a:srgbClr val="16233B"/>
                          </a:solidFill>
                          <a:latin typeface="Calibri"/>
                        </a:rPr>
                        <a:t/>
                      </a:r>
                    </a:p>
                  </a:txBody>
                  <a:tcPr anchor="ctr" marL="45720" marR="45720" marT="45720" marB="45720">
                    <a:solidFill>
                      <a:srgbClr val="FFFFFF"/>
                    </a:solidFill>
                  </a:tcPr>
                </a:tc>
              </a:tr>
              <a:tr h="449580">
                <a:tc>
                  <a:txBody>
                    <a:bodyPr wrap="square"/>
                    <a:lstStyle/>
                    <a:p>
                      <a:pPr algn="l"/>
                      <a:r>
                        <a:rPr sz="1050" b="0" i="0">
                          <a:solidFill>
                            <a:srgbClr val="16233B"/>
                          </a:solidFill>
                          <a:latin typeface="Calibri"/>
                        </a:rPr>
                        <a:t>Comput. Biol. Med. 2025</a:t>
                      </a:r>
                    </a:p>
                  </a:txBody>
                  <a:tcPr anchor="ctr" marL="45720" marR="45720" marT="45720" marB="45720">
                    <a:solidFill>
                      <a:srgbClr val="FFFFFF"/>
                    </a:solidFill>
                  </a:tcPr>
                </a:tc>
                <a:tc>
                  <a:txBody>
                    <a:bodyPr wrap="square"/>
                    <a:lstStyle/>
                    <a:p>
                      <a:pPr algn="ctr"/>
                      <a:r>
                        <a:rPr sz="1050" b="0" i="0">
                          <a:solidFill>
                            <a:srgbClr val="16233B"/>
                          </a:solidFill>
                          <a:latin typeface="Calibri"/>
                        </a:rPr>
                        <a:t>Soft vote</a:t>
                      </a:r>
                    </a:p>
                  </a:txBody>
                  <a:tcPr anchor="ctr" marL="45720" marR="45720" marT="45720" marB="45720">
                    <a:solidFill>
                      <a:srgbClr val="FFFFFF"/>
                    </a:solidFill>
                  </a:tcPr>
                </a:tc>
                <a:tc>
                  <a:txBody>
                    <a:bodyPr wrap="square"/>
                    <a:lstStyle/>
                    <a:p>
                      <a:pPr algn="ctr"/>
                      <a:r>
                        <a:rPr sz="1050" b="1" i="0">
                          <a:solidFill>
                            <a:srgbClr val="0E7C72"/>
                          </a:solidFill>
                          <a:latin typeface="Calibri"/>
                        </a:rPr>
                        <a:t>✓ </a:t>
                      </a:r>
                      <a:r>
                        <a:rPr sz="1050" b="0" i="0">
                          <a:solidFill>
                            <a:srgbClr val="16233B"/>
                          </a:solidFill>
                          <a:latin typeface="Calibri"/>
                        </a:rPr>
                        <a:t/>
                      </a:r>
                    </a:p>
                  </a:txBody>
                  <a:tcPr anchor="ctr" marL="45720" marR="45720" marT="45720" marB="45720">
                    <a:solidFill>
                      <a:srgbClr val="FFFFFF"/>
                    </a:solidFill>
                  </a:tcPr>
                </a:tc>
                <a:tc>
                  <a:txBody>
                    <a:bodyPr wrap="square"/>
                    <a:lstStyle/>
                    <a:p>
                      <a:pPr algn="ctr"/>
                      <a:r>
                        <a:rPr sz="1050" b="1" i="0">
                          <a:solidFill>
                            <a:srgbClr val="9AA7B5"/>
                          </a:solidFill>
                          <a:latin typeface="Calibri"/>
                        </a:rPr>
                        <a:t>✗</a:t>
                      </a:r>
                      <a:r>
                        <a:rPr sz="1050" b="0" i="0">
                          <a:solidFill>
                            <a:srgbClr val="16233B"/>
                          </a:solidFill>
                          <a:latin typeface="Calibri"/>
                        </a:rPr>
                        <a:t/>
                      </a:r>
                    </a:p>
                  </a:txBody>
                  <a:tcPr anchor="ctr" marL="45720" marR="45720" marT="45720" marB="45720">
                    <a:solidFill>
                      <a:srgbClr val="FFFFFF"/>
                    </a:solidFill>
                  </a:tcPr>
                </a:tc>
                <a:tc>
                  <a:txBody>
                    <a:bodyPr wrap="square"/>
                    <a:lstStyle/>
                    <a:p>
                      <a:pPr algn="ctr"/>
                      <a:r>
                        <a:rPr sz="1050" b="0" i="0">
                          <a:solidFill>
                            <a:srgbClr val="16233B"/>
                          </a:solidFill>
                          <a:latin typeface="Calibri"/>
                        </a:rPr>
                        <a:t>vs annotation only</a:t>
                      </a:r>
                    </a:p>
                  </a:txBody>
                  <a:tcPr anchor="ctr" marL="45720" marR="45720" marT="45720" marB="45720">
                    <a:solidFill>
                      <a:srgbClr val="FFFFFF"/>
                    </a:solidFill>
                  </a:tcPr>
                </a:tc>
              </a:tr>
              <a:tr h="449580">
                <a:tc>
                  <a:txBody>
                    <a:bodyPr wrap="square"/>
                    <a:lstStyle/>
                    <a:p>
                      <a:pPr algn="l"/>
                      <a:r>
                        <a:rPr sz="1050" b="0" i="0">
                          <a:solidFill>
                            <a:srgbClr val="16233B"/>
                          </a:solidFill>
                          <a:latin typeface="Calibri"/>
                        </a:rPr>
                        <a:t>Adaptive Ensemble, Sci. Rep. 2025</a:t>
                      </a:r>
                    </a:p>
                  </a:txBody>
                  <a:tcPr anchor="ctr" marL="45720" marR="45720" marT="45720" marB="45720">
                    <a:solidFill>
                      <a:srgbClr val="FFFFFF"/>
                    </a:solidFill>
                  </a:tcPr>
                </a:tc>
                <a:tc>
                  <a:txBody>
                    <a:bodyPr wrap="square"/>
                    <a:lstStyle/>
                    <a:p>
                      <a:pPr algn="ctr"/>
                      <a:r>
                        <a:rPr sz="1050" b="0" i="0">
                          <a:solidFill>
                            <a:srgbClr val="16233B"/>
                          </a:solidFill>
                          <a:latin typeface="Calibri"/>
                        </a:rPr>
                        <a:t>Adaptive weights</a:t>
                      </a:r>
                    </a:p>
                  </a:txBody>
                  <a:tcPr anchor="ctr" marL="45720" marR="45720" marT="45720" marB="45720">
                    <a:solidFill>
                      <a:srgbClr val="FFFFFF"/>
                    </a:solidFill>
                  </a:tcPr>
                </a:tc>
                <a:tc>
                  <a:txBody>
                    <a:bodyPr wrap="square"/>
                    <a:lstStyle/>
                    <a:p>
                      <a:pPr algn="ctr"/>
                      <a:r>
                        <a:rPr sz="1050" b="1" i="0">
                          <a:solidFill>
                            <a:srgbClr val="0E7C72"/>
                          </a:solidFill>
                          <a:latin typeface="Calibri"/>
                        </a:rPr>
                        <a:t>✓ </a:t>
                      </a:r>
                      <a:r>
                        <a:rPr sz="1050" b="0" i="0">
                          <a:solidFill>
                            <a:srgbClr val="16233B"/>
                          </a:solidFill>
                          <a:latin typeface="Calibri"/>
                        </a:rPr>
                        <a:t> +SHAP/LIME</a:t>
                      </a:r>
                    </a:p>
                  </a:txBody>
                  <a:tcPr anchor="ctr" marL="45720" marR="45720" marT="45720" marB="45720">
                    <a:solidFill>
                      <a:srgbClr val="FFFFFF"/>
                    </a:solidFill>
                  </a:tcPr>
                </a:tc>
                <a:tc>
                  <a:txBody>
                    <a:bodyPr wrap="square"/>
                    <a:lstStyle/>
                    <a:p>
                      <a:pPr algn="ctr"/>
                      <a:r>
                        <a:rPr sz="1050" b="1" i="0">
                          <a:solidFill>
                            <a:srgbClr val="9AA7B5"/>
                          </a:solidFill>
                          <a:latin typeface="Calibri"/>
                        </a:rPr>
                        <a:t>✗</a:t>
                      </a:r>
                      <a:r>
                        <a:rPr sz="1050" b="0" i="0">
                          <a:solidFill>
                            <a:srgbClr val="16233B"/>
                          </a:solidFill>
                          <a:latin typeface="Calibri"/>
                        </a:rPr>
                        <a:t/>
                      </a:r>
                    </a:p>
                  </a:txBody>
                  <a:tcPr anchor="ctr" marL="45720" marR="45720" marT="45720" marB="45720">
                    <a:solidFill>
                      <a:srgbClr val="FFFFFF"/>
                    </a:solidFill>
                  </a:tcPr>
                </a:tc>
                <a:tc>
                  <a:txBody>
                    <a:bodyPr wrap="square"/>
                    <a:lstStyle/>
                    <a:p>
                      <a:pPr algn="ctr"/>
                      <a:r>
                        <a:rPr sz="1050" b="1" i="0">
                          <a:solidFill>
                            <a:srgbClr val="9AA7B5"/>
                          </a:solidFill>
                          <a:latin typeface="Calibri"/>
                        </a:rPr>
                        <a:t>✗</a:t>
                      </a:r>
                      <a:r>
                        <a:rPr sz="1050" b="0" i="0">
                          <a:solidFill>
                            <a:srgbClr val="16233B"/>
                          </a:solidFill>
                          <a:latin typeface="Calibri"/>
                        </a:rPr>
                        <a:t/>
                      </a:r>
                    </a:p>
                  </a:txBody>
                  <a:tcPr anchor="ctr" marL="45720" marR="45720" marT="45720" marB="45720">
                    <a:solidFill>
                      <a:srgbClr val="FFFFFF"/>
                    </a:solidFill>
                  </a:tcPr>
                </a:tc>
              </a:tr>
              <a:tr h="449580">
                <a:tc>
                  <a:txBody>
                    <a:bodyPr wrap="square"/>
                    <a:lstStyle/>
                    <a:p>
                      <a:pPr algn="l"/>
                      <a:r>
                        <a:rPr sz="1050" b="0" i="0">
                          <a:solidFill>
                            <a:srgbClr val="16233B"/>
                          </a:solidFill>
                          <a:latin typeface="Calibri"/>
                        </a:rPr>
                        <a:t>Two-step Majority Vote, 2025</a:t>
                      </a:r>
                    </a:p>
                  </a:txBody>
                  <a:tcPr anchor="ctr" marL="45720" marR="45720" marT="45720" marB="45720">
                    <a:solidFill>
                      <a:srgbClr val="FFFFFF"/>
                    </a:solidFill>
                  </a:tcPr>
                </a:tc>
                <a:tc>
                  <a:txBody>
                    <a:bodyPr wrap="square"/>
                    <a:lstStyle/>
                    <a:p>
                      <a:pPr algn="ctr"/>
                      <a:r>
                        <a:rPr sz="1050" b="0" i="0">
                          <a:solidFill>
                            <a:srgbClr val="16233B"/>
                          </a:solidFill>
                          <a:latin typeface="Calibri"/>
                        </a:rPr>
                        <a:t>Majority vote</a:t>
                      </a:r>
                    </a:p>
                  </a:txBody>
                  <a:tcPr anchor="ctr" marL="45720" marR="45720" marT="45720" marB="45720">
                    <a:solidFill>
                      <a:srgbClr val="FFFFFF"/>
                    </a:solidFill>
                  </a:tcPr>
                </a:tc>
                <a:tc>
                  <a:txBody>
                    <a:bodyPr wrap="square"/>
                    <a:lstStyle/>
                    <a:p>
                      <a:pPr algn="ctr"/>
                      <a:r>
                        <a:rPr sz="1050" b="1" i="0">
                          <a:solidFill>
                            <a:srgbClr val="0E7C72"/>
                          </a:solidFill>
                          <a:latin typeface="Calibri"/>
                        </a:rPr>
                        <a:t>✓ </a:t>
                      </a:r>
                      <a:r>
                        <a:rPr sz="1050" b="0" i="0">
                          <a:solidFill>
                            <a:srgbClr val="16233B"/>
                          </a:solidFill>
                          <a:latin typeface="Calibri"/>
                        </a:rPr>
                        <a:t> +LIME</a:t>
                      </a:r>
                    </a:p>
                  </a:txBody>
                  <a:tcPr anchor="ctr" marL="45720" marR="45720" marT="45720" marB="45720">
                    <a:solidFill>
                      <a:srgbClr val="FFFFFF"/>
                    </a:solidFill>
                  </a:tcPr>
                </a:tc>
                <a:tc>
                  <a:txBody>
                    <a:bodyPr wrap="square"/>
                    <a:lstStyle/>
                    <a:p>
                      <a:pPr algn="ctr"/>
                      <a:r>
                        <a:rPr sz="1050" b="1" i="0">
                          <a:solidFill>
                            <a:srgbClr val="9AA7B5"/>
                          </a:solidFill>
                          <a:latin typeface="Calibri"/>
                        </a:rPr>
                        <a:t>✗</a:t>
                      </a:r>
                      <a:r>
                        <a:rPr sz="1050" b="0" i="0">
                          <a:solidFill>
                            <a:srgbClr val="16233B"/>
                          </a:solidFill>
                          <a:latin typeface="Calibri"/>
                        </a:rPr>
                        <a:t/>
                      </a:r>
                    </a:p>
                  </a:txBody>
                  <a:tcPr anchor="ctr" marL="45720" marR="45720" marT="45720" marB="45720">
                    <a:solidFill>
                      <a:srgbClr val="FFFFFF"/>
                    </a:solidFill>
                  </a:tcPr>
                </a:tc>
                <a:tc>
                  <a:txBody>
                    <a:bodyPr wrap="square"/>
                    <a:lstStyle/>
                    <a:p>
                      <a:pPr algn="ctr"/>
                      <a:r>
                        <a:rPr sz="1050" b="1" i="0">
                          <a:solidFill>
                            <a:srgbClr val="9AA7B5"/>
                          </a:solidFill>
                          <a:latin typeface="Calibri"/>
                        </a:rPr>
                        <a:t>✗</a:t>
                      </a:r>
                      <a:r>
                        <a:rPr sz="1050" b="0" i="0">
                          <a:solidFill>
                            <a:srgbClr val="16233B"/>
                          </a:solidFill>
                          <a:latin typeface="Calibri"/>
                        </a:rPr>
                        <a:t/>
                      </a:r>
                    </a:p>
                  </a:txBody>
                  <a:tcPr anchor="ctr" marL="45720" marR="45720" marT="45720" marB="45720">
                    <a:solidFill>
                      <a:srgbClr val="FFFFFF"/>
                    </a:solidFill>
                  </a:tcPr>
                </a:tc>
              </a:tr>
              <a:tr h="449580">
                <a:tc>
                  <a:txBody>
                    <a:bodyPr wrap="square"/>
                    <a:lstStyle/>
                    <a:p>
                      <a:pPr algn="l"/>
                      <a:r>
                        <a:rPr sz="1050" b="1" i="0">
                          <a:solidFill>
                            <a:srgbClr val="0A1A33"/>
                          </a:solidFill>
                          <a:latin typeface="Calibri"/>
                        </a:rPr>
                        <a:t>THIS WORK</a:t>
                      </a:r>
                    </a:p>
                  </a:txBody>
                  <a:tcPr anchor="ctr" marL="45720" marR="45720" marT="45720" marB="45720">
                    <a:solidFill>
                      <a:srgbClr val="F0FBFA"/>
                    </a:solidFill>
                  </a:tcPr>
                </a:tc>
                <a:tc>
                  <a:txBody>
                    <a:bodyPr wrap="square"/>
                    <a:lstStyle/>
                    <a:p>
                      <a:pPr algn="ctr"/>
                      <a:r>
                        <a:rPr sz="1050" b="1" i="0">
                          <a:solidFill>
                            <a:srgbClr val="0A1A33"/>
                          </a:solidFill>
                          <a:latin typeface="Calibri"/>
                        </a:rPr>
                        <a:t>Confidence-weighted</a:t>
                      </a:r>
                    </a:p>
                  </a:txBody>
                  <a:tcPr anchor="ctr" marL="45720" marR="45720" marT="45720" marB="45720">
                    <a:solidFill>
                      <a:srgbClr val="F0FBFA"/>
                    </a:solidFill>
                  </a:tcPr>
                </a:tc>
                <a:tc>
                  <a:txBody>
                    <a:bodyPr wrap="square"/>
                    <a:lstStyle/>
                    <a:p>
                      <a:pPr algn="ctr"/>
                      <a:r>
                        <a:rPr sz="1050" b="1" i="0">
                          <a:solidFill>
                            <a:srgbClr val="0E7C72"/>
                          </a:solidFill>
                          <a:latin typeface="Calibri"/>
                        </a:rPr>
                        <a:t>✓ </a:t>
                      </a:r>
                      <a:r>
                        <a:rPr sz="1050" b="1" i="0">
                          <a:solidFill>
                            <a:srgbClr val="0A1A33"/>
                          </a:solidFill>
                          <a:latin typeface="Calibri"/>
                        </a:rPr>
                        <a:t/>
                      </a:r>
                    </a:p>
                  </a:txBody>
                  <a:tcPr anchor="ctr" marL="45720" marR="45720" marT="45720" marB="45720">
                    <a:solidFill>
                      <a:srgbClr val="F0FBFA"/>
                    </a:solidFill>
                  </a:tcPr>
                </a:tc>
                <a:tc>
                  <a:txBody>
                    <a:bodyPr wrap="square"/>
                    <a:lstStyle/>
                    <a:p>
                      <a:pPr algn="ctr"/>
                      <a:r>
                        <a:rPr sz="1050" b="1" i="0">
                          <a:solidFill>
                            <a:srgbClr val="0E7C72"/>
                          </a:solidFill>
                          <a:latin typeface="Calibri"/>
                        </a:rPr>
                        <a:t>✓ </a:t>
                      </a:r>
                      <a:r>
                        <a:rPr sz="1050" b="1" i="0">
                          <a:solidFill>
                            <a:srgbClr val="0A1A33"/>
                          </a:solidFill>
                          <a:latin typeface="Calibri"/>
                        </a:rPr>
                        <a:t> weighted avg</a:t>
                      </a:r>
                    </a:p>
                  </a:txBody>
                  <a:tcPr anchor="ctr" marL="45720" marR="45720" marT="45720" marB="45720">
                    <a:solidFill>
                      <a:srgbClr val="F0FBFA"/>
                    </a:solidFill>
                  </a:tcPr>
                </a:tc>
                <a:tc>
                  <a:txBody>
                    <a:bodyPr wrap="square"/>
                    <a:lstStyle/>
                    <a:p>
                      <a:pPr algn="ctr"/>
                      <a:r>
                        <a:rPr sz="1050" b="1" i="0">
                          <a:solidFill>
                            <a:srgbClr val="0E7C72"/>
                          </a:solidFill>
                          <a:latin typeface="Calibri"/>
                        </a:rPr>
                        <a:t>✓ </a:t>
                      </a:r>
                      <a:r>
                        <a:rPr sz="1050" b="1" i="0">
                          <a:solidFill>
                            <a:srgbClr val="0A1A33"/>
                          </a:solidFill>
                          <a:latin typeface="Calibri"/>
                        </a:rPr>
                        <a:t> EAA-IoU</a:t>
                      </a:r>
                    </a:p>
                  </a:txBody>
                  <a:tcPr anchor="ctr" marL="45720" marR="45720" marT="45720" marB="45720">
                    <a:solidFill>
                      <a:srgbClr val="F0FBFA"/>
                    </a:solidFill>
                  </a:tcPr>
                </a:tc>
              </a:tr>
            </a:tbl>
          </a:graphicData>
        </a:graphic>
      </p:graphicFrame>
      <p:sp>
        <p:nvSpPr>
          <p:cNvPr id="6" name="Rounded Rectangle 5"/>
          <p:cNvSpPr/>
          <p:nvPr/>
        </p:nvSpPr>
        <p:spPr>
          <a:xfrm>
            <a:off x="749808" y="4572000"/>
            <a:ext cx="10698480" cy="960120"/>
          </a:xfrm>
          <a:prstGeom prst="roundRect">
            <a:avLst/>
          </a:prstGeom>
          <a:solidFill>
            <a:srgbClr val="F0FB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681728"/>
            <a:ext cx="10332720" cy="777240"/>
          </a:xfrm>
          <a:prstGeom prst="rect">
            <a:avLst/>
          </a:prstGeom>
          <a:noFill/>
        </p:spPr>
        <p:txBody>
          <a:bodyPr wrap="square" anchor="ctr" lIns="27432" rIns="27432" tIns="27432" bIns="27432">
            <a:spAutoFit/>
          </a:bodyPr>
          <a:lstStyle/>
          <a:p>
            <a:pPr algn="l"/>
            <a:r>
              <a:rPr sz="1300" b="1" i="0">
                <a:solidFill>
                  <a:srgbClr val="0E7C72"/>
                </a:solidFill>
                <a:latin typeface="Calibri"/>
              </a:rPr>
              <a:t>The gap:  </a:t>
            </a:r>
            <a:r>
              <a:rPr sz="1250" b="0" i="0">
                <a:solidFill>
                  <a:srgbClr val="16233B"/>
                </a:solidFill>
                <a:latin typeface="Calibri"/>
              </a:rPr>
              <a:t>voting and per-model Grad-CAM are well covered. But no published brain-tumour paper occupies the last two columns together - fusing heatmaps into a consensus map, and measuring </a:t>
            </a:r>
            <a:r>
              <a:rPr sz="1250" b="1" i="0">
                <a:solidFill>
                  <a:srgbClr val="16233B"/>
                </a:solidFill>
                <a:latin typeface="Calibri"/>
              </a:rPr>
              <a:t>inter-model IoU as an agreement signal</a:t>
            </a:r>
            <a:r>
              <a:rPr sz="1250" b="0" i="0">
                <a:solidFill>
                  <a:srgbClr val="16233B"/>
                </a:solidFill>
                <a:latin typeface="Calibri"/>
              </a:rPr>
              <a:t>. Prior IoU work compares against radiologist annotations, not the models themselves. That precise, unoccupied gap is my contribution.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9FC"/>
        </a:solidFill>
        <a:effectLst/>
      </p:bgPr>
    </p:bg>
    <p:spTree>
      <p:nvGrpSpPr>
        <p:cNvPr id="1" name=""/>
        <p:cNvGrpSpPr/>
        <p:nvPr/>
      </p:nvGrpSpPr>
      <p:grpSpPr/>
      <p:sp>
        <p:nvSpPr>
          <p:cNvPr id="2" name="Rectangle 1"/>
          <p:cNvSpPr/>
          <p:nvPr/>
        </p:nvSpPr>
        <p:spPr>
          <a:xfrm>
            <a:off x="502920" y="502920"/>
            <a:ext cx="128016" cy="566928"/>
          </a:xfrm>
          <a:prstGeom prst="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38912"/>
            <a:ext cx="10881360" cy="640080"/>
          </a:xfrm>
          <a:prstGeom prst="rect">
            <a:avLst/>
          </a:prstGeom>
          <a:noFill/>
        </p:spPr>
        <p:txBody>
          <a:bodyPr wrap="square" anchor="t" lIns="27432" rIns="27432" tIns="27432" bIns="27432">
            <a:spAutoFit/>
          </a:bodyPr>
          <a:lstStyle/>
          <a:p>
            <a:pPr algn="l"/>
            <a:r>
              <a:rPr sz="3000" b="1" i="0">
                <a:solidFill>
                  <a:srgbClr val="0A1A33"/>
                </a:solidFill>
                <a:latin typeface="Cambria"/>
              </a:rPr>
              <a:t>Project Plan - 16 Weeks</a:t>
            </a:r>
          </a:p>
        </p:txBody>
      </p:sp>
      <p:sp>
        <p:nvSpPr>
          <p:cNvPr id="4" name="TextBox 3"/>
          <p:cNvSpPr txBox="1"/>
          <p:nvPr/>
        </p:nvSpPr>
        <p:spPr>
          <a:xfrm>
            <a:off x="768096" y="1024128"/>
            <a:ext cx="10881360" cy="365760"/>
          </a:xfrm>
          <a:prstGeom prst="rect">
            <a:avLst/>
          </a:prstGeom>
          <a:noFill/>
        </p:spPr>
        <p:txBody>
          <a:bodyPr wrap="square" anchor="t" lIns="27432" rIns="27432" tIns="27432" bIns="27432">
            <a:spAutoFit/>
          </a:bodyPr>
          <a:lstStyle/>
          <a:p>
            <a:pPr algn="l"/>
            <a:r>
              <a:rPr sz="1500" b="0" i="1">
                <a:solidFill>
                  <a:srgbClr val="5B6B82"/>
                </a:solidFill>
                <a:latin typeface="Calibri"/>
              </a:rPr>
              <a:t>Six phases from literature review to final documentation</a:t>
            </a:r>
          </a:p>
        </p:txBody>
      </p:sp>
      <p:sp>
        <p:nvSpPr>
          <p:cNvPr id="5" name="Rectangle 4"/>
          <p:cNvSpPr/>
          <p:nvPr/>
        </p:nvSpPr>
        <p:spPr>
          <a:xfrm>
            <a:off x="3977639" y="1618487"/>
            <a:ext cx="10972" cy="3657600"/>
          </a:xfrm>
          <a:prstGeom prst="rect">
            <a:avLst/>
          </a:prstGeom>
          <a:solidFill>
            <a:srgbClr val="E6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794759" y="1581911"/>
            <a:ext cx="365760" cy="228600"/>
          </a:xfrm>
          <a:prstGeom prst="rect">
            <a:avLst/>
          </a:prstGeom>
          <a:noFill/>
        </p:spPr>
        <p:txBody>
          <a:bodyPr wrap="square" anchor="t" lIns="27432" rIns="27432" tIns="27432" bIns="27432">
            <a:spAutoFit/>
          </a:bodyPr>
          <a:lstStyle/>
          <a:p>
            <a:pPr algn="ctr"/>
            <a:r>
              <a:rPr sz="900" b="0" i="0">
                <a:solidFill>
                  <a:srgbClr val="9AA7B5"/>
                </a:solidFill>
                <a:latin typeface="Calibri"/>
              </a:rPr>
              <a:t>W1</a:t>
            </a:r>
          </a:p>
        </p:txBody>
      </p:sp>
      <p:sp>
        <p:nvSpPr>
          <p:cNvPr id="7" name="Rectangle 6"/>
          <p:cNvSpPr/>
          <p:nvPr/>
        </p:nvSpPr>
        <p:spPr>
          <a:xfrm>
            <a:off x="4903470" y="1618487"/>
            <a:ext cx="10972" cy="3657600"/>
          </a:xfrm>
          <a:prstGeom prst="rect">
            <a:avLst/>
          </a:prstGeom>
          <a:solidFill>
            <a:srgbClr val="E6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20590" y="1581911"/>
            <a:ext cx="365760" cy="228600"/>
          </a:xfrm>
          <a:prstGeom prst="rect">
            <a:avLst/>
          </a:prstGeom>
          <a:noFill/>
        </p:spPr>
        <p:txBody>
          <a:bodyPr wrap="square" anchor="t" lIns="27432" rIns="27432" tIns="27432" bIns="27432">
            <a:spAutoFit/>
          </a:bodyPr>
          <a:lstStyle/>
          <a:p>
            <a:pPr algn="ctr"/>
            <a:r>
              <a:rPr sz="900" b="0" i="0">
                <a:solidFill>
                  <a:srgbClr val="9AA7B5"/>
                </a:solidFill>
                <a:latin typeface="Calibri"/>
              </a:rPr>
              <a:t>W2</a:t>
            </a:r>
          </a:p>
        </p:txBody>
      </p:sp>
      <p:sp>
        <p:nvSpPr>
          <p:cNvPr id="9" name="Rectangle 8"/>
          <p:cNvSpPr/>
          <p:nvPr/>
        </p:nvSpPr>
        <p:spPr>
          <a:xfrm>
            <a:off x="5829300" y="1618487"/>
            <a:ext cx="10972" cy="3657600"/>
          </a:xfrm>
          <a:prstGeom prst="rect">
            <a:avLst/>
          </a:prstGeom>
          <a:solidFill>
            <a:srgbClr val="E6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46420" y="1581911"/>
            <a:ext cx="365760" cy="228600"/>
          </a:xfrm>
          <a:prstGeom prst="rect">
            <a:avLst/>
          </a:prstGeom>
          <a:noFill/>
        </p:spPr>
        <p:txBody>
          <a:bodyPr wrap="square" anchor="t" lIns="27432" rIns="27432" tIns="27432" bIns="27432">
            <a:spAutoFit/>
          </a:bodyPr>
          <a:lstStyle/>
          <a:p>
            <a:pPr algn="ctr"/>
            <a:r>
              <a:rPr sz="900" b="0" i="0">
                <a:solidFill>
                  <a:srgbClr val="9AA7B5"/>
                </a:solidFill>
                <a:latin typeface="Calibri"/>
              </a:rPr>
              <a:t>W4</a:t>
            </a:r>
          </a:p>
        </p:txBody>
      </p:sp>
      <p:sp>
        <p:nvSpPr>
          <p:cNvPr id="11" name="Rectangle 10"/>
          <p:cNvSpPr/>
          <p:nvPr/>
        </p:nvSpPr>
        <p:spPr>
          <a:xfrm>
            <a:off x="6755129" y="1618487"/>
            <a:ext cx="10972" cy="3657600"/>
          </a:xfrm>
          <a:prstGeom prst="rect">
            <a:avLst/>
          </a:prstGeom>
          <a:solidFill>
            <a:srgbClr val="E6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2249" y="1581911"/>
            <a:ext cx="365760" cy="228600"/>
          </a:xfrm>
          <a:prstGeom prst="rect">
            <a:avLst/>
          </a:prstGeom>
          <a:noFill/>
        </p:spPr>
        <p:txBody>
          <a:bodyPr wrap="square" anchor="t" lIns="27432" rIns="27432" tIns="27432" bIns="27432">
            <a:spAutoFit/>
          </a:bodyPr>
          <a:lstStyle/>
          <a:p>
            <a:pPr algn="ctr"/>
            <a:r>
              <a:rPr sz="900" b="0" i="0">
                <a:solidFill>
                  <a:srgbClr val="9AA7B5"/>
                </a:solidFill>
                <a:latin typeface="Calibri"/>
              </a:rPr>
              <a:t>W6</a:t>
            </a:r>
          </a:p>
        </p:txBody>
      </p:sp>
      <p:sp>
        <p:nvSpPr>
          <p:cNvPr id="13" name="Rectangle 12"/>
          <p:cNvSpPr/>
          <p:nvPr/>
        </p:nvSpPr>
        <p:spPr>
          <a:xfrm>
            <a:off x="7680959" y="1618487"/>
            <a:ext cx="10972" cy="3657600"/>
          </a:xfrm>
          <a:prstGeom prst="rect">
            <a:avLst/>
          </a:prstGeom>
          <a:solidFill>
            <a:srgbClr val="E6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79" y="1581911"/>
            <a:ext cx="365760" cy="228600"/>
          </a:xfrm>
          <a:prstGeom prst="rect">
            <a:avLst/>
          </a:prstGeom>
          <a:noFill/>
        </p:spPr>
        <p:txBody>
          <a:bodyPr wrap="square" anchor="t" lIns="27432" rIns="27432" tIns="27432" bIns="27432">
            <a:spAutoFit/>
          </a:bodyPr>
          <a:lstStyle/>
          <a:p>
            <a:pPr algn="ctr"/>
            <a:r>
              <a:rPr sz="900" b="0" i="0">
                <a:solidFill>
                  <a:srgbClr val="9AA7B5"/>
                </a:solidFill>
                <a:latin typeface="Calibri"/>
              </a:rPr>
              <a:t>W8</a:t>
            </a:r>
          </a:p>
        </p:txBody>
      </p:sp>
      <p:sp>
        <p:nvSpPr>
          <p:cNvPr id="15" name="Rectangle 14"/>
          <p:cNvSpPr/>
          <p:nvPr/>
        </p:nvSpPr>
        <p:spPr>
          <a:xfrm>
            <a:off x="8606790" y="1618487"/>
            <a:ext cx="10972" cy="3657600"/>
          </a:xfrm>
          <a:prstGeom prst="rect">
            <a:avLst/>
          </a:prstGeom>
          <a:solidFill>
            <a:srgbClr val="E6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23910" y="1581911"/>
            <a:ext cx="365760" cy="228600"/>
          </a:xfrm>
          <a:prstGeom prst="rect">
            <a:avLst/>
          </a:prstGeom>
          <a:noFill/>
        </p:spPr>
        <p:txBody>
          <a:bodyPr wrap="square" anchor="t" lIns="27432" rIns="27432" tIns="27432" bIns="27432">
            <a:spAutoFit/>
          </a:bodyPr>
          <a:lstStyle/>
          <a:p>
            <a:pPr algn="ctr"/>
            <a:r>
              <a:rPr sz="900" b="0" i="0">
                <a:solidFill>
                  <a:srgbClr val="9AA7B5"/>
                </a:solidFill>
                <a:latin typeface="Calibri"/>
              </a:rPr>
              <a:t>W10</a:t>
            </a:r>
          </a:p>
        </p:txBody>
      </p:sp>
      <p:sp>
        <p:nvSpPr>
          <p:cNvPr id="17" name="Rectangle 16"/>
          <p:cNvSpPr/>
          <p:nvPr/>
        </p:nvSpPr>
        <p:spPr>
          <a:xfrm>
            <a:off x="9532619" y="1618487"/>
            <a:ext cx="10972" cy="3657600"/>
          </a:xfrm>
          <a:prstGeom prst="rect">
            <a:avLst/>
          </a:prstGeom>
          <a:solidFill>
            <a:srgbClr val="E6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49740" y="1581911"/>
            <a:ext cx="365760" cy="228600"/>
          </a:xfrm>
          <a:prstGeom prst="rect">
            <a:avLst/>
          </a:prstGeom>
          <a:noFill/>
        </p:spPr>
        <p:txBody>
          <a:bodyPr wrap="square" anchor="t" lIns="27432" rIns="27432" tIns="27432" bIns="27432">
            <a:spAutoFit/>
          </a:bodyPr>
          <a:lstStyle/>
          <a:p>
            <a:pPr algn="ctr"/>
            <a:r>
              <a:rPr sz="900" b="0" i="0">
                <a:solidFill>
                  <a:srgbClr val="9AA7B5"/>
                </a:solidFill>
                <a:latin typeface="Calibri"/>
              </a:rPr>
              <a:t>W12</a:t>
            </a:r>
          </a:p>
        </p:txBody>
      </p:sp>
      <p:sp>
        <p:nvSpPr>
          <p:cNvPr id="19" name="Rectangle 18"/>
          <p:cNvSpPr/>
          <p:nvPr/>
        </p:nvSpPr>
        <p:spPr>
          <a:xfrm>
            <a:off x="10458450" y="1618487"/>
            <a:ext cx="10972" cy="3657600"/>
          </a:xfrm>
          <a:prstGeom prst="rect">
            <a:avLst/>
          </a:prstGeom>
          <a:solidFill>
            <a:srgbClr val="E6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75570" y="1581911"/>
            <a:ext cx="365760" cy="228600"/>
          </a:xfrm>
          <a:prstGeom prst="rect">
            <a:avLst/>
          </a:prstGeom>
          <a:noFill/>
        </p:spPr>
        <p:txBody>
          <a:bodyPr wrap="square" anchor="t" lIns="27432" rIns="27432" tIns="27432" bIns="27432">
            <a:spAutoFit/>
          </a:bodyPr>
          <a:lstStyle/>
          <a:p>
            <a:pPr algn="ctr"/>
            <a:r>
              <a:rPr sz="900" b="0" i="0">
                <a:solidFill>
                  <a:srgbClr val="9AA7B5"/>
                </a:solidFill>
                <a:latin typeface="Calibri"/>
              </a:rPr>
              <a:t>W14</a:t>
            </a:r>
          </a:p>
        </p:txBody>
      </p:sp>
      <p:sp>
        <p:nvSpPr>
          <p:cNvPr id="21" name="Rectangle 20"/>
          <p:cNvSpPr/>
          <p:nvPr/>
        </p:nvSpPr>
        <p:spPr>
          <a:xfrm>
            <a:off x="11384280" y="1618487"/>
            <a:ext cx="10972" cy="3657600"/>
          </a:xfrm>
          <a:prstGeom prst="rect">
            <a:avLst/>
          </a:prstGeom>
          <a:solidFill>
            <a:srgbClr val="E6E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201400" y="1581911"/>
            <a:ext cx="365760" cy="228600"/>
          </a:xfrm>
          <a:prstGeom prst="rect">
            <a:avLst/>
          </a:prstGeom>
          <a:noFill/>
        </p:spPr>
        <p:txBody>
          <a:bodyPr wrap="square" anchor="t" lIns="27432" rIns="27432" tIns="27432" bIns="27432">
            <a:spAutoFit/>
          </a:bodyPr>
          <a:lstStyle/>
          <a:p>
            <a:pPr algn="ctr"/>
            <a:r>
              <a:rPr sz="900" b="0" i="0">
                <a:solidFill>
                  <a:srgbClr val="9AA7B5"/>
                </a:solidFill>
                <a:latin typeface="Calibri"/>
              </a:rPr>
              <a:t>W16</a:t>
            </a:r>
          </a:p>
        </p:txBody>
      </p:sp>
      <p:sp>
        <p:nvSpPr>
          <p:cNvPr id="23" name="TextBox 22"/>
          <p:cNvSpPr txBox="1"/>
          <p:nvPr/>
        </p:nvSpPr>
        <p:spPr>
          <a:xfrm>
            <a:off x="749808" y="1874519"/>
            <a:ext cx="3108960" cy="475488"/>
          </a:xfrm>
          <a:prstGeom prst="rect">
            <a:avLst/>
          </a:prstGeom>
          <a:noFill/>
        </p:spPr>
        <p:txBody>
          <a:bodyPr wrap="square" anchor="ctr" lIns="27432" rIns="27432" tIns="27432" bIns="27432">
            <a:spAutoFit/>
          </a:bodyPr>
          <a:lstStyle/>
          <a:p>
            <a:pPr algn="l">
              <a:spcAft>
                <a:spcPts val="100"/>
              </a:spcAft>
            </a:pPr>
            <a:r>
              <a:rPr sz="1150" b="1" i="0">
                <a:solidFill>
                  <a:srgbClr val="0A1A33"/>
                </a:solidFill>
                <a:latin typeface="Calibri"/>
              </a:rPr>
              <a:t>Phase 1 · Research &amp; Planning</a:t>
            </a:r>
          </a:p>
          <a:p>
            <a:pPr algn="l"/>
            <a:r>
              <a:rPr sz="900" b="0" i="0">
                <a:solidFill>
                  <a:srgbClr val="5B6B82"/>
                </a:solidFill>
                <a:latin typeface="Calibri"/>
              </a:rPr>
              <a:t>Literature review · dataset prep · environment setup</a:t>
            </a:r>
          </a:p>
        </p:txBody>
      </p:sp>
      <p:sp>
        <p:nvSpPr>
          <p:cNvPr id="24" name="Rounded Rectangle 23"/>
          <p:cNvSpPr/>
          <p:nvPr/>
        </p:nvSpPr>
        <p:spPr>
          <a:xfrm>
            <a:off x="3977639" y="1929384"/>
            <a:ext cx="1388744" cy="365760"/>
          </a:xfrm>
          <a:prstGeom prst="round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977639" y="1929384"/>
            <a:ext cx="1388744" cy="365760"/>
          </a:xfrm>
          <a:prstGeom prst="rect">
            <a:avLst/>
          </a:prstGeom>
          <a:noFill/>
        </p:spPr>
        <p:txBody>
          <a:bodyPr wrap="square" anchor="ctr" lIns="27432" rIns="27432" tIns="27432" bIns="27432">
            <a:spAutoFit/>
          </a:bodyPr>
          <a:lstStyle/>
          <a:p>
            <a:pPr algn="ctr"/>
            <a:r>
              <a:rPr sz="1000" b="1" i="0">
                <a:solidFill>
                  <a:srgbClr val="FFFFFF"/>
                </a:solidFill>
                <a:latin typeface="Calibri"/>
              </a:rPr>
              <a:t>3 wks</a:t>
            </a:r>
          </a:p>
        </p:txBody>
      </p:sp>
      <p:sp>
        <p:nvSpPr>
          <p:cNvPr id="26" name="TextBox 25"/>
          <p:cNvSpPr txBox="1"/>
          <p:nvPr/>
        </p:nvSpPr>
        <p:spPr>
          <a:xfrm>
            <a:off x="749808" y="2459736"/>
            <a:ext cx="3108960" cy="475488"/>
          </a:xfrm>
          <a:prstGeom prst="rect">
            <a:avLst/>
          </a:prstGeom>
          <a:noFill/>
        </p:spPr>
        <p:txBody>
          <a:bodyPr wrap="square" anchor="ctr" lIns="27432" rIns="27432" tIns="27432" bIns="27432">
            <a:spAutoFit/>
          </a:bodyPr>
          <a:lstStyle/>
          <a:p>
            <a:pPr algn="l">
              <a:spcAft>
                <a:spcPts val="100"/>
              </a:spcAft>
            </a:pPr>
            <a:r>
              <a:rPr sz="1150" b="1" i="0">
                <a:solidFill>
                  <a:srgbClr val="0A1A33"/>
                </a:solidFill>
                <a:latin typeface="Calibri"/>
              </a:rPr>
              <a:t>Phase 2 · Individual Models</a:t>
            </a:r>
          </a:p>
          <a:p>
            <a:pPr algn="l"/>
            <a:r>
              <a:rPr sz="900" b="0" i="0">
                <a:solidFill>
                  <a:srgbClr val="5B6B82"/>
                </a:solidFill>
                <a:latin typeface="Calibri"/>
              </a:rPr>
              <a:t>CNN · classical ML · pretrained fine-tuning</a:t>
            </a:r>
          </a:p>
        </p:txBody>
      </p:sp>
      <p:sp>
        <p:nvSpPr>
          <p:cNvPr id="27" name="Rounded Rectangle 26"/>
          <p:cNvSpPr/>
          <p:nvPr/>
        </p:nvSpPr>
        <p:spPr>
          <a:xfrm>
            <a:off x="5366384" y="2514600"/>
            <a:ext cx="1851660" cy="365760"/>
          </a:xfrm>
          <a:prstGeom prst="roundRect">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6384" y="2514600"/>
            <a:ext cx="1851660" cy="365760"/>
          </a:xfrm>
          <a:prstGeom prst="rect">
            <a:avLst/>
          </a:prstGeom>
          <a:noFill/>
        </p:spPr>
        <p:txBody>
          <a:bodyPr wrap="square" anchor="ctr" lIns="27432" rIns="27432" tIns="27432" bIns="27432">
            <a:spAutoFit/>
          </a:bodyPr>
          <a:lstStyle/>
          <a:p>
            <a:pPr algn="ctr"/>
            <a:r>
              <a:rPr sz="1000" b="1" i="0">
                <a:solidFill>
                  <a:srgbClr val="FFFFFF"/>
                </a:solidFill>
                <a:latin typeface="Calibri"/>
              </a:rPr>
              <a:t>4 wks</a:t>
            </a:r>
          </a:p>
        </p:txBody>
      </p:sp>
      <p:sp>
        <p:nvSpPr>
          <p:cNvPr id="29" name="TextBox 28"/>
          <p:cNvSpPr txBox="1"/>
          <p:nvPr/>
        </p:nvSpPr>
        <p:spPr>
          <a:xfrm>
            <a:off x="749808" y="3044952"/>
            <a:ext cx="3108960" cy="475488"/>
          </a:xfrm>
          <a:prstGeom prst="rect">
            <a:avLst/>
          </a:prstGeom>
          <a:noFill/>
        </p:spPr>
        <p:txBody>
          <a:bodyPr wrap="square" anchor="ctr" lIns="27432" rIns="27432" tIns="27432" bIns="27432">
            <a:spAutoFit/>
          </a:bodyPr>
          <a:lstStyle/>
          <a:p>
            <a:pPr algn="l">
              <a:spcAft>
                <a:spcPts val="100"/>
              </a:spcAft>
            </a:pPr>
            <a:r>
              <a:rPr sz="1150" b="1" i="0">
                <a:solidFill>
                  <a:srgbClr val="0A1A33"/>
                </a:solidFill>
                <a:latin typeface="Calibri"/>
              </a:rPr>
              <a:t>Phase 3 · Ensemble Framework</a:t>
            </a:r>
          </a:p>
          <a:p>
            <a:pPr algn="l"/>
            <a:r>
              <a:rPr sz="900" b="0" i="0">
                <a:solidFill>
                  <a:srgbClr val="5B6B82"/>
                </a:solidFill>
                <a:latin typeface="Calibri"/>
              </a:rPr>
              <a:t>Architecture · integration · optimisation</a:t>
            </a:r>
          </a:p>
        </p:txBody>
      </p:sp>
      <p:sp>
        <p:nvSpPr>
          <p:cNvPr id="30" name="Rounded Rectangle 29"/>
          <p:cNvSpPr/>
          <p:nvPr/>
        </p:nvSpPr>
        <p:spPr>
          <a:xfrm>
            <a:off x="7218044" y="3099816"/>
            <a:ext cx="1388744" cy="365760"/>
          </a:xfrm>
          <a:prstGeom prst="round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18044" y="3099816"/>
            <a:ext cx="1388744" cy="365760"/>
          </a:xfrm>
          <a:prstGeom prst="rect">
            <a:avLst/>
          </a:prstGeom>
          <a:noFill/>
        </p:spPr>
        <p:txBody>
          <a:bodyPr wrap="square" anchor="ctr" lIns="27432" rIns="27432" tIns="27432" bIns="27432">
            <a:spAutoFit/>
          </a:bodyPr>
          <a:lstStyle/>
          <a:p>
            <a:pPr algn="ctr"/>
            <a:r>
              <a:rPr sz="1000" b="1" i="0">
                <a:solidFill>
                  <a:srgbClr val="FFFFFF"/>
                </a:solidFill>
                <a:latin typeface="Calibri"/>
              </a:rPr>
              <a:t>3 wks</a:t>
            </a:r>
          </a:p>
        </p:txBody>
      </p:sp>
      <p:sp>
        <p:nvSpPr>
          <p:cNvPr id="32" name="TextBox 31"/>
          <p:cNvSpPr txBox="1"/>
          <p:nvPr/>
        </p:nvSpPr>
        <p:spPr>
          <a:xfrm>
            <a:off x="749808" y="3630168"/>
            <a:ext cx="3108960" cy="475488"/>
          </a:xfrm>
          <a:prstGeom prst="rect">
            <a:avLst/>
          </a:prstGeom>
          <a:noFill/>
        </p:spPr>
        <p:txBody>
          <a:bodyPr wrap="square" anchor="ctr" lIns="27432" rIns="27432" tIns="27432" bIns="27432">
            <a:spAutoFit/>
          </a:bodyPr>
          <a:lstStyle/>
          <a:p>
            <a:pPr algn="l">
              <a:spcAft>
                <a:spcPts val="100"/>
              </a:spcAft>
            </a:pPr>
            <a:r>
              <a:rPr sz="1150" b="1" i="0">
                <a:solidFill>
                  <a:srgbClr val="0A1A33"/>
                </a:solidFill>
                <a:latin typeface="Calibri"/>
              </a:rPr>
              <a:t>Phase 4 · Performance Evaluation</a:t>
            </a:r>
          </a:p>
          <a:p>
            <a:pPr algn="l"/>
            <a:r>
              <a:rPr sz="900" b="0" i="0">
                <a:solidFill>
                  <a:srgbClr val="5B6B82"/>
                </a:solidFill>
                <a:latin typeface="Calibri"/>
              </a:rPr>
              <a:t>Testing · statistical analysis · results</a:t>
            </a:r>
          </a:p>
        </p:txBody>
      </p:sp>
      <p:sp>
        <p:nvSpPr>
          <p:cNvPr id="33" name="Rounded Rectangle 32"/>
          <p:cNvSpPr/>
          <p:nvPr/>
        </p:nvSpPr>
        <p:spPr>
          <a:xfrm>
            <a:off x="8606790" y="3685031"/>
            <a:ext cx="925830" cy="365760"/>
          </a:xfrm>
          <a:prstGeom prst="roundRect">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06790" y="3685031"/>
            <a:ext cx="925830" cy="365760"/>
          </a:xfrm>
          <a:prstGeom prst="rect">
            <a:avLst/>
          </a:prstGeom>
          <a:noFill/>
        </p:spPr>
        <p:txBody>
          <a:bodyPr wrap="square" anchor="ctr" lIns="27432" rIns="27432" tIns="27432" bIns="27432">
            <a:spAutoFit/>
          </a:bodyPr>
          <a:lstStyle/>
          <a:p>
            <a:pPr algn="ctr"/>
            <a:r>
              <a:rPr sz="1000" b="1" i="0">
                <a:solidFill>
                  <a:srgbClr val="FFFFFF"/>
                </a:solidFill>
                <a:latin typeface="Calibri"/>
              </a:rPr>
              <a:t>2 wks</a:t>
            </a:r>
          </a:p>
        </p:txBody>
      </p:sp>
      <p:sp>
        <p:nvSpPr>
          <p:cNvPr id="35" name="TextBox 34"/>
          <p:cNvSpPr txBox="1"/>
          <p:nvPr/>
        </p:nvSpPr>
        <p:spPr>
          <a:xfrm>
            <a:off x="749808" y="4215383"/>
            <a:ext cx="3108960" cy="475488"/>
          </a:xfrm>
          <a:prstGeom prst="rect">
            <a:avLst/>
          </a:prstGeom>
          <a:noFill/>
        </p:spPr>
        <p:txBody>
          <a:bodyPr wrap="square" anchor="ctr" lIns="27432" rIns="27432" tIns="27432" bIns="27432">
            <a:spAutoFit/>
          </a:bodyPr>
          <a:lstStyle/>
          <a:p>
            <a:pPr algn="l">
              <a:spcAft>
                <a:spcPts val="100"/>
              </a:spcAft>
            </a:pPr>
            <a:r>
              <a:rPr sz="1150" b="1" i="0">
                <a:solidFill>
                  <a:srgbClr val="0A1A33"/>
                </a:solidFill>
                <a:latin typeface="Calibri"/>
              </a:rPr>
              <a:t>Phase 5 · Application Development</a:t>
            </a:r>
          </a:p>
          <a:p>
            <a:pPr algn="l"/>
            <a:r>
              <a:rPr sz="900" b="0" i="0">
                <a:solidFill>
                  <a:srgbClr val="5B6B82"/>
                </a:solidFill>
                <a:latin typeface="Calibri"/>
              </a:rPr>
              <a:t>Web interface · UX · XAI integration</a:t>
            </a:r>
          </a:p>
        </p:txBody>
      </p:sp>
      <p:sp>
        <p:nvSpPr>
          <p:cNvPr id="36" name="Rounded Rectangle 35"/>
          <p:cNvSpPr/>
          <p:nvPr/>
        </p:nvSpPr>
        <p:spPr>
          <a:xfrm>
            <a:off x="9532619" y="4270247"/>
            <a:ext cx="925830" cy="365760"/>
          </a:xfrm>
          <a:prstGeom prst="roundRect">
            <a:avLst/>
          </a:prstGeom>
          <a:solidFill>
            <a:srgbClr val="1FB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32619" y="4270247"/>
            <a:ext cx="925830" cy="365760"/>
          </a:xfrm>
          <a:prstGeom prst="rect">
            <a:avLst/>
          </a:prstGeom>
          <a:noFill/>
        </p:spPr>
        <p:txBody>
          <a:bodyPr wrap="square" anchor="ctr" lIns="27432" rIns="27432" tIns="27432" bIns="27432">
            <a:spAutoFit/>
          </a:bodyPr>
          <a:lstStyle/>
          <a:p>
            <a:pPr algn="ctr"/>
            <a:r>
              <a:rPr sz="1000" b="1" i="0">
                <a:solidFill>
                  <a:srgbClr val="FFFFFF"/>
                </a:solidFill>
                <a:latin typeface="Calibri"/>
              </a:rPr>
              <a:t>2 wks</a:t>
            </a:r>
          </a:p>
        </p:txBody>
      </p:sp>
      <p:sp>
        <p:nvSpPr>
          <p:cNvPr id="38" name="TextBox 37"/>
          <p:cNvSpPr txBox="1"/>
          <p:nvPr/>
        </p:nvSpPr>
        <p:spPr>
          <a:xfrm>
            <a:off x="749808" y="4800600"/>
            <a:ext cx="3108960" cy="475488"/>
          </a:xfrm>
          <a:prstGeom prst="rect">
            <a:avLst/>
          </a:prstGeom>
          <a:noFill/>
        </p:spPr>
        <p:txBody>
          <a:bodyPr wrap="square" anchor="ctr" lIns="27432" rIns="27432" tIns="27432" bIns="27432">
            <a:spAutoFit/>
          </a:bodyPr>
          <a:lstStyle/>
          <a:p>
            <a:pPr algn="l">
              <a:spcAft>
                <a:spcPts val="100"/>
              </a:spcAft>
            </a:pPr>
            <a:r>
              <a:rPr sz="1150" b="1" i="0">
                <a:solidFill>
                  <a:srgbClr val="0A1A33"/>
                </a:solidFill>
                <a:latin typeface="Calibri"/>
              </a:rPr>
              <a:t>Phase 6 · Documentation &amp; Finalise</a:t>
            </a:r>
          </a:p>
          <a:p>
            <a:pPr algn="l"/>
            <a:r>
              <a:rPr sz="900" b="0" i="0">
                <a:solidFill>
                  <a:srgbClr val="5B6B82"/>
                </a:solidFill>
                <a:latin typeface="Calibri"/>
              </a:rPr>
              <a:t>Report · final testing · submission</a:t>
            </a:r>
          </a:p>
        </p:txBody>
      </p:sp>
      <p:sp>
        <p:nvSpPr>
          <p:cNvPr id="39" name="Rounded Rectangle 38"/>
          <p:cNvSpPr/>
          <p:nvPr/>
        </p:nvSpPr>
        <p:spPr>
          <a:xfrm>
            <a:off x="10458450" y="4855464"/>
            <a:ext cx="925830" cy="365760"/>
          </a:xfrm>
          <a:prstGeom prst="roundRect">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58450" y="4855464"/>
            <a:ext cx="925830" cy="365760"/>
          </a:xfrm>
          <a:prstGeom prst="rect">
            <a:avLst/>
          </a:prstGeom>
          <a:noFill/>
        </p:spPr>
        <p:txBody>
          <a:bodyPr wrap="square" anchor="ctr" lIns="27432" rIns="27432" tIns="27432" bIns="27432">
            <a:spAutoFit/>
          </a:bodyPr>
          <a:lstStyle/>
          <a:p>
            <a:pPr algn="ctr"/>
            <a:r>
              <a:rPr sz="1000" b="1" i="0">
                <a:solidFill>
                  <a:srgbClr val="FFFFFF"/>
                </a:solidFill>
                <a:latin typeface="Calibri"/>
              </a:rPr>
              <a:t>2 wks</a:t>
            </a:r>
          </a:p>
        </p:txBody>
      </p:sp>
      <p:sp>
        <p:nvSpPr>
          <p:cNvPr id="41" name="Rounded Rectangle 40"/>
          <p:cNvSpPr/>
          <p:nvPr/>
        </p:nvSpPr>
        <p:spPr>
          <a:xfrm>
            <a:off x="749808" y="5431536"/>
            <a:ext cx="2743200" cy="365760"/>
          </a:xfrm>
          <a:prstGeom prst="roundRect">
            <a:avLst/>
          </a:prstGeom>
          <a:solidFill>
            <a:srgbClr val="0A1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808" y="5431536"/>
            <a:ext cx="2743200" cy="365760"/>
          </a:xfrm>
          <a:prstGeom prst="rect">
            <a:avLst/>
          </a:prstGeom>
          <a:noFill/>
        </p:spPr>
        <p:txBody>
          <a:bodyPr wrap="square" anchor="ctr" lIns="27432" rIns="27432" tIns="27432" bIns="27432">
            <a:spAutoFit/>
          </a:bodyPr>
          <a:lstStyle/>
          <a:p>
            <a:pPr algn="ctr"/>
            <a:r>
              <a:rPr sz="1100" b="1" i="0">
                <a:solidFill>
                  <a:srgbClr val="FFFFFF"/>
                </a:solidFill>
                <a:latin typeface="Calibri"/>
              </a:rPr>
              <a:t>TOTAL · 16 WEEKS</a:t>
            </a:r>
          </a:p>
        </p:txBody>
      </p:sp>
      <p:sp>
        <p:nvSpPr>
          <p:cNvPr id="43" name="TextBox 42"/>
          <p:cNvSpPr txBox="1"/>
          <p:nvPr/>
        </p:nvSpPr>
        <p:spPr>
          <a:xfrm>
            <a:off x="3749039" y="5431536"/>
            <a:ext cx="7680960" cy="411480"/>
          </a:xfrm>
          <a:prstGeom prst="rect">
            <a:avLst/>
          </a:prstGeom>
          <a:noFill/>
        </p:spPr>
        <p:txBody>
          <a:bodyPr wrap="square" anchor="ctr" lIns="27432" rIns="27432" tIns="27432" bIns="27432">
            <a:spAutoFit/>
          </a:bodyPr>
          <a:lstStyle/>
          <a:p>
            <a:pPr algn="l"/>
            <a:r>
              <a:rPr sz="1100" b="1" i="0">
                <a:solidFill>
                  <a:srgbClr val="0E7C72"/>
                </a:solidFill>
                <a:latin typeface="Calibri"/>
              </a:rPr>
              <a:t>Critical path:  </a:t>
            </a:r>
            <a:r>
              <a:rPr sz="1100" b="0" i="1">
                <a:solidFill>
                  <a:srgbClr val="16233B"/>
                </a:solidFill>
                <a:latin typeface="Calibri"/>
              </a:rPr>
              <a:t>model development → ensemble → evaluation. The web app is prototyped early, in parallel.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2326</Words>
  <Application>Microsoft Office PowerPoint</Application>
  <PresentationFormat>Widescreen</PresentationFormat>
  <Paragraphs>174</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Comparative Analysis of Ensemble Learning, Fine-Tuned Models and CNNs for Brain Tumour MRI Classification</dc:title>
  <dc:subject>PptxGenJS Presentation</dc:subject>
  <dc:creator>Pattiyage Shehan Kavishka</dc:creator>
  <cp:lastModifiedBy>Shehan Kavishka</cp:lastModifiedBy>
  <cp:revision>2</cp:revision>
  <dcterms:created xsi:type="dcterms:W3CDTF">2026-07-05T07:54:02Z</dcterms:created>
  <dcterms:modified xsi:type="dcterms:W3CDTF">2026-07-05T08:19:24Z</dcterms:modified>
</cp:coreProperties>
</file>